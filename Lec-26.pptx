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3578" autoAdjust="0"/>
  </p:normalViewPr>
  <p:slideViewPr>
    <p:cSldViewPr>
      <p:cViewPr varScale="1">
        <p:scale>
          <a:sx n="93" d="100"/>
          <a:sy n="93" d="100"/>
        </p:scale>
        <p:origin x="85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10/16/2026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anchor="ctr"/>
          <a:lstStyle/>
          <a:p>
            <a:pPr algn="ctr">
              <a:lnSpc>
                <a:spcPts val="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400" b="0" i="0" kern="1200" baseline="0">
                <a:solidFill>
                  <a:schemeClr val="bg1"/>
                </a:solidFill>
                <a:latin typeface="Calibri"/>
              </a:rPr>
              <a:t>Digital Design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GSS Chalapathi,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Saurabh Gandhi,</a:t>
            </a:r>
            <a:endParaRPr lang="en-US"/>
          </a:p>
          <a:p>
            <a:pPr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en-US" sz="1800" b="0" i="0" kern="1200" baseline="0">
                <a:solidFill>
                  <a:schemeClr val="bg1"/>
                </a:solidFill>
                <a:latin typeface="Arial"/>
              </a:rPr>
              <a:t>Prof. Ramesh Sambangi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20ED98-4EB3-6C60-F528-AE1497736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800600" cy="4525963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Some general observations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Multiplication involves the generation of partial products – one for each digit in the multiplier.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Partial products are summed to produce the final product.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Partial products are very simple to define for binary multiplication.  If the digit is a ‘one’ the partial product is the multiplicand, otherwise the partial product is zero.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The total product is the sum of the partial products.  Each successive partial product is shifted one position to the left.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The multiplication of two n-bit binary numbers results in a product of up to 2n bits in length.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CFC4-7161-74BD-9EF3-9BD5709282E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Revisiting multiplication</a:t>
            </a:r>
            <a:endParaRPr lang="en-IN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3869C2F-4585-A928-D27B-CEEE38567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887537"/>
            <a:ext cx="3124200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                    </a:t>
            </a:r>
            <a:r>
              <a:rPr lang="en-US" altLang="en-US" sz="2800" b="1">
                <a:latin typeface="Courier" pitchFamily="49" charset="0"/>
              </a:rPr>
              <a:t>1011</a:t>
            </a:r>
          </a:p>
          <a:p>
            <a:r>
              <a:rPr lang="en-US" altLang="en-US" sz="2800" b="1">
                <a:latin typeface="Courier" pitchFamily="49" charset="0"/>
              </a:rPr>
              <a:t>     X  1101</a:t>
            </a:r>
          </a:p>
          <a:p>
            <a:r>
              <a:rPr lang="en-US" altLang="en-US" sz="2800" b="1">
                <a:latin typeface="Courier" pitchFamily="49" charset="0"/>
              </a:rPr>
              <a:t>        1011</a:t>
            </a:r>
          </a:p>
          <a:p>
            <a:r>
              <a:rPr lang="en-US" altLang="en-US" sz="2800" b="1">
                <a:latin typeface="Courier" pitchFamily="49" charset="0"/>
              </a:rPr>
              <a:t>       0000</a:t>
            </a:r>
          </a:p>
          <a:p>
            <a:r>
              <a:rPr lang="en-US" altLang="en-US" sz="2800" b="1">
                <a:latin typeface="Courier" pitchFamily="49" charset="0"/>
              </a:rPr>
              <a:t>      1011</a:t>
            </a:r>
          </a:p>
          <a:p>
            <a:r>
              <a:rPr lang="en-US" altLang="en-US" sz="2800" b="1">
                <a:latin typeface="Courier" pitchFamily="49" charset="0"/>
              </a:rPr>
              <a:t>     1011</a:t>
            </a:r>
          </a:p>
          <a:p>
            <a:r>
              <a:rPr lang="en-US" altLang="en-US" sz="2800" b="1">
                <a:latin typeface="Courier" pitchFamily="49" charset="0"/>
              </a:rPr>
              <a:t>    10001111</a:t>
            </a:r>
          </a:p>
        </p:txBody>
      </p:sp>
    </p:spTree>
    <p:extLst>
      <p:ext uri="{BB962C8B-B14F-4D97-AF65-F5344CB8AC3E}">
        <p14:creationId xmlns:p14="http://schemas.microsoft.com/office/powerpoint/2010/main" val="9723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465237-CF96-764C-CC2E-C4803F54F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2895600" cy="4525963"/>
          </a:xfrm>
        </p:spPr>
        <p:txBody>
          <a:bodyPr/>
          <a:lstStyle/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sz="1700" dirty="0"/>
              <a:t>The processor can keep a running product rather than summing at the end.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sz="1700" dirty="0"/>
              <a:t>For each ‘1’ in the multiplier we can apply an add and a shift.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sz="1700" dirty="0"/>
              <a:t>For each ‘0’ only a shift is needed.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24081-9D83-25E2-D21B-417A38DB91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Simplifying multiplication using our new tools!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ED3A7-AD5F-9ACC-0DEF-EB301AA7C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47800"/>
            <a:ext cx="4943582" cy="5048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35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ED6562-39D1-EE2B-3417-0ECE8B73A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sz="1700" dirty="0"/>
              <a:t>Multiplier and multiplicand are loaded into registers Q and M.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sz="1700" dirty="0"/>
              <a:t>A third register (A) is initially set to zero.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sz="1700" dirty="0"/>
              <a:t>A one-bit C register (initialised to zero) holds carry bits.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315E0-266F-DE8D-740A-2109667EB8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Simplifying multiplication using our new tools!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3E4FAA-3DC2-B44A-29D7-2283A0DCC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67581" y="2760936"/>
            <a:ext cx="6608838" cy="3444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898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0CBD2-04A1-485D-965A-5A896AE570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Simplifying multiplication…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EE5AC-1D5F-AD61-E8DC-484D6CA91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8669" y="95904"/>
            <a:ext cx="3725332" cy="1941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D15A73-81DF-9918-CEAD-BC0EDBB6D7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44"/>
          <a:stretch>
            <a:fillRect/>
          </a:stretch>
        </p:blipFill>
        <p:spPr bwMode="auto">
          <a:xfrm>
            <a:off x="152400" y="2038602"/>
            <a:ext cx="7010400" cy="1161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9908948-F8DC-E438-A453-8D5E94E1D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56" b="62127"/>
          <a:stretch>
            <a:fillRect/>
          </a:stretch>
        </p:blipFill>
        <p:spPr bwMode="auto">
          <a:xfrm>
            <a:off x="152400" y="3200400"/>
            <a:ext cx="701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9979B95-CD9A-05B1-F1B2-50E56B675D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56619"/>
          <a:stretch>
            <a:fillRect/>
          </a:stretch>
        </p:blipFill>
        <p:spPr bwMode="auto">
          <a:xfrm>
            <a:off x="152400" y="3733800"/>
            <a:ext cx="7010400" cy="246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A3DA14D-5C2F-6A3D-C732-550515385B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02" b="45083"/>
          <a:stretch>
            <a:fillRect/>
          </a:stretch>
        </p:blipFill>
        <p:spPr bwMode="auto">
          <a:xfrm>
            <a:off x="152400" y="3980392"/>
            <a:ext cx="7010400" cy="51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E070E632-0D93-A520-C851-E2EF3BC700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66" b="38525"/>
          <a:stretch>
            <a:fillRect/>
          </a:stretch>
        </p:blipFill>
        <p:spPr bwMode="auto">
          <a:xfrm>
            <a:off x="152400" y="4495799"/>
            <a:ext cx="7010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CA3A51D0-B590-C3E9-CB59-9703CEB1FE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03" b="8053"/>
          <a:stretch>
            <a:fillRect/>
          </a:stretch>
        </p:blipFill>
        <p:spPr bwMode="auto">
          <a:xfrm>
            <a:off x="152400" y="4800599"/>
            <a:ext cx="7010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1C5A0E1A-C686-185A-03DC-172DA962FB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862"/>
          <a:stretch>
            <a:fillRect/>
          </a:stretch>
        </p:blipFill>
        <p:spPr bwMode="auto">
          <a:xfrm>
            <a:off x="152400" y="2038602"/>
            <a:ext cx="7010400" cy="451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32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75F06C-0547-A257-7E18-6F03B7C0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Will not work if both or any one of the Multiplicand &amp; Multiplier are negative.</a:t>
            </a:r>
          </a:p>
          <a:p>
            <a:endParaRPr lang="en-IN" dirty="0"/>
          </a:p>
          <a:p>
            <a:r>
              <a:rPr lang="en-IN" dirty="0"/>
              <a:t>Solution: Booth’s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EFE6-B128-F5AE-AA30-6F6241478F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problem with our multiplier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44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8C1E07-8645-0AB4-A9C7-B1622CE20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Multiplicand M unchanged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Recode the multiplier Q to a recoded value 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Each digit can assume a negative as well as positive and zero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Signed Digit (SD) encoding</a:t>
            </a:r>
          </a:p>
          <a:p>
            <a:pPr marL="0" indent="0"/>
            <a:endParaRPr lang="en-US" altLang="en-US" sz="2000" dirty="0"/>
          </a:p>
          <a:p>
            <a:pPr marL="0" indent="0"/>
            <a:r>
              <a:rPr lang="en-US" altLang="en-US" sz="2000" dirty="0"/>
              <a:t>Recoding (Skipping over ones):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String of 1s replaced by 0s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For ex: 30  = 0011110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= 32 – 2 = 0100000 – 0000010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In the coded form = 0100010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endParaRPr lang="en-US" altLang="en-US" sz="2000" dirty="0"/>
          </a:p>
          <a:p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D7A8-1E7D-23B4-22E9-AE510F5E20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Prereqs</a:t>
            </a:r>
            <a:r>
              <a:rPr lang="en-US" dirty="0"/>
              <a:t> for Booth’s algorithm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EB57C-3ED3-9188-17DB-B22CB7CE1DFE}"/>
              </a:ext>
            </a:extLst>
          </p:cNvPr>
          <p:cNvSpPr txBox="1"/>
          <p:nvPr/>
        </p:nvSpPr>
        <p:spPr>
          <a:xfrm>
            <a:off x="4191000" y="2792499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Booth recoding Procedure:</a:t>
            </a:r>
            <a:endParaRPr lang="en-US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Working from LSB to MSB retain each 0 until a 1 is reached</a:t>
            </a:r>
            <a:endParaRPr lang="en-US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When a 1 is encountered insert 1</a:t>
            </a: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̅ </a:t>
            </a: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at that position and complement all the succeeding 1’s until a 0 is encountered</a:t>
            </a:r>
            <a:endParaRPr lang="en-US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Replace that 0 with 1 and continue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While multiplying with 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̅</a:t>
            </a:r>
            <a:r>
              <a:rPr lang="en-US" alt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2’s compliment is taken</a:t>
            </a:r>
          </a:p>
        </p:txBody>
      </p:sp>
    </p:spTree>
    <p:extLst>
      <p:ext uri="{BB962C8B-B14F-4D97-AF65-F5344CB8AC3E}">
        <p14:creationId xmlns:p14="http://schemas.microsoft.com/office/powerpoint/2010/main" val="51808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A1C0C5-0D86-4CE4-6DB2-589754C40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7164"/>
          <a:stretch>
            <a:fillRect/>
          </a:stretch>
        </p:blipFill>
        <p:spPr>
          <a:xfrm>
            <a:off x="588718" y="1524000"/>
            <a:ext cx="7966564" cy="1600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FD6A-909F-96F0-1849-A7D4A95E92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 observation with binary numbers</a:t>
            </a:r>
            <a:endParaRPr lang="en-IN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2FA21C4-DFC8-FEC8-414E-68FD4B0274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35892"/>
          <a:stretch>
            <a:fillRect/>
          </a:stretch>
        </p:blipFill>
        <p:spPr bwMode="auto">
          <a:xfrm>
            <a:off x="588718" y="1524000"/>
            <a:ext cx="7966564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AC4852AB-A011-EAC3-E968-087C05453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1493"/>
          <a:stretch>
            <a:fillRect/>
          </a:stretch>
        </p:blipFill>
        <p:spPr bwMode="auto">
          <a:xfrm>
            <a:off x="588718" y="1524000"/>
            <a:ext cx="7966564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037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13E15E-956B-8453-F5AD-16455909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343400" cy="4525963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Multiplier and multiplicand are placed in Q and M registers.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A 1-bit register is placed to the right of the least significant bit (Q</a:t>
            </a:r>
            <a:r>
              <a:rPr lang="en-GB" altLang="en-US" baseline="-25000" dirty="0"/>
              <a:t>0</a:t>
            </a:r>
            <a:r>
              <a:rPr lang="en-GB" altLang="en-US" dirty="0"/>
              <a:t>) and designated Q</a:t>
            </a:r>
            <a:r>
              <a:rPr lang="en-GB" altLang="en-US" baseline="-25000" dirty="0"/>
              <a:t>-1</a:t>
            </a:r>
            <a:endParaRPr lang="en-GB" altLang="en-US" dirty="0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Control logic scans the bits of the multiplier one at a time – the </a:t>
            </a:r>
            <a:r>
              <a:rPr lang="en-GB" altLang="en-US" b="1" dirty="0"/>
              <a:t>LSB </a:t>
            </a:r>
            <a:r>
              <a:rPr lang="en-GB" altLang="en-US" b="1" i="1" dirty="0"/>
              <a:t>and</a:t>
            </a:r>
            <a:r>
              <a:rPr lang="en-GB" altLang="en-US" b="1" dirty="0"/>
              <a:t> the bit to its right</a:t>
            </a:r>
            <a:r>
              <a:rPr lang="en-GB" altLang="en-US" dirty="0"/>
              <a:t> are examined.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If the bits are the same (1-1 or 0-0) then all bits of the A, Q and Q - 1 registers are shifted to the right 1 bit.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If the two bits differ, then the multiplicand is added/subtracted depending on whether the bits are 0-1 or 1-0.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GB" altLang="en-US" dirty="0"/>
              <a:t>Addition is followed by a </a:t>
            </a:r>
            <a:r>
              <a:rPr lang="en-GB" altLang="en-US" b="1" dirty="0"/>
              <a:t>right arithmetic shift.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05329-6095-E34C-B513-9161AE4CC0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Booth’s algorithm</a:t>
            </a:r>
            <a:endParaRPr lang="en-IN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A2650F54-DFF6-C461-AAAD-571A58604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86" y="1447800"/>
            <a:ext cx="4136887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75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CE3B5-F216-551D-F0E2-25D6C9DB9B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BE9DAF4-17AD-14C9-A060-EA6E21ABAC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65" y="2286000"/>
            <a:ext cx="7377858" cy="4258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DC193424-DF4F-0BF3-ED1A-159A33F99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927" y="0"/>
            <a:ext cx="2701073" cy="330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188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852377-697E-065E-B83D-D47695305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87530"/>
            <a:ext cx="3124200" cy="4332270"/>
          </a:xfrm>
        </p:spPr>
        <p:txBody>
          <a:bodyPr/>
          <a:lstStyle/>
          <a:p>
            <a:r>
              <a:rPr lang="en-US" sz="2000" dirty="0"/>
              <a:t>Verify the operation of:</a:t>
            </a:r>
          </a:p>
          <a:p>
            <a:r>
              <a:rPr lang="en-US" altLang="en-US" sz="2000" dirty="0"/>
              <a:t>(+7)  x (-3)</a:t>
            </a:r>
          </a:p>
          <a:p>
            <a:r>
              <a:rPr lang="en-US" altLang="en-US" sz="2000" dirty="0"/>
              <a:t>Multiplicand M = 0111</a:t>
            </a:r>
          </a:p>
          <a:p>
            <a:r>
              <a:rPr lang="en-US" altLang="en-US" sz="2000" dirty="0"/>
              <a:t>Multiplier      Q = 1101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FA4CA-FA10-F4A4-31DC-AF62B8F158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62C2A26-E5DC-4100-4E23-ED9E5DF48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87530"/>
            <a:ext cx="4724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en-US" sz="900" dirty="0"/>
              <a:t>    </a:t>
            </a:r>
            <a:r>
              <a:rPr lang="en-US" altLang="en-US" sz="2000" b="1" dirty="0"/>
              <a:t>A               Q              Q</a:t>
            </a:r>
            <a:r>
              <a:rPr lang="en-US" altLang="en-US" sz="2000" b="1" baseline="-25000" dirty="0"/>
              <a:t>-1                </a:t>
            </a:r>
            <a:r>
              <a:rPr lang="en-US" altLang="en-US" sz="2000" b="1" dirty="0"/>
              <a:t>M = 0111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b="1" dirty="0"/>
          </a:p>
          <a:p>
            <a:pPr>
              <a:lnSpc>
                <a:spcPct val="80000"/>
              </a:lnSpc>
              <a:buFontTx/>
              <a:buNone/>
            </a:pPr>
            <a:endParaRPr lang="en-US" altLang="en-US" sz="9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900" dirty="0"/>
              <a:t>    </a:t>
            </a:r>
            <a:r>
              <a:rPr lang="en-US" altLang="en-US" sz="2000" b="1" dirty="0"/>
              <a:t>0000          1101          0          initial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</a:t>
            </a:r>
            <a:r>
              <a:rPr lang="en-US" altLang="en-US" sz="2000" b="1" dirty="0"/>
              <a:t>1001          1101          0           A ⟵ A-M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 dirty="0"/>
              <a:t>  1100          1110          1           shift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0011             1110             1           A ⟵ A+M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0001             1111             0           shift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1010              1111             0          A ⟵ A-M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1101              0111             1          shift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b="1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1110              1011             1          shift</a:t>
            </a:r>
            <a:endParaRPr lang="en-US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5B623-6040-C7DF-D3B4-CF1252E44D07}"/>
              </a:ext>
            </a:extLst>
          </p:cNvPr>
          <p:cNvSpPr txBox="1"/>
          <p:nvPr/>
        </p:nvSpPr>
        <p:spPr>
          <a:xfrm>
            <a:off x="304800" y="3886835"/>
            <a:ext cx="3200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Now: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Verify the operation of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(-7)  x (+3)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Multiplicand M = 1001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Multiplier      Q = 0011</a:t>
            </a:r>
          </a:p>
        </p:txBody>
      </p:sp>
    </p:spTree>
    <p:extLst>
      <p:ext uri="{BB962C8B-B14F-4D97-AF65-F5344CB8AC3E}">
        <p14:creationId xmlns:p14="http://schemas.microsoft.com/office/powerpoint/2010/main" val="37993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13837</TotalTime>
  <Words>604</Words>
  <Application>Microsoft Office PowerPoint</Application>
  <PresentationFormat>On-screen Show (4:3)</PresentationFormat>
  <Paragraphs>84</Paragraphs>
  <Slides>11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</vt:lpstr>
      <vt:lpstr>Lucida Sans Unicode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585</cp:revision>
  <dcterms:created xsi:type="dcterms:W3CDTF">2010-01-15T20:22:21Z</dcterms:created>
  <dcterms:modified xsi:type="dcterms:W3CDTF">2026-10-16T02:49:31Z</dcterms:modified>
</cp:coreProperties>
</file>