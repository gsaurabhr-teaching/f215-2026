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3"/>
  </p:notesMasterIdLst>
  <p:sldIdLst>
    <p:sldId id="421" r:id="rId2"/>
    <p:sldId id="422" r:id="rId3"/>
    <p:sldId id="401" r:id="rId4"/>
    <p:sldId id="403" r:id="rId5"/>
    <p:sldId id="404" r:id="rId6"/>
    <p:sldId id="405" r:id="rId7"/>
    <p:sldId id="406" r:id="rId8"/>
    <p:sldId id="407" r:id="rId9"/>
    <p:sldId id="415" r:id="rId10"/>
    <p:sldId id="410" r:id="rId11"/>
    <p:sldId id="416" r:id="rId12"/>
    <p:sldId id="417" r:id="rId13"/>
    <p:sldId id="418" r:id="rId14"/>
    <p:sldId id="419" r:id="rId15"/>
    <p:sldId id="420" r:id="rId16"/>
    <p:sldId id="408" r:id="rId17"/>
    <p:sldId id="409" r:id="rId18"/>
    <p:sldId id="411" r:id="rId19"/>
    <p:sldId id="412" r:id="rId20"/>
    <p:sldId id="413" r:id="rId21"/>
    <p:sldId id="414" r:id="rId22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4" autoAdjust="0"/>
    <p:restoredTop sz="93578" autoAdjust="0"/>
  </p:normalViewPr>
  <p:slideViewPr>
    <p:cSldViewPr>
      <p:cViewPr varScale="1">
        <p:scale>
          <a:sx n="83" d="100"/>
          <a:sy n="83" d="100"/>
        </p:scale>
        <p:origin x="1387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555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9BA1A87E-813F-AF0F-041D-CE232B7A18C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90A33BCA-FF2B-904A-6ACB-421B4697E719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864C4CF4-219F-4C78-A5BA-B2F154A2CDD2}" type="datetimeFigureOut">
              <a:rPr lang="en-US"/>
              <a:pPr>
                <a:defRPr/>
              </a:pPr>
              <a:t>9/17/2026</a:t>
            </a:fld>
            <a:endParaRPr lang="en-US"/>
          </a:p>
        </p:txBody>
      </p:sp>
      <p:sp>
        <p:nvSpPr>
          <p:cNvPr id="19460" name="Rectangle 4">
            <a:extLst>
              <a:ext uri="{FF2B5EF4-FFF2-40B4-BE49-F238E27FC236}">
                <a16:creationId xmlns:a16="http://schemas.microsoft.com/office/drawing/2014/main" id="{E6881BB2-A257-BEB2-B237-5C60E2FE8C72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3" name="Rectangle 5">
            <a:extLst>
              <a:ext uri="{FF2B5EF4-FFF2-40B4-BE49-F238E27FC236}">
                <a16:creationId xmlns:a16="http://schemas.microsoft.com/office/drawing/2014/main" id="{84E1F9B0-0E05-EEE3-8B09-3292F5E58FDD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8134" name="Rectangle 6">
            <a:extLst>
              <a:ext uri="{FF2B5EF4-FFF2-40B4-BE49-F238E27FC236}">
                <a16:creationId xmlns:a16="http://schemas.microsoft.com/office/drawing/2014/main" id="{FD94DB07-1FBF-48D8-BE9B-EAD1CA85602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8135" name="Rectangle 7">
            <a:extLst>
              <a:ext uri="{FF2B5EF4-FFF2-40B4-BE49-F238E27FC236}">
                <a16:creationId xmlns:a16="http://schemas.microsoft.com/office/drawing/2014/main" id="{B2D67A9F-79F1-685B-B7CE-85E68E027A3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082BB320-F13B-41AF-BB84-306DCE92248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>
            <a:extLst>
              <a:ext uri="{FF2B5EF4-FFF2-40B4-BE49-F238E27FC236}">
                <a16:creationId xmlns:a16="http://schemas.microsoft.com/office/drawing/2014/main" id="{44FFA8F6-8FBE-2312-B2D6-012FDBF058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Notes Placeholder 2">
            <a:extLst>
              <a:ext uri="{FF2B5EF4-FFF2-40B4-BE49-F238E27FC236}">
                <a16:creationId xmlns:a16="http://schemas.microsoft.com/office/drawing/2014/main" id="{60994F52-302D-250C-116C-52081CB94A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21508" name="Slide Number Placeholder 3">
            <a:extLst>
              <a:ext uri="{FF2B5EF4-FFF2-40B4-BE49-F238E27FC236}">
                <a16:creationId xmlns:a16="http://schemas.microsoft.com/office/drawing/2014/main" id="{B92E2681-B4AB-B23F-9CED-5892333F86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9A8604D-9FA4-4914-BD57-93266632D9AF}" type="slidenum">
              <a:rPr lang="en-US" altLang="en-US" smtClean="0">
                <a:latin typeface="Calibri" panose="020F0502020204030204" pitchFamily="34" charset="0"/>
              </a:rPr>
              <a:pPr/>
              <a:t>1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0210E9-01D5-7472-677A-3B0AA2AD0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CD2DDE-7A51-A1A8-5C34-99C6FAA2B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FD8106-2EFE-B03C-0DCC-E1803F83D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F5451D-6138-4BA6-B687-6C9F908488A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01832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3E8660-BD03-9DBA-9F27-92B953591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170716-1DFD-E96E-77AC-224DB37BB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0094D3-6482-D516-F215-AAD295B6F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887A73-1AE0-46F8-856A-18EA1CF30A1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6230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E40EF-D719-C1DF-C21A-2CF2ACF95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154D67-7283-208E-229E-EF4878C71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7FBDCE-B7CC-6ED6-F37D-087059BBC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9D9D01-1391-45E0-A9C5-C04635A4365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388032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8A1B8B84-BA43-81F2-03D3-23F157EDD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C23C139-D613-6FE7-8352-A2E3C1C6D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763CA6A-FAB2-9598-5FD6-5C5FFE4CC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877344-E1C7-49F4-9630-5A0F623202D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20235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AC99FE01-5AE9-7CCB-1DBD-1304A57AD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3A2B8239-FCBD-23CF-FA37-CDC50DB05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E3DACE7-853A-4CB8-B825-278E151B1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D20D7B-F2AF-465A-8627-050A33B6A2E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99797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0E68BBE-9DA8-9C9C-D822-7FC9D3829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BD6A7CF-E35D-4F42-293C-8BAB3F135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D87C34F-2852-49F1-C32D-490DE9743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B3AC73-65EA-4970-A755-094E5C634C8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993879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D25E5740-931D-F5B1-D23F-DCBD0C38C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F48D1279-085F-FADC-9335-EE951FC2F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FCD80BA-8A05-EF30-056C-D3B895E35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5AE7E5-2F0D-40CB-89DC-60190FE7F76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5960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0265D46-A9C7-CD06-5134-985F83276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8A55F7D-AFEF-402F-45C6-533ED83EF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F7864CC-5912-595A-947D-86ED4368F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715581-CD01-4CEC-BC8F-7353CE82685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204464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E467ABF-5DBD-0F44-6269-D1296B669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1729259-95EB-ABB4-8CC1-6AAA526DC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62D7086-DF65-36F8-E6B6-082068B3E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2052F0-E69A-488D-AA78-DE7ABB9591C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65026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49C7B9-97C1-73C5-069B-8304F71A5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44205D-B0EA-B535-1BCB-C052B27F3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8810C2-A27B-66A7-0574-10C225192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9212A-F0D7-4AFF-A386-0ACFB0AAC5E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984123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99E6BE-7F7F-94ED-1232-D89436CBC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9733A2-CB01-A6CE-B5D3-DB2ECAFBB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721FBA-0C17-A4B8-E194-E3AAE0572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D9BE82-4715-4ACA-919F-DBB11A70F4E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557081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9DAF1-3678-81CF-68D0-2FFF8BF1C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14762E-50A2-3FD2-FDF4-C54B9B6A93B8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A2326C-C066-820B-DC72-5D515C273E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2A3138-AE69-F27D-2EAA-23D2B3BFFE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F772D5-DBDE-E801-75E8-5C65995AF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069C2E-6178-3D9A-0D54-C41412046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89347512-759C-4E18-9ECE-7FCE1DFA935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229025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3F7038-E9FE-3435-A99B-628D46289EF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defRPr/>
            </a:pPr>
            <a:r>
              <a:rPr lang="en-US" sz="1100" b="1">
                <a:solidFill>
                  <a:srgbClr val="101141"/>
                </a:solidFill>
                <a:cs typeface="Arial" charset="0"/>
              </a:rPr>
              <a:t>BITS </a:t>
            </a:r>
            <a:r>
              <a:rPr lang="en-US" sz="1100">
                <a:solidFill>
                  <a:srgbClr val="101141"/>
                </a:solidFill>
                <a:cs typeface="Arial" charset="0"/>
              </a:rPr>
              <a:t>Pilani, Pilani Campus</a:t>
            </a:r>
          </a:p>
        </p:txBody>
      </p:sp>
      <p:grpSp>
        <p:nvGrpSpPr>
          <p:cNvPr id="4" name="Group 11">
            <a:extLst>
              <a:ext uri="{FF2B5EF4-FFF2-40B4-BE49-F238E27FC236}">
                <a16:creationId xmlns:a16="http://schemas.microsoft.com/office/drawing/2014/main" id="{C581210D-00F8-03F9-A285-0EF404A95B28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981720D-E387-AAA5-1040-9B41570959D0}"/>
                </a:ext>
              </a:extLst>
            </p:cNvPr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61E86A8-1855-7B69-B62C-6E258FDAA754}"/>
                </a:ext>
              </a:extLst>
            </p:cNvPr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0F5A7EC-8365-09AA-A08B-63472C98828A}"/>
                </a:ext>
              </a:extLst>
            </p:cNvPr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8" name="Picture 11" descr="Picture 7.png">
            <a:extLst>
              <a:ext uri="{FF2B5EF4-FFF2-40B4-BE49-F238E27FC236}">
                <a16:creationId xmlns:a16="http://schemas.microsoft.com/office/drawing/2014/main" id="{055BCDEA-2A80-3C2D-080C-509BDDC90CD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" name="Group 18">
            <a:extLst>
              <a:ext uri="{FF2B5EF4-FFF2-40B4-BE49-F238E27FC236}">
                <a16:creationId xmlns:a16="http://schemas.microsoft.com/office/drawing/2014/main" id="{4FE31975-C8A2-731C-B1AA-CCD2DCF57F50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57A10F7-F50B-DAEB-B974-D1288E571504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AECCB2B-C7CF-4843-D0DF-2886453D18BC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7A3C326-F746-6ED4-B21E-4BB970D1C982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>
            <a:extLst>
              <a:ext uri="{FF2B5EF4-FFF2-40B4-BE49-F238E27FC236}">
                <a16:creationId xmlns:a16="http://schemas.microsoft.com/office/drawing/2014/main" id="{09821B34-ED59-A848-42D8-7954EFE84254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DD3EB44-1837-0D6E-CE9B-DBC9F8518DD2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4180C74-B502-6526-25D1-FD5B018B28F4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61EECA1A-60B6-C307-32D5-77B6F2589D37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+mn-lt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+mn-lt"/>
                <a:cs typeface="Arial" pitchFamily="34" charset="0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265252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FFBFFBE-14B2-F0AF-F4AC-4976B5EA7B3E}"/>
              </a:ext>
            </a:extLst>
          </p:cNvPr>
          <p:cNvSpPr/>
          <p:nvPr userDrawn="1"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A176F73-2534-EA66-9BA3-389159441E1E}"/>
              </a:ext>
            </a:extLst>
          </p:cNvPr>
          <p:cNvSpPr/>
          <p:nvPr userDrawn="1"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143B4A-14C2-1094-BE58-15BD80B6D446}"/>
              </a:ext>
            </a:extLst>
          </p:cNvPr>
          <p:cNvSpPr/>
          <p:nvPr userDrawn="1"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2D759AA-21D7-ABA4-D5D7-76848EAA814B}"/>
              </a:ext>
            </a:extLst>
          </p:cNvPr>
          <p:cNvSpPr/>
          <p:nvPr userDrawn="1"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pic>
        <p:nvPicPr>
          <p:cNvPr id="8" name="Picture 10" descr="BITS_university_logo_whitevert.png">
            <a:extLst>
              <a:ext uri="{FF2B5EF4-FFF2-40B4-BE49-F238E27FC236}">
                <a16:creationId xmlns:a16="http://schemas.microsoft.com/office/drawing/2014/main" id="{4AC502B5-9275-C45A-F485-E98B733254D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8A90F2E-DD9A-35C4-D90C-49EB0FD21D5D}"/>
              </a:ext>
            </a:extLst>
          </p:cNvPr>
          <p:cNvSpPr txBox="1"/>
          <p:nvPr userDrawn="1"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sz="2900" b="1" spc="-150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235B97-BCD1-B200-8B0C-6E7F31A5DD6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sz="1200">
                <a:solidFill>
                  <a:srgbClr val="FFFFFF"/>
                </a:solidFill>
                <a:cs typeface="Arial" charset="0"/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5410200"/>
            <a:ext cx="60198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9111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BA203AAE-04EA-FB40-EB07-8B5C207984B1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B0F4528A-9CB7-CDAF-ED2B-34ED9244113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C94811-E68F-A5B1-AEDA-C6AFA290A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210422-B7F7-81EF-261E-27508681B4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938BB7-5B9C-07D9-CEF5-0333C50550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5875A4CA-FE82-4068-9563-37A5A44B587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833" r:id="rId1"/>
    <p:sldLayoutId id="2147484834" r:id="rId2"/>
    <p:sldLayoutId id="2147484835" r:id="rId3"/>
    <p:sldLayoutId id="2147484836" r:id="rId4"/>
    <p:sldLayoutId id="2147484837" r:id="rId5"/>
    <p:sldLayoutId id="2147484838" r:id="rId6"/>
    <p:sldLayoutId id="2147484839" r:id="rId7"/>
    <p:sldLayoutId id="2147484840" r:id="rId8"/>
    <p:sldLayoutId id="2147484841" r:id="rId9"/>
    <p:sldLayoutId id="2147484842" r:id="rId10"/>
    <p:sldLayoutId id="2147484843" r:id="rId11"/>
    <p:sldLayoutId id="2147484861" r:id="rId12"/>
    <p:sldLayoutId id="2147484862" r:id="rId13"/>
    <p:sldLayoutId id="2147484863" r:id="rId14"/>
  </p:sldLayoutIdLst>
  <p:hf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4">
            <a:extLst>
              <a:ext uri="{FF2B5EF4-FFF2-40B4-BE49-F238E27FC236}">
                <a16:creationId xmlns:a16="http://schemas.microsoft.com/office/drawing/2014/main" id="{82CCF8E8-8D44-B829-5D34-BCFE6E2C9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/>
              <a:t>Digital Design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4BD772D-9840-4762-E3C3-128057D3E94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Prof. GSS </a:t>
            </a:r>
            <a:r>
              <a:rPr lang="en-US" dirty="0" err="1"/>
              <a:t>Chalapathi</a:t>
            </a:r>
            <a:r>
              <a:rPr lang="en-US" dirty="0"/>
              <a:t>,</a:t>
            </a:r>
          </a:p>
          <a:p>
            <a:r>
              <a:rPr lang="en-US" dirty="0"/>
              <a:t>Prof. Saurabh Gandhi,</a:t>
            </a:r>
          </a:p>
          <a:p>
            <a:r>
              <a:rPr lang="en-US" dirty="0"/>
              <a:t>Prof. Ramesh </a:t>
            </a:r>
            <a:r>
              <a:rPr lang="en-US" dirty="0" err="1"/>
              <a:t>Sambangi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5075504-33A5-31E5-7A08-43C06957A0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906963"/>
          </a:xfrm>
        </p:spPr>
        <p:txBody>
          <a:bodyPr>
            <a:normAutofit/>
          </a:bodyPr>
          <a:lstStyle/>
          <a:p>
            <a:pPr marL="457200" indent="-457200">
              <a:buClr>
                <a:srgbClr val="C00000"/>
              </a:buClr>
              <a:buFont typeface="Arial" pitchFamily="34" charset="0"/>
              <a:buAutoNum type="arabicPeriod"/>
            </a:pPr>
            <a:r>
              <a:rPr lang="en-US" dirty="0">
                <a:solidFill>
                  <a:srgbClr val="C00000"/>
                </a:solidFill>
              </a:rPr>
              <a:t>What happens to Q when SR = 00?</a:t>
            </a:r>
          </a:p>
          <a:p>
            <a:pPr marL="457200" indent="-457200">
              <a:buClr>
                <a:srgbClr val="C00000"/>
              </a:buClr>
              <a:buFont typeface="Arial" pitchFamily="34" charset="0"/>
              <a:buAutoNum type="arabicPeriod"/>
            </a:pPr>
            <a:endParaRPr lang="en-US" dirty="0">
              <a:solidFill>
                <a:srgbClr val="C00000"/>
              </a:solidFill>
            </a:endParaRPr>
          </a:p>
          <a:p>
            <a:pPr marL="457200" indent="-457200">
              <a:buClr>
                <a:srgbClr val="C00000"/>
              </a:buClr>
              <a:buFont typeface="Arial" pitchFamily="34" charset="0"/>
              <a:buAutoNum type="arabicPeriod"/>
            </a:pPr>
            <a:r>
              <a:rPr lang="en-US" dirty="0">
                <a:solidFill>
                  <a:srgbClr val="C00000"/>
                </a:solidFill>
              </a:rPr>
              <a:t>What should SR be for Q to be set?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A70DDE-AB81-B906-98DD-D78CF4A6C1B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Review questions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77178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6CB3A3-0FBC-7438-E0D2-B10440134A5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The D latch (D = Data)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0714972-7B1F-F61D-DA7A-0BF2D7FAC9F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768"/>
          <a:stretch>
            <a:fillRect/>
          </a:stretch>
        </p:blipFill>
        <p:spPr bwMode="auto">
          <a:xfrm>
            <a:off x="1028700" y="1676400"/>
            <a:ext cx="7086600" cy="43792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421635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FD8D653-C0F2-C25F-1682-93E85C3A6E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Latches are transparent i.e. any change on inputs is immediately reflected in the output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When control signal is high, data </a:t>
            </a:r>
            <a:r>
              <a:rPr lang="en-US" i="1" dirty="0"/>
              <a:t>continuously</a:t>
            </a:r>
            <a:r>
              <a:rPr lang="en-US" dirty="0"/>
              <a:t> flows from input to output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Terminology: Latches are ‘level sensitive’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Synchronization across multiple memory units might become difficult and unpredictable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Solution: ‘edge sensitive’ memory units, called flip-flops, that respond only at specific times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B2D73D-58B5-8BB8-B5ED-D50267B365C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Flip-flops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45357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A4948E-B0B7-2EE8-4A3E-44AF3196B0C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D flip-flop (D = Data or Delay…)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A392559-9F5E-CD1A-6A3A-A8906CD2942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" y="1676400"/>
            <a:ext cx="7848600" cy="46281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36180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7F4BE-3D5E-69D2-DA9A-700716D97A8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Working of D the flip-flop: C = 0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FE9BE72-EA2A-C304-3FFF-0A6C14EC06A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063"/>
          <a:stretch>
            <a:fillRect/>
          </a:stretch>
        </p:blipFill>
        <p:spPr bwMode="auto">
          <a:xfrm>
            <a:off x="609600" y="1676400"/>
            <a:ext cx="7924800" cy="41140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372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4A0567-51FC-CF0A-6A37-C1BAB8264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4BB622-2AE5-7F74-1A16-45BFE5E24FF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Working of D the flip-flop: C = 1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C06E6CD-FF65-A603-3A1E-BAB477ED04A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953"/>
          <a:stretch>
            <a:fillRect/>
          </a:stretch>
        </p:blipFill>
        <p:spPr bwMode="auto">
          <a:xfrm>
            <a:off x="495300" y="1752600"/>
            <a:ext cx="8153400" cy="39118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66940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0CC2AD-FA6E-42A5-DB85-D8E85932B25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Positive edge triggering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90EBF9C-3B94-9746-2485-45434F29252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768"/>
          <a:stretch>
            <a:fillRect/>
          </a:stretch>
        </p:blipFill>
        <p:spPr bwMode="auto">
          <a:xfrm>
            <a:off x="800100" y="1524000"/>
            <a:ext cx="7543800" cy="47684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262481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21A806-7FEA-BA26-33EE-D5E29CCF5C3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Level vs edge triggering summary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EA763E7-0348-D655-5331-0A825DC77D1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380" y="2209800"/>
            <a:ext cx="3749620" cy="3162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CED4F07-395E-0CA0-56A0-225AF385B6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3048000"/>
            <a:ext cx="3962400" cy="1471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7325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EA9A91-4A00-4F7E-2DAF-773D2A2DDB4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Flip-flops with direct inputs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A0215A9-DF80-73E0-74E5-92DE715B113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768" b="83315"/>
          <a:stretch>
            <a:fillRect/>
          </a:stretch>
        </p:blipFill>
        <p:spPr bwMode="auto">
          <a:xfrm>
            <a:off x="800100" y="1600200"/>
            <a:ext cx="7543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Content Placeholder 3">
            <a:extLst>
              <a:ext uri="{FF2B5EF4-FFF2-40B4-BE49-F238E27FC236}">
                <a16:creationId xmlns:a16="http://schemas.microsoft.com/office/drawing/2014/main" id="{32EB1D10-D0E4-B11D-8193-60F44450DBE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768" b="72960"/>
          <a:stretch>
            <a:fillRect/>
          </a:stretch>
        </p:blipFill>
        <p:spPr bwMode="auto">
          <a:xfrm>
            <a:off x="800100" y="1600200"/>
            <a:ext cx="75438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Content Placeholder 3">
            <a:extLst>
              <a:ext uri="{FF2B5EF4-FFF2-40B4-BE49-F238E27FC236}">
                <a16:creationId xmlns:a16="http://schemas.microsoft.com/office/drawing/2014/main" id="{59537D85-0AB6-4947-A496-EFD00E61F4B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768" b="52250"/>
          <a:stretch>
            <a:fillRect/>
          </a:stretch>
        </p:blipFill>
        <p:spPr bwMode="auto">
          <a:xfrm>
            <a:off x="800100" y="1600200"/>
            <a:ext cx="7543800" cy="190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2370E6CC-A450-FDE8-224E-952FE2590A2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625" b="476"/>
          <a:stretch>
            <a:fillRect/>
          </a:stretch>
        </p:blipFill>
        <p:spPr bwMode="auto">
          <a:xfrm>
            <a:off x="800100" y="3962400"/>
            <a:ext cx="7543800" cy="2209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62194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AA6991-9655-2E3D-01A5-FFB6BD04B98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D flip-flop with asynchronous reset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5669FD7-2BFA-875B-695D-F582C57E282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51"/>
          <a:stretch>
            <a:fillRect/>
          </a:stretch>
        </p:blipFill>
        <p:spPr bwMode="auto">
          <a:xfrm>
            <a:off x="2718781" y="1493838"/>
            <a:ext cx="3910619" cy="4940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87266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1664EA9-883C-9053-DDF1-B30DA66C3B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2007370"/>
            <a:ext cx="3622730" cy="20356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CC66611-6ADE-0363-4FF7-9E3C66A5F5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6165" y="2214364"/>
            <a:ext cx="1336730" cy="267346"/>
          </a:xfrm>
          <a:prstGeom prst="rect">
            <a:avLst/>
          </a:prstGeom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33AE429-EAC7-164C-4A6E-9F53F5F9C0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7"/>
            <a:ext cx="4953000" cy="4525963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There are three operations that can be performed with a flip-flop: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Set it to 1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Reset it to 0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Complement its output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 flip-flop can set or reset the output, </a:t>
            </a:r>
            <a:r>
              <a:rPr lang="en-US" i="1" dirty="0"/>
              <a:t>no toggle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JK flip-flop has two inputs and performs all three operations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The J input sets the flip-flop to 1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The K input resets it to 0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When both inputs are enabled, the output is complemented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 (toggle) flip-flop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46E519-BE86-94E2-6C2C-422492BEFA0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Other types of flip-flops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A9B6069-DDF6-1973-F8B2-071C88EB1D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6518" y="1112469"/>
            <a:ext cx="1214714" cy="132439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021708A-D420-2ADE-D21A-D603199C64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3000" y="4719871"/>
            <a:ext cx="3886200" cy="149836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B1C62C2-624B-9E1B-46F3-A06AA98BEDE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69884" y="3673704"/>
            <a:ext cx="1248995" cy="1046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4127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4FA1B7-3D36-8C87-FEF0-7AD045F51D9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Characteristic tables</a:t>
            </a:r>
            <a:endParaRPr lang="en-IN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C462EFCA-6626-774C-7A7C-4006070D537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94"/>
          <a:stretch>
            <a:fillRect/>
          </a:stretch>
        </p:blipFill>
        <p:spPr bwMode="auto">
          <a:xfrm>
            <a:off x="876300" y="1752600"/>
            <a:ext cx="7391400" cy="44857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282131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ACD948-124F-48A1-6582-46934BC3653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Characteristic equations</a:t>
            </a:r>
            <a:endParaRPr lang="en-IN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22311ED1-632C-00BE-C4A6-82236A221E1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768"/>
          <a:stretch>
            <a:fillRect/>
          </a:stretch>
        </p:blipFill>
        <p:spPr bwMode="auto">
          <a:xfrm>
            <a:off x="990600" y="1600200"/>
            <a:ext cx="7162800" cy="44458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114304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4CBB3FA-5DD7-E63A-3C95-E4466E1452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Shows the minimum inputs that are necessary to generate a particular next state (in other words, to "excite" it to the next state) when the current state is known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Rearrange the data so that the current state and next state are next to each other on the left-hand side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Inputs needed to make that state change happen are shown on the right side of the table</a:t>
            </a:r>
            <a:endParaRPr lang="en-IN" sz="1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8688D1-F584-AF9A-6C46-11D1AFF326C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Excitation tables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281A36-0861-283B-977A-16AD33CA4C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2578" y="3562679"/>
            <a:ext cx="1808851" cy="20761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968F11F-EFB1-236A-C152-E1C9864C0B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590184"/>
            <a:ext cx="1739055" cy="200254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E030AC6-E731-4B05-4384-0F0C06AFD2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4004" y="3590184"/>
            <a:ext cx="1848506" cy="200254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0515201-CF16-A0B5-FC02-3C7079084C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4487" y="3600287"/>
            <a:ext cx="1808852" cy="2031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074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1226551-9DE0-6409-3FF6-7C5D5E24C3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1205408" y="1493838"/>
            <a:ext cx="6428384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45237F-0301-BC22-E001-90BBA1A09AC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Another design of the D flip-flop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206963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7E90B5-CC6E-436D-2D4E-1CCECAE4158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Working of the 3-latch design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D6C7F5A-940A-4C5A-7212-AA568A78E4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524666" y="2133600"/>
            <a:ext cx="4047334" cy="2849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10D5868-2B01-5841-4666-5E92E7324A72}"/>
              </a:ext>
            </a:extLst>
          </p:cNvPr>
          <p:cNvSpPr txBox="1"/>
          <p:nvPr/>
        </p:nvSpPr>
        <p:spPr>
          <a:xfrm>
            <a:off x="4724400" y="1997839"/>
            <a:ext cx="336153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800" dirty="0"/>
              <a:t>Case I: 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sz="1800" dirty="0"/>
              <a:t> D = 0, CLK = 0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sz="1800" dirty="0"/>
              <a:t> D = 0 =&gt; B = 1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sz="1800" dirty="0"/>
              <a:t> CLK = 0 =&gt; R = 1, S = 1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sz="1800" dirty="0"/>
              <a:t> B = 1, S = 1 =&gt; A = 0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sz="1800" dirty="0"/>
              <a:t> ASRB = 0111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sz="1800" dirty="0"/>
              <a:t> SR = 11 =&gt; No change in Q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EB57A54-6F3D-DC08-F343-6984AF35B956}"/>
              </a:ext>
            </a:extLst>
          </p:cNvPr>
          <p:cNvGrpSpPr/>
          <p:nvPr/>
        </p:nvGrpSpPr>
        <p:grpSpPr>
          <a:xfrm>
            <a:off x="2548333" y="2193587"/>
            <a:ext cx="535022" cy="2524088"/>
            <a:chOff x="2548333" y="2193587"/>
            <a:chExt cx="535022" cy="2524088"/>
          </a:xfrm>
        </p:grpSpPr>
        <p:sp>
          <p:nvSpPr>
            <p:cNvPr id="10" name="Text Box 4">
              <a:extLst>
                <a:ext uri="{FF2B5EF4-FFF2-40B4-BE49-F238E27FC236}">
                  <a16:creationId xmlns:a16="http://schemas.microsoft.com/office/drawing/2014/main" id="{D8DEE8A9-E207-957B-91C3-FDFCD198B7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9955" y="4440676"/>
              <a:ext cx="533400" cy="2769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200" dirty="0"/>
                <a:t>B</a:t>
              </a:r>
            </a:p>
          </p:txBody>
        </p:sp>
        <p:sp>
          <p:nvSpPr>
            <p:cNvPr id="11" name="Text Box 4">
              <a:extLst>
                <a:ext uri="{FF2B5EF4-FFF2-40B4-BE49-F238E27FC236}">
                  <a16:creationId xmlns:a16="http://schemas.microsoft.com/office/drawing/2014/main" id="{EBD5D49A-5041-27DD-C347-D8198BC6A5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8333" y="2193587"/>
              <a:ext cx="533400" cy="2769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200" dirty="0"/>
                <a:t>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2054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7F93C72-A6F7-9137-B181-8398B5AB9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C7B097-44E0-4C30-808A-F5DA5D55BC5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Working of the 3-latch design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5340869-7B08-C799-0559-7ABAB53DD6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524666" y="2133600"/>
            <a:ext cx="4047334" cy="2849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437A58F-DAEF-E0BF-4F07-182FC8B6E5A9}"/>
              </a:ext>
            </a:extLst>
          </p:cNvPr>
          <p:cNvSpPr txBox="1"/>
          <p:nvPr/>
        </p:nvSpPr>
        <p:spPr>
          <a:xfrm>
            <a:off x="4572000" y="1447800"/>
            <a:ext cx="44958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dirty="0"/>
              <a:t>In case I (i.e., ASRB=0111) make CLK=1 </a:t>
            </a:r>
          </a:p>
          <a:p>
            <a:pPr>
              <a:spcBef>
                <a:spcPct val="50000"/>
              </a:spcBef>
            </a:pPr>
            <a:r>
              <a:rPr lang="en-US" altLang="en-US" dirty="0"/>
              <a:t>D = 0 =&gt; B = 1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dirty="0"/>
              <a:t> B = 1, S = 1 =&gt; A = 0 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dirty="0"/>
              <a:t> A = 0 =&gt; S = 1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dirty="0"/>
              <a:t> S = 1, B = 1, CLK = 1 =&gt; R = 0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dirty="0"/>
              <a:t> SR = 10 =&gt; RESET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dirty="0"/>
              <a:t> ASRB = 0101</a:t>
            </a:r>
          </a:p>
          <a:p>
            <a:pPr>
              <a:spcBef>
                <a:spcPct val="50000"/>
              </a:spcBef>
            </a:pPr>
            <a:r>
              <a:rPr lang="en-US" altLang="en-US" dirty="0"/>
              <a:t>Only R has changed here after one gate delay.</a:t>
            </a:r>
          </a:p>
          <a:p>
            <a:pPr>
              <a:spcBef>
                <a:spcPct val="50000"/>
              </a:spcBef>
            </a:pPr>
            <a:r>
              <a:rPr lang="en-US" altLang="en-US" dirty="0"/>
              <a:t>What happens if D changes now:</a:t>
            </a:r>
          </a:p>
          <a:p>
            <a:pPr>
              <a:spcBef>
                <a:spcPct val="50000"/>
              </a:spcBef>
            </a:pPr>
            <a:r>
              <a:rPr lang="en-US" altLang="en-US" dirty="0"/>
              <a:t>If D changes after R has stabilized there will be no effect on output. </a:t>
            </a:r>
          </a:p>
          <a:p>
            <a:pPr>
              <a:spcBef>
                <a:spcPct val="50000"/>
              </a:spcBef>
            </a:pPr>
            <a:r>
              <a:rPr lang="en-US" altLang="en-US" dirty="0">
                <a:solidFill>
                  <a:srgbClr val="FF0000"/>
                </a:solidFill>
              </a:rPr>
              <a:t>This is Hold Time.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2094DB2-8B6D-3BEA-DFA2-351974175A5D}"/>
              </a:ext>
            </a:extLst>
          </p:cNvPr>
          <p:cNvGrpSpPr/>
          <p:nvPr/>
        </p:nvGrpSpPr>
        <p:grpSpPr>
          <a:xfrm>
            <a:off x="2548333" y="2193587"/>
            <a:ext cx="535022" cy="2524088"/>
            <a:chOff x="2548333" y="2193587"/>
            <a:chExt cx="535022" cy="2524088"/>
          </a:xfrm>
        </p:grpSpPr>
        <p:sp>
          <p:nvSpPr>
            <p:cNvPr id="10" name="Text Box 4">
              <a:extLst>
                <a:ext uri="{FF2B5EF4-FFF2-40B4-BE49-F238E27FC236}">
                  <a16:creationId xmlns:a16="http://schemas.microsoft.com/office/drawing/2014/main" id="{2C34A98C-A451-F834-E2E8-66A297425F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9955" y="4440676"/>
              <a:ext cx="533400" cy="2769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200" dirty="0"/>
                <a:t>B</a:t>
              </a:r>
            </a:p>
          </p:txBody>
        </p:sp>
        <p:sp>
          <p:nvSpPr>
            <p:cNvPr id="11" name="Text Box 4">
              <a:extLst>
                <a:ext uri="{FF2B5EF4-FFF2-40B4-BE49-F238E27FC236}">
                  <a16:creationId xmlns:a16="http://schemas.microsoft.com/office/drawing/2014/main" id="{FD097DB7-9719-1481-029D-9C56BFAF80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8333" y="2193587"/>
              <a:ext cx="533400" cy="2769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200" dirty="0"/>
                <a:t>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16328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31C5AB0-E8D2-A92E-8EAF-06B302B73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2A9092-A052-D9B0-C15B-A7A3A52FE77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Working of the 3-latch design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43E8A61-36F6-4542-07EC-066AC666B7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524666" y="2133600"/>
            <a:ext cx="4047334" cy="2849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FB9E53C-27F9-BF98-921A-23BF42037DEE}"/>
              </a:ext>
            </a:extLst>
          </p:cNvPr>
          <p:cNvSpPr txBox="1"/>
          <p:nvPr/>
        </p:nvSpPr>
        <p:spPr>
          <a:xfrm>
            <a:off x="4597940" y="2358026"/>
            <a:ext cx="44958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dirty="0"/>
              <a:t> Case II: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dirty="0"/>
              <a:t>  D = 1, CLK = 0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dirty="0"/>
              <a:t>  CLK = 0 =&gt; R = 1, S = 1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dirty="0"/>
              <a:t>  D = 1, R = 1 =&gt; B = 0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dirty="0"/>
              <a:t>  B = 0, S = 1 =&gt; A = 1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dirty="0"/>
              <a:t>  ASRB = 1110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dirty="0"/>
              <a:t>  SR = 11 =&gt; No change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1F76EAC-6D92-D1BA-084D-D15A9F4876EA}"/>
              </a:ext>
            </a:extLst>
          </p:cNvPr>
          <p:cNvGrpSpPr/>
          <p:nvPr/>
        </p:nvGrpSpPr>
        <p:grpSpPr>
          <a:xfrm>
            <a:off x="2548333" y="2193587"/>
            <a:ext cx="535022" cy="2524088"/>
            <a:chOff x="2548333" y="2193587"/>
            <a:chExt cx="535022" cy="2524088"/>
          </a:xfrm>
        </p:grpSpPr>
        <p:sp>
          <p:nvSpPr>
            <p:cNvPr id="10" name="Text Box 4">
              <a:extLst>
                <a:ext uri="{FF2B5EF4-FFF2-40B4-BE49-F238E27FC236}">
                  <a16:creationId xmlns:a16="http://schemas.microsoft.com/office/drawing/2014/main" id="{479333FA-917A-E69C-68C6-1287ADB05D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9955" y="4440676"/>
              <a:ext cx="533400" cy="2769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200" dirty="0"/>
                <a:t>B</a:t>
              </a:r>
            </a:p>
          </p:txBody>
        </p:sp>
        <p:sp>
          <p:nvSpPr>
            <p:cNvPr id="11" name="Text Box 4">
              <a:extLst>
                <a:ext uri="{FF2B5EF4-FFF2-40B4-BE49-F238E27FC236}">
                  <a16:creationId xmlns:a16="http://schemas.microsoft.com/office/drawing/2014/main" id="{D1A760B5-0737-A8FF-B003-0E439A4221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8333" y="2193587"/>
              <a:ext cx="533400" cy="2769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200" dirty="0"/>
                <a:t>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29752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0A03309-4871-3DCE-A7AD-9D0C65767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79B33C-705E-CFF2-AFE1-BB5A37C8932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Working of the 3-latch design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A61DCB0-43FC-B1B5-B6CC-23D6C3C8D6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524666" y="2133600"/>
            <a:ext cx="4047334" cy="2849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7AE85E2-AA85-C68E-37EB-0A3B7CDAA528}"/>
              </a:ext>
            </a:extLst>
          </p:cNvPr>
          <p:cNvSpPr txBox="1"/>
          <p:nvPr/>
        </p:nvSpPr>
        <p:spPr>
          <a:xfrm>
            <a:off x="4597940" y="2358026"/>
            <a:ext cx="44958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dirty="0"/>
              <a:t>In case II make  CLK = 1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dirty="0"/>
              <a:t> ASRB = 1110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dirty="0"/>
              <a:t> R = 1, D = 1 =&gt; B = 0 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dirty="0"/>
              <a:t> B = 0, =&gt; A = 1 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dirty="0"/>
              <a:t> A = 1, CLK = 1 =&gt; S = 0 =&gt; R = 1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dirty="0"/>
              <a:t> SR = 01 =&gt; SET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dirty="0"/>
              <a:t> ASRB = 1010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15F987F-E4B3-DFAF-11DE-2574A5AB4896}"/>
              </a:ext>
            </a:extLst>
          </p:cNvPr>
          <p:cNvGrpSpPr/>
          <p:nvPr/>
        </p:nvGrpSpPr>
        <p:grpSpPr>
          <a:xfrm>
            <a:off x="2548333" y="2193587"/>
            <a:ext cx="535022" cy="2524088"/>
            <a:chOff x="2548333" y="2193587"/>
            <a:chExt cx="535022" cy="2524088"/>
          </a:xfrm>
        </p:grpSpPr>
        <p:sp>
          <p:nvSpPr>
            <p:cNvPr id="10" name="Text Box 4">
              <a:extLst>
                <a:ext uri="{FF2B5EF4-FFF2-40B4-BE49-F238E27FC236}">
                  <a16:creationId xmlns:a16="http://schemas.microsoft.com/office/drawing/2014/main" id="{87EFD32F-3D28-18AB-2EA4-015A00F7A6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9955" y="4440676"/>
              <a:ext cx="533400" cy="2769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200" dirty="0"/>
                <a:t>B</a:t>
              </a:r>
            </a:p>
          </p:txBody>
        </p:sp>
        <p:sp>
          <p:nvSpPr>
            <p:cNvPr id="11" name="Text Box 4">
              <a:extLst>
                <a:ext uri="{FF2B5EF4-FFF2-40B4-BE49-F238E27FC236}">
                  <a16:creationId xmlns:a16="http://schemas.microsoft.com/office/drawing/2014/main" id="{435B32C6-EE97-6A89-A9C0-25C62FAB08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8333" y="2193587"/>
              <a:ext cx="533400" cy="2769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200" dirty="0"/>
                <a:t>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55722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C588F9D-A2AA-1415-8E6D-7DFD23DCB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796022-7129-2C4E-10A3-88F66FDE3D6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Working of the 3-latch design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966E05E-B2F6-1C76-C02B-6F2E4B4D37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524666" y="2133600"/>
            <a:ext cx="4047334" cy="2849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2BE9052-939B-FE77-770E-28ABF0E2A114}"/>
              </a:ext>
            </a:extLst>
          </p:cNvPr>
          <p:cNvSpPr txBox="1"/>
          <p:nvPr/>
        </p:nvSpPr>
        <p:spPr>
          <a:xfrm>
            <a:off x="4495800" y="1313234"/>
            <a:ext cx="4495800" cy="5139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600" dirty="0"/>
              <a:t>From D = 1, CLK = 0 what if we suddenly changed to D = 0, CLK = 1?</a:t>
            </a:r>
          </a:p>
          <a:p>
            <a:pPr>
              <a:spcBef>
                <a:spcPct val="50000"/>
              </a:spcBef>
            </a:pPr>
            <a:r>
              <a:rPr lang="en-US" altLang="en-US" sz="1600" dirty="0"/>
              <a:t> ASRB = 1110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sz="1600" dirty="0"/>
              <a:t> D = 0 =&gt; B = 1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sz="1600" dirty="0"/>
              <a:t> CLK = 1, A = 1 =&gt; S = 0 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sz="1600" dirty="0"/>
              <a:t> S = 0, B = 1 =&gt; A = 1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sz="1600" dirty="0"/>
              <a:t> S = 0, B = 1, CLK = 1 =&gt; R = 1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sz="1600" dirty="0"/>
              <a:t> SR = 01 =&gt; SET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sz="1600" dirty="0"/>
              <a:t> ASRB = 1011</a:t>
            </a:r>
          </a:p>
          <a:p>
            <a:pPr>
              <a:spcBef>
                <a:spcPct val="50000"/>
              </a:spcBef>
            </a:pPr>
            <a:r>
              <a:rPr lang="en-US" altLang="en-US" sz="1600" dirty="0">
                <a:solidFill>
                  <a:srgbClr val="FF0000"/>
                </a:solidFill>
              </a:rPr>
              <a:t>Wrong result</a:t>
            </a:r>
          </a:p>
          <a:p>
            <a:pPr>
              <a:spcBef>
                <a:spcPct val="50000"/>
              </a:spcBef>
            </a:pPr>
            <a:r>
              <a:rPr lang="en-US" altLang="en-US" sz="1600" dirty="0">
                <a:solidFill>
                  <a:srgbClr val="FF0000"/>
                </a:solidFill>
              </a:rPr>
              <a:t>Correct sequence will be:</a:t>
            </a:r>
          </a:p>
          <a:p>
            <a:pPr>
              <a:spcBef>
                <a:spcPct val="50000"/>
              </a:spcBef>
              <a:buFontTx/>
              <a:buAutoNum type="arabicPeriod"/>
            </a:pPr>
            <a:r>
              <a:rPr lang="en-US" altLang="en-US" sz="1600" dirty="0">
                <a:solidFill>
                  <a:schemeClr val="tx2"/>
                </a:solidFill>
              </a:rPr>
              <a:t> Go from case II to case I, i.e., let ASRB change from 1110 to 0111. Here A takes two gate delays to change. This is </a:t>
            </a:r>
            <a:r>
              <a:rPr lang="en-US" altLang="en-US" sz="1600" dirty="0">
                <a:solidFill>
                  <a:srgbClr val="FF0000"/>
                </a:solidFill>
              </a:rPr>
              <a:t>Setup time.</a:t>
            </a:r>
          </a:p>
          <a:p>
            <a:pPr>
              <a:spcBef>
                <a:spcPct val="50000"/>
              </a:spcBef>
              <a:buFontTx/>
              <a:buAutoNum type="arabicPeriod"/>
            </a:pPr>
            <a:r>
              <a:rPr lang="en-US" altLang="en-US" sz="1600" dirty="0">
                <a:solidFill>
                  <a:schemeClr val="tx2"/>
                </a:solidFill>
              </a:rPr>
              <a:t> Now go from case I to D = 0, CLK = 1.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1863726-85C9-C12E-F114-64D51473129E}"/>
              </a:ext>
            </a:extLst>
          </p:cNvPr>
          <p:cNvGrpSpPr/>
          <p:nvPr/>
        </p:nvGrpSpPr>
        <p:grpSpPr>
          <a:xfrm>
            <a:off x="2548333" y="2193587"/>
            <a:ext cx="535022" cy="2524088"/>
            <a:chOff x="2548333" y="2193587"/>
            <a:chExt cx="535022" cy="2524088"/>
          </a:xfrm>
        </p:grpSpPr>
        <p:sp>
          <p:nvSpPr>
            <p:cNvPr id="10" name="Text Box 4">
              <a:extLst>
                <a:ext uri="{FF2B5EF4-FFF2-40B4-BE49-F238E27FC236}">
                  <a16:creationId xmlns:a16="http://schemas.microsoft.com/office/drawing/2014/main" id="{3BC4276B-3742-58DE-48C6-15A295FF59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9955" y="4440676"/>
              <a:ext cx="533400" cy="2769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200" dirty="0"/>
                <a:t>B</a:t>
              </a:r>
            </a:p>
          </p:txBody>
        </p:sp>
        <p:sp>
          <p:nvSpPr>
            <p:cNvPr id="11" name="Text Box 4">
              <a:extLst>
                <a:ext uri="{FF2B5EF4-FFF2-40B4-BE49-F238E27FC236}">
                  <a16:creationId xmlns:a16="http://schemas.microsoft.com/office/drawing/2014/main" id="{8CAEED1A-3D41-5115-1D7C-B24223CD07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8333" y="2193587"/>
              <a:ext cx="533400" cy="2769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200" dirty="0"/>
                <a:t>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14214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pptA48A.tmp</Template>
  <TotalTime>13515</TotalTime>
  <Words>773</Words>
  <Application>Microsoft Office PowerPoint</Application>
  <PresentationFormat>On-screen Show (4:3)</PresentationFormat>
  <Paragraphs>100</Paragraphs>
  <Slides>21</Slides>
  <Notes>1</Notes>
  <HiddenSlides>6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Digital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bits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 Time Systems</dc:title>
  <dc:creator>a</dc:creator>
  <cp:lastModifiedBy>Saurabh Gandhi</cp:lastModifiedBy>
  <cp:revision>576</cp:revision>
  <dcterms:created xsi:type="dcterms:W3CDTF">2010-01-15T20:22:21Z</dcterms:created>
  <dcterms:modified xsi:type="dcterms:W3CDTF">2026-09-17T00:30:51Z</dcterms:modified>
</cp:coreProperties>
</file>