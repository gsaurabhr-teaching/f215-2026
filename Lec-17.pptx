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3578" autoAdjust="0"/>
  </p:normalViewPr>
  <p:slideViewPr>
    <p:cSldViewPr>
      <p:cViewPr varScale="1">
        <p:scale>
          <a:sx n="93" d="100"/>
          <a:sy n="93" d="100"/>
        </p:scale>
        <p:origin x="816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9/18/2026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spcBef>
                <a:spcPct val="0"/>
              </a:spcBef>
              <a:spcAft>
                <a:spcPct val="0"/>
              </a:spcAft>
              <a:buNone/>
            </a:pPr>
            <a:r>
              <a:rPr lang="en-US" sz="44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5451D-6138-4BA6-B687-6C9F908488A2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9212A-F0D7-4AFF-A386-0ACFB0AAC5E4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D9BE82-4715-4ACA-919F-DBB11A70F4E4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  <a:p>
            <a:pPr lvl="1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 lang="en-US" altLang="en-US" sz="1200" b="0" i="0" kern="1200">
              <a:solidFill>
                <a:schemeClr val="tx1">
                  <a:tint val="75000"/>
                </a:schemeClr>
              </a:solidFill>
              <a:latin typeface="Calibr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/>
          <a:p>
            <a:endParaRPr lang="en-US" alt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/>
          <a:p>
            <a:fld id="{89347512-759C-4E18-9ECE-7FCE1DFA935E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/>
        </p:nvSpPr>
        <p:spPr>
          <a:xfrm>
            <a:off x="3276600" y="6596063"/>
            <a:ext cx="5867400" cy="261937"/>
          </a:xfrm>
          <a:prstGeom prst="rect">
            <a:avLst/>
          </a:prstGeom>
          <a:noFill/>
          <a:ln w="0"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9pPr>
          </a:lstStyle>
          <a:p>
            <a:pPr algn="r">
              <a:spcBef>
                <a:spcPct val="0"/>
              </a:spcBef>
              <a:spcAft>
                <a:spcPct val="0"/>
              </a:spcAft>
            </a:pPr>
            <a:r>
              <a:rPr lang="en-US" sz="1100" b="1" i="0" kern="1200">
                <a:solidFill>
                  <a:srgbClr val="101141"/>
                </a:solidFill>
                <a:latin typeface="Arial"/>
              </a:rPr>
              <a:t>BITS </a:t>
            </a:r>
            <a:r>
              <a:rPr lang="en-US" sz="1100" b="0" i="0" kern="1200">
                <a:solidFill>
                  <a:srgbClr val="101141"/>
                </a:solidFill>
                <a:latin typeface="Arial"/>
              </a:rPr>
              <a:t>Pilani, Pilani Campus</a:t>
            </a:r>
            <a:endParaRPr lang="en-US"/>
          </a:p>
        </p:txBody>
      </p:sp>
      <p:grpSp>
        <p:nvGrpSpPr>
          <p:cNvPr id="3" name="Group 11"/>
          <p:cNvGrpSpPr/>
          <p:nvPr/>
        </p:nvGrpSpPr>
        <p:grpSpPr>
          <a:xfrm>
            <a:off x="2084388" y="6550025"/>
            <a:ext cx="7059612" cy="49213"/>
            <a:chOff x="2083888" y="6550671"/>
            <a:chExt cx="7060112" cy="48665"/>
          </a:xfrm>
        </p:grpSpPr>
        <p:sp>
          <p:nvSpPr>
            <p:cNvPr id="4" name="Rectangle 4"/>
            <p:cNvSpPr/>
            <p:nvPr/>
          </p:nvSpPr>
          <p:spPr>
            <a:xfrm>
              <a:off x="4630418" y="6550671"/>
              <a:ext cx="2329027" cy="48665"/>
            </a:xfrm>
            <a:prstGeom prst="rect">
              <a:avLst/>
            </a:prstGeom>
            <a:solidFill>
              <a:srgbClr val="76C2E5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5" name="Rectangle 5"/>
            <p:cNvSpPr/>
            <p:nvPr/>
          </p:nvSpPr>
          <p:spPr>
            <a:xfrm>
              <a:off x="6908642" y="6550671"/>
              <a:ext cx="2235358" cy="45525"/>
            </a:xfrm>
            <a:prstGeom prst="rect">
              <a:avLst/>
            </a:prstGeom>
            <a:solidFill>
              <a:srgbClr val="E31C24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6" name="Rectangle 6"/>
            <p:cNvSpPr/>
            <p:nvPr/>
          </p:nvSpPr>
          <p:spPr>
            <a:xfrm>
              <a:off x="2083888" y="6550671"/>
              <a:ext cx="2581458" cy="48665"/>
            </a:xfrm>
            <a:prstGeom prst="rect">
              <a:avLst/>
            </a:prstGeom>
            <a:solidFill>
              <a:srgbClr val="FCB017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</p:grpSp>
      <p:pic>
        <p:nvPicPr>
          <p:cNvPr id="7" name="Picture 11" descr="Picture 7.png"/>
          <p:cNvPicPr/>
          <p:nvPr/>
        </p:nvPicPr>
        <p:blipFill>
          <a:blip r:embed="rId2"/>
          <a:srcRect l="1923" b="5336"/>
          <a:stretch>
            <a:fillRect/>
          </a:stretch>
        </p:blipFill>
        <p:spPr>
          <a:xfrm>
            <a:off x="6629400" y="0"/>
            <a:ext cx="2193925" cy="692150"/>
          </a:xfrm>
          <a:prstGeom prst="rect">
            <a:avLst/>
          </a:prstGeom>
          <a:ln w="0">
            <a:noFill/>
          </a:ln>
        </p:spPr>
      </p:pic>
      <p:grpSp>
        <p:nvGrpSpPr>
          <p:cNvPr id="8" name="Group 18"/>
          <p:cNvGrpSpPr/>
          <p:nvPr/>
        </p:nvGrpSpPr>
        <p:grpSpPr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9"/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</p:grpSp>
      <p:grpSp>
        <p:nvGrpSpPr>
          <p:cNvPr id="12" name="Group 22"/>
          <p:cNvGrpSpPr/>
          <p:nvPr/>
        </p:nvGrpSpPr>
        <p:grpSpPr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3"/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  <a:effectLst>
              <a:outerShdw blurRad="40000" dist="23000" dir="5400000">
                <a:srgbClr val="000000">
                  <a:alpha val="35000"/>
                </a:srgbClr>
              </a:outerShdw>
            </a:effectLst>
          </p:spPr>
          <p:txBody>
            <a:bodyPr anchor="ctr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endParaRPr lang="en-US" sz="1800" b="0" i="0" kern="1200">
                <a:solidFill>
                  <a:prstClr val="white"/>
                </a:solidFill>
                <a:latin typeface="Arial"/>
              </a:endParaRPr>
            </a:p>
          </p:txBody>
        </p:sp>
      </p:grp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</p:spPr>
        <p:txBody>
          <a:bodyPr/>
          <a:lstStyle>
            <a:lvl1pPr marL="342900" marR="0" indent="-3429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sz="2400">
                <a:latin typeface="+mn-lt"/>
              </a:defRPr>
            </a:lvl1pPr>
            <a:lvl2pPr marL="742950" marR="0" indent="-28575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–"/>
              <a:defRPr sz="1600"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–"/>
            </a:pPr>
            <a:r>
              <a:rPr lang="en-US" sz="16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17" name="Content Placeholder 18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0" baseline="0">
                <a:latin typeface="+mj-lt"/>
              </a:defRPr>
            </a:lvl1pPr>
          </a:lstStyle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 w="0">
            <a:noFill/>
          </a:ln>
          <a:effectLst>
            <a:outerShdw blurRad="40000" dist="23000" dir="540000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1800" b="0" i="0" kern="1200">
              <a:solidFill>
                <a:schemeClr val="lt1"/>
              </a:solidFill>
              <a:latin typeface="Arial"/>
            </a:endParaRPr>
          </a:p>
        </p:txBody>
      </p:sp>
      <p:sp>
        <p:nvSpPr>
          <p:cNvPr id="3" name="Rectangle 3"/>
          <p:cNvSpPr/>
          <p:nvPr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 w="0">
            <a:noFill/>
          </a:ln>
          <a:effectLst>
            <a:outerShdw blurRad="40000" dist="23000" dir="540000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1800" b="0" i="0" kern="1200">
              <a:solidFill>
                <a:schemeClr val="lt1"/>
              </a:solidFill>
              <a:latin typeface="Arial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 w="0">
            <a:noFill/>
          </a:ln>
          <a:effectLst>
            <a:outerShdw blurRad="40000" dist="23000" dir="540000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1800" b="0" i="0" kern="1200">
              <a:solidFill>
                <a:schemeClr val="lt1"/>
              </a:solidFill>
              <a:latin typeface="Arial"/>
            </a:endParaRPr>
          </a:p>
        </p:txBody>
      </p:sp>
      <p:sp>
        <p:nvSpPr>
          <p:cNvPr id="5" name="Rectangle 5"/>
          <p:cNvSpPr/>
          <p:nvPr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 w="0">
            <a:noFill/>
          </a:ln>
          <a:effectLst>
            <a:outerShdw blurRad="40000" dist="23000" dir="5400000">
              <a:srgbClr val="000000">
                <a:alpha val="35000"/>
              </a:srgbClr>
            </a:outerShdw>
          </a:effectLst>
        </p:spPr>
        <p:txBody>
          <a:bodyPr anchor="ctr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1800" b="0" i="0" kern="1200">
              <a:solidFill>
                <a:schemeClr val="lt1"/>
              </a:solidFill>
              <a:latin typeface="Arial"/>
            </a:endParaRPr>
          </a:p>
        </p:txBody>
      </p:sp>
      <p:pic>
        <p:nvPicPr>
          <p:cNvPr id="6" name="Picture 10" descr="BITS_university_logo_whitevert.png"/>
          <p:cNvPicPr/>
          <p:nvPr/>
        </p:nvPicPr>
        <p:blipFill>
          <a:blip r:embed="rId3"/>
          <a:srcRect t="2" b="28592"/>
          <a:stretch>
            <a:fillRect/>
          </a:stretch>
        </p:blipFill>
        <p:spPr>
          <a:xfrm>
            <a:off x="76200" y="3352800"/>
            <a:ext cx="2057400" cy="1979613"/>
          </a:xfrm>
          <a:prstGeom prst="rect">
            <a:avLst/>
          </a:prstGeom>
          <a:ln w="0">
            <a:noFill/>
          </a:ln>
        </p:spPr>
      </p:pic>
      <p:sp>
        <p:nvSpPr>
          <p:cNvPr id="7" name="TextBox 8"/>
          <p:cNvSpPr/>
          <p:nvPr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sz="2900" b="1" i="0" kern="1200" spc="-150">
                <a:solidFill>
                  <a:schemeClr val="bg1"/>
                </a:solidFill>
                <a:latin typeface="Arial"/>
              </a:rPr>
              <a:t>BITS</a:t>
            </a:r>
            <a:r>
              <a:rPr lang="en-US" sz="2900" b="0" i="0" kern="1200" spc="-150">
                <a:solidFill>
                  <a:schemeClr val="bg1"/>
                </a:solidFill>
                <a:latin typeface="Arial"/>
              </a:rPr>
              <a:t> Pilani</a:t>
            </a:r>
            <a:endParaRPr lang="en-US"/>
          </a:p>
        </p:txBody>
      </p:sp>
      <p:sp>
        <p:nvSpPr>
          <p:cNvPr id="8" name="TextBox 9"/>
          <p:cNvSpPr/>
          <p:nvPr/>
        </p:nvSpPr>
        <p:spPr>
          <a:xfrm>
            <a:off x="152400" y="5667375"/>
            <a:ext cx="19050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/>
              </a:defRPr>
            </a:lvl9pPr>
          </a:lstStyle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200" b="0" i="0" kern="1200">
                <a:solidFill>
                  <a:srgbClr val="FFFFFF"/>
                </a:solidFill>
                <a:latin typeface="Arial"/>
              </a:rPr>
              <a:t>Pilani Campus</a:t>
            </a:r>
            <a:endParaRPr lang="en-US"/>
          </a:p>
        </p:txBody>
      </p:sp>
      <p:sp>
        <p:nvSpPr>
          <p:cNvPr id="9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/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1800" b="0" i="0" kern="1200" baseline="0">
                <a:solidFill>
                  <a:schemeClr val="bg1"/>
                </a:solidFill>
                <a:latin typeface="Arial"/>
              </a:rPr>
              <a:t>Click to edit Master text styles</a:t>
            </a:r>
            <a:endParaRPr lang="en-US"/>
          </a:p>
          <a:p>
            <a:pPr lvl="1">
              <a:spcBef>
                <a:spcPct val="0"/>
              </a:spcBef>
              <a:spcAft>
                <a:spcPct val="0"/>
              </a:spcAft>
            </a:pPr>
            <a:r>
              <a:rPr lang="en-US" sz="1800" b="0" i="0" kern="1200">
                <a:solidFill>
                  <a:schemeClr val="tx1"/>
                </a:solidFill>
                <a:latin typeface="Arial"/>
              </a:rPr>
              <a:t>Second level</a:t>
            </a:r>
            <a:endParaRPr lang="en-US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/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pPr>
              <a:lnSpc>
                <a:spcPts val="4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 baseline="0">
                <a:solidFill>
                  <a:schemeClr val="bg1"/>
                </a:solidFill>
                <a:latin typeface="Calibri"/>
              </a:rPr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87A73-1AE0-46F8-856A-18EA1CF30A1B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000" b="1" i="0" kern="1200" cap="all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None/>
            </a:pPr>
            <a:r>
              <a:rPr lang="en-US" sz="20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D9D01-1391-45E0-A9C5-C04635A43651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8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  <a:p>
            <a:pPr lvl="1"/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/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77344-E1C7-49F4-9630-5A0F623202D9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None/>
            </a:pPr>
            <a:r>
              <a:rPr lang="en-US" sz="2400" b="1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  <a:p>
            <a:pPr lvl="1"/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/>
            <a:r>
              <a:rPr lang="en-US" sz="16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/>
            <a:r>
              <a:rPr lang="en-US" sz="16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None/>
            </a:pPr>
            <a:r>
              <a:rPr lang="en-US" sz="2400" b="1" i="0" kern="1200">
                <a:solidFill>
                  <a:srgbClr val="898989"/>
                </a:solidFill>
                <a:latin typeface="Calibri"/>
              </a:rPr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z="2400" b="0" i="0" kern="1200">
                <a:solidFill>
                  <a:srgbClr val="898989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/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/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/>
            <a:r>
              <a:rPr lang="en-US" sz="16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/>
            <a:r>
              <a:rPr lang="en-US" sz="16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20D7B-F2AF-465A-8627-050A33B6A2E6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3AC73-65EA-4970-A755-094E5C634C8C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AE7E5-2F0D-40CB-89DC-60190FE7F765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000" b="1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15581-CD01-4CEC-BC8F-7353CE826851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2000" b="1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spcBef>
                <a:spcPct val="20000"/>
              </a:spcBef>
              <a:spcAft>
                <a:spcPct val="0"/>
              </a:spcAft>
              <a:buNone/>
            </a:pPr>
            <a:endParaRPr lang="en-US" sz="3200" b="0" i="0" kern="120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052F0-E69A-488D-AA78-DE7ABB9591C3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0">
            <a:noFill/>
          </a:ln>
        </p:spPr>
        <p:txBody>
          <a:bodyPr vert="horz" wrap="square" lIns="91440" tIns="45720" rIns="91440" bIns="45720" numCol="1" anchor="ctr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en-US" sz="4400" b="0" i="0" kern="1200">
                <a:solidFill>
                  <a:schemeClr val="tx1"/>
                </a:solidFill>
                <a:latin typeface="Calibr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0">
            <a:noFill/>
          </a:ln>
        </p:spPr>
        <p:txBody>
          <a:bodyPr vert="horz" wrap="square" lIns="91440" tIns="45720" rIns="91440" bIns="45720" numCol="1" anchor="t" compatLnSpc="1">
            <a:prstTxWarp prst="textNoShape">
              <a:avLst/>
            </a:prstTxWarp>
          </a:bodyPr>
          <a:lstStyle/>
          <a:p>
            <a:pPr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altLang="en-US" sz="3200" b="0" i="0" kern="1200">
                <a:solidFill>
                  <a:schemeClr val="tx1"/>
                </a:solidFill>
                <a:latin typeface="Calibri"/>
              </a:rPr>
              <a:t>Click to edit Master text styles</a:t>
            </a:r>
            <a:endParaRPr lang="en-US"/>
          </a:p>
          <a:p>
            <a:pPr lvl="1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altLang="en-US" sz="2800" b="0" i="0" kern="1200">
                <a:solidFill>
                  <a:schemeClr val="tx1"/>
                </a:solidFill>
                <a:latin typeface="Calibri"/>
              </a:rPr>
              <a:t>Second level</a:t>
            </a:r>
            <a:endParaRPr lang="en-US"/>
          </a:p>
          <a:p>
            <a:pPr lvl="2">
              <a:spcBef>
                <a:spcPct val="20000"/>
              </a:spcBef>
              <a:spcAft>
                <a:spcPct val="0"/>
              </a:spcAft>
              <a:buFont typeface="Arial"/>
              <a:buChar char="•"/>
            </a:pPr>
            <a:r>
              <a:rPr lang="en-US" altLang="en-US" sz="2400" b="0" i="0" kern="1200">
                <a:solidFill>
                  <a:schemeClr val="tx1"/>
                </a:solidFill>
                <a:latin typeface="Calibri"/>
              </a:rPr>
              <a:t>Third level</a:t>
            </a:r>
            <a:endParaRPr lang="en-US"/>
          </a:p>
          <a:p>
            <a:pPr lvl="3">
              <a:spcBef>
                <a:spcPct val="20000"/>
              </a:spcBef>
              <a:spcAft>
                <a:spcPct val="0"/>
              </a:spcAft>
              <a:buFont typeface="Arial"/>
              <a:buChar char="–"/>
            </a:pPr>
            <a:r>
              <a:rPr lang="en-US" altLang="en-US" sz="2000" b="0" i="0" kern="1200">
                <a:solidFill>
                  <a:schemeClr val="tx1"/>
                </a:solidFill>
                <a:latin typeface="Calibri"/>
              </a:rPr>
              <a:t>Fourth level</a:t>
            </a:r>
            <a:endParaRPr lang="en-US"/>
          </a:p>
          <a:p>
            <a:pPr lvl="4">
              <a:spcBef>
                <a:spcPct val="20000"/>
              </a:spcBef>
              <a:spcAft>
                <a:spcPct val="0"/>
              </a:spcAft>
              <a:buFont typeface="Arial"/>
              <a:buChar char="»"/>
            </a:pPr>
            <a:r>
              <a:rPr lang="en-US" altLang="en-US" sz="2000" b="0" i="0" kern="1200">
                <a:solidFill>
                  <a:schemeClr val="tx1"/>
                </a:solidFill>
                <a:latin typeface="Calibr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00" b="0" i="0" kern="1200">
                <a:solidFill>
                  <a:schemeClr val="tx1">
                    <a:tint val="75000"/>
                  </a:schemeClr>
                </a:solidFill>
                <a:latin typeface="Calibri"/>
              </a:rPr>
              <a:t>21/12/2020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/>
              </a:defRPr>
            </a:lvl1pPr>
          </a:lstStyle>
          <a:p>
            <a:endParaRPr lang="en-US" sz="1200" b="0" i="0" kern="1200">
              <a:solidFill>
                <a:srgbClr val="898989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/>
              </a:defRPr>
            </a:lvl1pPr>
          </a:lstStyle>
          <a:p>
            <a:fld id="{5875A4CA-FE82-4068-9563-37A5A44B5871}" type="slidenum">
              <a:rPr lang="en-US" altLang="en-US" sz="1200" b="0" i="0" kern="1200">
                <a:solidFill>
                  <a:srgbClr val="898989"/>
                </a:solidFill>
                <a:latin typeface="Calibri"/>
              </a:r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hdr="0" ftr="0"/>
  <p:txStyles>
    <p:titleStyle>
      <a:lvl1pPr algn="ctr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</a:defRPr>
      </a:lvl1pPr>
      <a:lvl2pPr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2pPr>
      <a:lvl3pPr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3pPr>
      <a:lvl4pPr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4pPr>
      <a:lvl5pPr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5pPr>
      <a:lvl6pPr marL="457200"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6pPr>
      <a:lvl7pPr marL="914400"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7pPr>
      <a:lvl8pPr marL="1371600"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8pPr>
      <a:lvl9pPr marL="1828800" algn="ctr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/>
        </a:defRPr>
      </a:lvl9pPr>
    </p:titleStyle>
    <p:bodyStyle>
      <a:lvl1pPr marL="342900" indent="-342900" algn="l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+mn-lt"/>
        </a:defRPr>
      </a:lvl1pPr>
      <a:lvl2pPr marL="742950" indent="-285750" algn="l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+mn-lt"/>
        </a:defRPr>
      </a:lvl2pPr>
      <a:lvl3pPr marL="1143000" indent="-228600" algn="l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+mn-lt"/>
        </a:defRPr>
      </a:lvl3pPr>
      <a:lvl4pPr marL="1600200" indent="-228600" algn="l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+mn-lt"/>
        </a:defRPr>
      </a:lvl4pPr>
      <a:lvl5pPr marL="2057400" indent="-228600" algn="l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+mn-lt"/>
        </a:defRPr>
      </a:lvl5pPr>
      <a:lvl6pPr marL="2514600" indent="-228600" algn="l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6pPr>
      <a:lvl7pPr marL="2971800" indent="-228600" algn="l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7pPr>
      <a:lvl8pPr marL="3429000" indent="-228600" algn="l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8pPr>
      <a:lvl9pPr marL="3886200" indent="-228600" algn="l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4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anchor="ctr"/>
          <a:lstStyle/>
          <a:p>
            <a:pPr algn="ctr">
              <a:lnSpc>
                <a:spcPts val="4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4400" b="0" i="0" kern="1200" baseline="0">
                <a:solidFill>
                  <a:schemeClr val="bg1"/>
                </a:solidFill>
                <a:latin typeface="Calibri"/>
              </a:rPr>
              <a:t>Digital Design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/>
          <a:lstStyle/>
          <a:p>
            <a:pPr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1800" b="0" i="0" kern="1200" baseline="0">
                <a:solidFill>
                  <a:schemeClr val="bg1"/>
                </a:solidFill>
                <a:latin typeface="Arial"/>
              </a:rPr>
              <a:t>Prof. GSS Chalapathi,</a:t>
            </a:r>
            <a:endParaRPr lang="en-US"/>
          </a:p>
          <a:p>
            <a:pPr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1800" b="0" i="0" kern="1200" baseline="0">
                <a:solidFill>
                  <a:schemeClr val="bg1"/>
                </a:solidFill>
                <a:latin typeface="Arial"/>
              </a:rPr>
              <a:t>Prof. Saurabh Gandhi,</a:t>
            </a:r>
            <a:endParaRPr lang="en-US"/>
          </a:p>
          <a:p>
            <a:pPr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1800" b="0" i="0" kern="1200" baseline="0">
                <a:solidFill>
                  <a:schemeClr val="bg1"/>
                </a:solidFill>
                <a:latin typeface="Arial"/>
              </a:rPr>
              <a:t>Prof. Ramesh Sambangi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906963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anchor="t"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AutoNum type="arabicPeriod"/>
            </a:pPr>
            <a:r>
              <a:rPr lang="en-US" sz="2400" b="0" i="0" kern="1200">
                <a:solidFill>
                  <a:srgbClr val="C00000"/>
                </a:solidFill>
                <a:latin typeface="Calibri"/>
              </a:rPr>
              <a:t>In a D-latch, output becomes equal to input when…</a:t>
            </a:r>
            <a:endParaRPr lang="en-US"/>
          </a:p>
          <a:p>
            <a:pPr marL="457200" indent="-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AutoNum type="arabicPeriod"/>
            </a:pPr>
            <a:endParaRPr lang="en-US" sz="2400" b="0" i="0" kern="1200">
              <a:solidFill>
                <a:srgbClr val="C00000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AutoNum type="arabicPeriod"/>
            </a:pPr>
            <a:r>
              <a:rPr lang="en-US" sz="2400" b="0" i="0" kern="1200">
                <a:solidFill>
                  <a:srgbClr val="C00000"/>
                </a:solidFill>
                <a:latin typeface="Calibri"/>
              </a:rPr>
              <a:t>In a D-flipflop, output becomes equal to input when…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Review questions</a:t>
            </a:r>
            <a:endParaRPr lang="en-I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The D latch (D = Data)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rcRect t="10768"/>
          <a:stretch>
            <a:fillRect/>
          </a:stretch>
        </p:blipFill>
        <p:spPr>
          <a:xfrm>
            <a:off x="1028700" y="1676400"/>
            <a:ext cx="7086600" cy="437921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anchor="t"/>
          <a:lstStyle/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Latches are transparent i.e. any change on inputs is immediately reflected in the output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When control signal is high, data </a:t>
            </a:r>
            <a:r>
              <a:rPr lang="en-US" sz="2400" b="0" i="1" kern="1200">
                <a:solidFill>
                  <a:schemeClr val="tx1"/>
                </a:solidFill>
                <a:latin typeface="Calibri"/>
              </a:rPr>
              <a:t>continuously</a:t>
            </a: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 flows from input to output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Terminology: Latches are ‘level sensitive’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Synchronization across multiple memory units might become difficult and unpredictable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Solution: ‘edge sensitive’ memory units, called flip-flops, that respond only at specific times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Flip-flops</a:t>
            </a:r>
            <a:endParaRPr lang="en-I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D flip-flop (D = Data or Delay…)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700" y="1676400"/>
            <a:ext cx="7848600" cy="4628128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D the flip-flop: C = 0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rcRect t="13063"/>
          <a:stretch>
            <a:fillRect/>
          </a:stretch>
        </p:blipFill>
        <p:spPr>
          <a:xfrm>
            <a:off x="609600" y="1676400"/>
            <a:ext cx="7924800" cy="4114048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D the flip-flop: C = 1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rcRect t="14953"/>
          <a:stretch>
            <a:fillRect/>
          </a:stretch>
        </p:blipFill>
        <p:spPr>
          <a:xfrm>
            <a:off x="495300" y="1752600"/>
            <a:ext cx="8153400" cy="3911827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Positive edge triggering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rcRect t="10768"/>
          <a:stretch>
            <a:fillRect/>
          </a:stretch>
        </p:blipFill>
        <p:spPr>
          <a:xfrm>
            <a:off x="800100" y="1327533"/>
            <a:ext cx="7543800" cy="4768467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Level vs edge triggering summary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380" y="2209800"/>
            <a:ext cx="3749620" cy="3162836"/>
          </a:xfrm>
          <a:prstGeom prst="rect">
            <a:avLst/>
          </a:prstGeom>
          <a:ln w="0">
            <a:noFill/>
          </a:ln>
        </p:spPr>
      </p:pic>
      <p:pic>
        <p:nvPicPr>
          <p:cNvPr id="4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4800600" y="3048000"/>
            <a:ext cx="3962400" cy="1471319"/>
          </a:xfrm>
          <a:prstGeom prst="rect">
            <a:avLst/>
          </a:prstGeom>
        </p:spPr>
      </p:pic>
      <p:sp>
        <p:nvSpPr>
          <p:cNvPr id="5" name="TextBox 4"/>
          <p:cNvSpPr/>
          <p:nvPr/>
        </p:nvSpPr>
        <p:spPr>
          <a:xfrm>
            <a:off x="609600" y="5867400"/>
            <a:ext cx="792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800" b="0" i="0" kern="1200">
                <a:solidFill>
                  <a:srgbClr val="C00000"/>
                </a:solidFill>
                <a:latin typeface="Arial"/>
              </a:rPr>
              <a:t>How will you make a D flip flop that is negative edge triggered?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Flip-flops with direct inputs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rcRect t="10768" b="83315"/>
          <a:stretch>
            <a:fillRect/>
          </a:stretch>
        </p:blipFill>
        <p:spPr>
          <a:xfrm>
            <a:off x="800100" y="1600200"/>
            <a:ext cx="7543800" cy="304800"/>
          </a:xfrm>
          <a:prstGeom prst="rect">
            <a:avLst/>
          </a:prstGeom>
          <a:ln w="0">
            <a:noFill/>
          </a:ln>
        </p:spPr>
      </p:pic>
      <p:pic>
        <p:nvPicPr>
          <p:cNvPr id="4" name="Content Placeholder 3"/>
          <p:cNvPicPr/>
          <p:nvPr/>
        </p:nvPicPr>
        <p:blipFill>
          <a:blip r:embed="rId2"/>
          <a:srcRect t="10768" b="72960"/>
          <a:stretch>
            <a:fillRect/>
          </a:stretch>
        </p:blipFill>
        <p:spPr>
          <a:xfrm>
            <a:off x="800100" y="1600200"/>
            <a:ext cx="7543800" cy="838200"/>
          </a:xfrm>
          <a:prstGeom prst="rect">
            <a:avLst/>
          </a:prstGeom>
          <a:ln w="0">
            <a:noFill/>
          </a:ln>
        </p:spPr>
      </p:pic>
      <p:pic>
        <p:nvPicPr>
          <p:cNvPr id="5" name="Content Placeholder 3"/>
          <p:cNvPicPr/>
          <p:nvPr/>
        </p:nvPicPr>
        <p:blipFill>
          <a:blip r:embed="rId2"/>
          <a:srcRect t="10768" b="52250"/>
          <a:stretch>
            <a:fillRect/>
          </a:stretch>
        </p:blipFill>
        <p:spPr>
          <a:xfrm>
            <a:off x="800100" y="1600200"/>
            <a:ext cx="7543800" cy="1905000"/>
          </a:xfrm>
          <a:prstGeom prst="rect">
            <a:avLst/>
          </a:prstGeom>
          <a:ln w="0">
            <a:noFill/>
          </a:ln>
        </p:spPr>
      </p:pic>
      <p:pic>
        <p:nvPicPr>
          <p:cNvPr id="6" name="Content Placeholder 3"/>
          <p:cNvPicPr/>
          <p:nvPr/>
        </p:nvPicPr>
        <p:blipFill>
          <a:blip r:embed="rId2"/>
          <a:srcRect t="56625" b="476"/>
          <a:stretch>
            <a:fillRect/>
          </a:stretch>
        </p:blipFill>
        <p:spPr>
          <a:xfrm>
            <a:off x="800100" y="3962400"/>
            <a:ext cx="7543800" cy="2209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4800" y="1493837"/>
            <a:ext cx="8534400" cy="4525963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anchor="t"/>
          <a:lstStyle/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There are three operations that can be performed with a flip-flop: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Set it to 1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Reset it to 0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Complement its output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D flip-flop can set or reset the output, </a:t>
            </a:r>
            <a:r>
              <a:rPr lang="en-US" sz="2400" b="0" i="1" kern="1200">
                <a:solidFill>
                  <a:schemeClr val="tx1"/>
                </a:solidFill>
                <a:latin typeface="Calibri"/>
              </a:rPr>
              <a:t>no toggle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JK flip-flop has two inputs and performs all three operations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The J input sets the flip-flop to 1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The K input resets it to 0</a:t>
            </a:r>
            <a:endParaRPr lang="en-US"/>
          </a:p>
          <a:p>
            <a:pPr lvl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000" b="0" i="0" kern="1200">
                <a:solidFill>
                  <a:schemeClr val="tx1"/>
                </a:solidFill>
                <a:latin typeface="Calibri"/>
              </a:rPr>
              <a:t>When both inputs are enabled, the output is complemented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2400" b="0" i="0" kern="1200">
                <a:solidFill>
                  <a:schemeClr val="tx1"/>
                </a:solidFill>
                <a:latin typeface="Calibri"/>
              </a:rPr>
              <a:t>T (toggle) flip-flop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Other types of flip-flops</a:t>
            </a:r>
            <a:endParaRPr lang="en-IN"/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7772400" y="4191000"/>
            <a:ext cx="1214714" cy="1324395"/>
          </a:xfrm>
          <a:prstGeom prst="rect">
            <a:avLst/>
          </a:prstGeom>
        </p:spPr>
      </p:pic>
      <p:pic>
        <p:nvPicPr>
          <p:cNvPr id="5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3733800" y="5364163"/>
            <a:ext cx="1248995" cy="10461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Characteristic tables</a:t>
            </a:r>
            <a:endParaRPr lang="en-IN"/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rcRect t="10594"/>
          <a:stretch>
            <a:fillRect/>
          </a:stretch>
        </p:blipFill>
        <p:spPr>
          <a:xfrm>
            <a:off x="876300" y="1752600"/>
            <a:ext cx="7391400" cy="448577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Characteristic equations</a:t>
            </a:r>
            <a:endParaRPr lang="en-IN"/>
          </a:p>
        </p:txBody>
      </p:sp>
      <p:pic>
        <p:nvPicPr>
          <p:cNvPr id="3" name="Content Placeholder 2"/>
          <p:cNvPicPr>
            <a:picLocks noGrp="1"/>
          </p:cNvPicPr>
          <p:nvPr>
            <p:ph idx="1"/>
          </p:nvPr>
        </p:nvPicPr>
        <p:blipFill>
          <a:blip r:embed="rId2"/>
          <a:srcRect t="10768"/>
          <a:stretch>
            <a:fillRect/>
          </a:stretch>
        </p:blipFill>
        <p:spPr>
          <a:xfrm>
            <a:off x="990600" y="1600200"/>
            <a:ext cx="7162800" cy="4445866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7"/>
          <p:cNvGrpSpPr/>
          <p:nvPr/>
        </p:nvGrpSpPr>
        <p:grpSpPr>
          <a:xfrm>
            <a:off x="4953000" y="3170885"/>
            <a:ext cx="3622730" cy="1885794"/>
            <a:chOff x="3273370" y="3199051"/>
            <a:chExt cx="3622730" cy="1885794"/>
          </a:xfrm>
        </p:grpSpPr>
        <p:pic>
          <p:nvPicPr>
            <p:cNvPr id="3" name="Picture 4"/>
            <p:cNvPicPr/>
            <p:nvPr/>
          </p:nvPicPr>
          <p:blipFill>
            <a:blip r:embed="rId2"/>
            <a:srcRect b="7361"/>
            <a:stretch>
              <a:fillRect/>
            </a:stretch>
          </p:blipFill>
          <p:spPr>
            <a:xfrm>
              <a:off x="3273370" y="3199051"/>
              <a:ext cx="3622730" cy="1885794"/>
            </a:xfrm>
            <a:prstGeom prst="rect">
              <a:avLst/>
            </a:prstGeom>
          </p:spPr>
        </p:pic>
        <p:pic>
          <p:nvPicPr>
            <p:cNvPr id="4" name="Picture 6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5112444" y="3406313"/>
              <a:ext cx="1336730" cy="267346"/>
            </a:xfrm>
            <a:prstGeom prst="rect">
              <a:avLst/>
            </a:prstGeom>
          </p:spPr>
        </p:pic>
      </p:grp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Building different flip-flops</a:t>
            </a:r>
            <a:endParaRPr lang="en-IN"/>
          </a:p>
        </p:txBody>
      </p:sp>
      <p:pic>
        <p:nvPicPr>
          <p:cNvPr id="6" name="Picture 10"/>
          <p:cNvPicPr/>
          <p:nvPr/>
        </p:nvPicPr>
        <p:blipFill>
          <a:blip r:embed="rId4"/>
          <a:srcRect l="41414" b="8886"/>
          <a:stretch>
            <a:fillRect/>
          </a:stretch>
        </p:blipFill>
        <p:spPr>
          <a:xfrm>
            <a:off x="5746977" y="1465718"/>
            <a:ext cx="2276764" cy="1365228"/>
          </a:xfrm>
          <a:prstGeom prst="rect">
            <a:avLst/>
          </a:prstGeom>
        </p:spPr>
      </p:pic>
      <p:pic>
        <p:nvPicPr>
          <p:cNvPr id="7" name="Picture 2"/>
          <p:cNvPicPr>
            <a:picLocks noGrp="1"/>
          </p:cNvPicPr>
          <p:nvPr>
            <p:ph idx="1"/>
          </p:nvPr>
        </p:nvPicPr>
        <p:blipFill>
          <a:blip r:embed="rId5"/>
          <a:srcRect l="58247" t="39130" r="3608" b="28655"/>
          <a:stretch>
            <a:fillRect/>
          </a:stretch>
        </p:blipFill>
        <p:spPr>
          <a:xfrm>
            <a:off x="990599" y="3590209"/>
            <a:ext cx="2819400" cy="1616304"/>
          </a:xfrm>
          <a:prstGeom prst="rect">
            <a:avLst/>
          </a:prstGeom>
          <a:ln w="0">
            <a:noFill/>
          </a:ln>
        </p:spPr>
      </p:pic>
      <p:pic>
        <p:nvPicPr>
          <p:cNvPr id="8" name="Picture 2"/>
          <p:cNvPicPr/>
          <p:nvPr/>
        </p:nvPicPr>
        <p:blipFill>
          <a:blip r:embed="rId6"/>
          <a:srcRect l="7447" t="78536" r="56383" b="-1"/>
          <a:stretch>
            <a:fillRect/>
          </a:stretch>
        </p:blipFill>
        <p:spPr>
          <a:xfrm>
            <a:off x="1104899" y="1801322"/>
            <a:ext cx="2590801" cy="1069427"/>
          </a:xfrm>
          <a:prstGeom prst="rect">
            <a:avLst/>
          </a:prstGeom>
          <a:ln w="0">
            <a:noFill/>
          </a:ln>
        </p:spPr>
      </p:pic>
      <p:sp>
        <p:nvSpPr>
          <p:cNvPr id="9" name="TextBox 9"/>
          <p:cNvSpPr/>
          <p:nvPr/>
        </p:nvSpPr>
        <p:spPr>
          <a:xfrm>
            <a:off x="177683" y="1431991"/>
            <a:ext cx="792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800" b="0" i="0" kern="1200">
                <a:solidFill>
                  <a:srgbClr val="C00000"/>
                </a:solidFill>
                <a:latin typeface="Arial"/>
              </a:rPr>
              <a:t>Can you build a T flip-flop from a D flip-flop?</a:t>
            </a:r>
            <a:endParaRPr lang="en-US"/>
          </a:p>
        </p:txBody>
      </p:sp>
      <p:sp>
        <p:nvSpPr>
          <p:cNvPr id="10" name="TextBox 13"/>
          <p:cNvSpPr/>
          <p:nvPr/>
        </p:nvSpPr>
        <p:spPr>
          <a:xfrm>
            <a:off x="177683" y="3045813"/>
            <a:ext cx="792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800" b="0" i="0" kern="1200">
                <a:solidFill>
                  <a:srgbClr val="C00000"/>
                </a:solidFill>
                <a:latin typeface="Arial"/>
              </a:rPr>
              <a:t>Can you build a JK flip-flop from a D flip-flop?</a:t>
            </a:r>
            <a:endParaRPr lang="en-US"/>
          </a:p>
        </p:txBody>
      </p:sp>
      <p:sp>
        <p:nvSpPr>
          <p:cNvPr id="11" name="TextBox 14"/>
          <p:cNvSpPr/>
          <p:nvPr/>
        </p:nvSpPr>
        <p:spPr>
          <a:xfrm>
            <a:off x="177683" y="5378841"/>
            <a:ext cx="792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sz="1800" b="0" i="0" kern="1200">
                <a:solidFill>
                  <a:srgbClr val="C00000"/>
                </a:solidFill>
                <a:latin typeface="Arial"/>
              </a:rPr>
              <a:t>Can you build a T flip-flop from a JK flip-flop?</a:t>
            </a:r>
            <a:endParaRPr lang="en-US"/>
          </a:p>
        </p:txBody>
      </p:sp>
      <p:pic>
        <p:nvPicPr>
          <p:cNvPr id="12" name="Picture 15"/>
          <p:cNvPicPr/>
          <p:nvPr/>
        </p:nvPicPr>
        <p:blipFill>
          <a:blip r:embed="rId4"/>
          <a:srcRect l="1376" r="59408" b="8886"/>
          <a:stretch>
            <a:fillRect/>
          </a:stretch>
        </p:blipFill>
        <p:spPr>
          <a:xfrm>
            <a:off x="6387984" y="5061013"/>
            <a:ext cx="1524000" cy="13652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45720" rIns="91440" bIns="45720" anchor="t"/>
          <a:lstStyle/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Shows the minimum inputs that are necessary to generate a particular next state (in other words, to "excite" it to the next state) when the current state is known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Rearrange the data so that the current state and next state are next to each other on the left-hand side</a:t>
            </a:r>
            <a:endParaRPr lang="en-US"/>
          </a:p>
          <a:p>
            <a:pPr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/>
              <a:buChar char="•"/>
            </a:pPr>
            <a:r>
              <a:rPr lang="en-US" sz="1800" b="0" i="0" kern="1200">
                <a:solidFill>
                  <a:schemeClr val="tx1"/>
                </a:solidFill>
                <a:latin typeface="Calibri"/>
              </a:rPr>
              <a:t>Inputs needed to make that state change happen are shown on the right side of the table</a:t>
            </a:r>
            <a:endParaRPr lang="en-IN" sz="180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Excitation tables</a:t>
            </a:r>
            <a:endParaRPr lang="en-US"/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2462578" y="3562679"/>
            <a:ext cx="1808851" cy="2076121"/>
          </a:xfrm>
          <a:prstGeom prst="rect">
            <a:avLst/>
          </a:prstGeom>
        </p:spPr>
      </p:pic>
      <p:pic>
        <p:nvPicPr>
          <p:cNvPr id="5" name="Picture 6"/>
          <p:cNvPicPr/>
          <p:nvPr/>
        </p:nvPicPr>
        <p:blipFill>
          <a:blip r:embed="rId3"/>
          <a:stretch>
            <a:fillRect/>
          </a:stretch>
        </p:blipFill>
        <p:spPr>
          <a:xfrm>
            <a:off x="457200" y="3590184"/>
            <a:ext cx="1739055" cy="2002548"/>
          </a:xfrm>
          <a:prstGeom prst="rect">
            <a:avLst/>
          </a:prstGeom>
        </p:spPr>
      </p:pic>
      <p:pic>
        <p:nvPicPr>
          <p:cNvPr id="6" name="Picture 8"/>
          <p:cNvPicPr/>
          <p:nvPr/>
        </p:nvPicPr>
        <p:blipFill>
          <a:blip r:embed="rId4"/>
          <a:stretch>
            <a:fillRect/>
          </a:stretch>
        </p:blipFill>
        <p:spPr>
          <a:xfrm>
            <a:off x="4594004" y="3590184"/>
            <a:ext cx="1848506" cy="2002548"/>
          </a:xfrm>
          <a:prstGeom prst="rect">
            <a:avLst/>
          </a:prstGeom>
        </p:spPr>
      </p:pic>
      <p:pic>
        <p:nvPicPr>
          <p:cNvPr id="7" name="Picture 10"/>
          <p:cNvPicPr/>
          <p:nvPr/>
        </p:nvPicPr>
        <p:blipFill>
          <a:blip r:embed="rId5"/>
          <a:stretch>
            <a:fillRect/>
          </a:stretch>
        </p:blipFill>
        <p:spPr>
          <a:xfrm>
            <a:off x="6734487" y="3600287"/>
            <a:ext cx="1808852" cy="20313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5408" y="1493838"/>
            <a:ext cx="6428384" cy="4525962"/>
          </a:xfrm>
          <a:prstGeom prst="rect">
            <a:avLst/>
          </a:prstGeom>
          <a:ln w="0"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Another design of the D flip-flop</a:t>
            </a:r>
            <a:endParaRPr lang="en-I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the 3-latch design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666" y="2133600"/>
            <a:ext cx="4047334" cy="2849562"/>
          </a:xfrm>
          <a:prstGeom prst="rect">
            <a:avLst/>
          </a:prstGeom>
          <a:ln w="0">
            <a:noFill/>
          </a:ln>
        </p:spPr>
      </p:pic>
      <p:sp>
        <p:nvSpPr>
          <p:cNvPr id="4" name="TextBox 6"/>
          <p:cNvSpPr/>
          <p:nvPr/>
        </p:nvSpPr>
        <p:spPr>
          <a:xfrm>
            <a:off x="4724400" y="1997839"/>
            <a:ext cx="336153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Case I: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D = 0, CLK = 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D = 0 =&gt; B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CLK = 0 =&gt; R = 1, S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B = 1, S = 1 =&gt; A = 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ASRB = 0111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SR = 11 =&gt; No change in Q</a:t>
            </a:r>
            <a:endParaRPr lang="en-US"/>
          </a:p>
        </p:txBody>
      </p:sp>
      <p:grpSp>
        <p:nvGrpSpPr>
          <p:cNvPr id="5" name="Group 11"/>
          <p:cNvGrpSpPr/>
          <p:nvPr/>
        </p:nvGrpSpPr>
        <p:grpSpPr>
          <a:xfrm>
            <a:off x="2548333" y="2193587"/>
            <a:ext cx="535022" cy="2524088"/>
            <a:chOff x="2548333" y="2193587"/>
            <a:chExt cx="535022" cy="2524088"/>
          </a:xfrm>
        </p:grpSpPr>
        <p:sp>
          <p:nvSpPr>
            <p:cNvPr id="6" name="Text Box 4"/>
            <p:cNvSpPr/>
            <p:nvPr/>
          </p:nvSpPr>
          <p:spPr>
            <a:xfrm>
              <a:off x="2549955" y="4440676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B</a:t>
              </a:r>
              <a:endParaRPr lang="en-US"/>
            </a:p>
          </p:txBody>
        </p:sp>
        <p:sp>
          <p:nvSpPr>
            <p:cNvPr id="7" name="Text Box 4"/>
            <p:cNvSpPr/>
            <p:nvPr/>
          </p:nvSpPr>
          <p:spPr>
            <a:xfrm>
              <a:off x="2548333" y="2193587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A</a:t>
              </a:r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the 3-latch design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666" y="2133600"/>
            <a:ext cx="4047334" cy="2849562"/>
          </a:xfrm>
          <a:prstGeom prst="rect">
            <a:avLst/>
          </a:prstGeom>
          <a:ln w="0">
            <a:noFill/>
          </a:ln>
        </p:spPr>
      </p:pic>
      <p:sp>
        <p:nvSpPr>
          <p:cNvPr id="4" name="TextBox 6"/>
          <p:cNvSpPr/>
          <p:nvPr/>
        </p:nvSpPr>
        <p:spPr>
          <a:xfrm>
            <a:off x="4572000" y="1447800"/>
            <a:ext cx="4495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In case I (i.e., ASRB=0111) make CLK=1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D = 0 =&gt; B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B = 1, S = 1 =&gt; A = 0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 = 0 =&gt; S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S = 1, B = 1, CLK = 1 =&gt; R = 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SR = 10 =&gt; RESET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ASRB = 0101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Only R has changed here after one gate delay.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What happens if D changes now: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If D changes after R has stabilized there will be no effect on output.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rgbClr val="FF0000"/>
                </a:solidFill>
                <a:latin typeface="Arial"/>
              </a:rPr>
              <a:t>This is Hold Time.</a:t>
            </a:r>
            <a:endParaRPr lang="en-US"/>
          </a:p>
        </p:txBody>
      </p:sp>
      <p:grpSp>
        <p:nvGrpSpPr>
          <p:cNvPr id="5" name="Group 11"/>
          <p:cNvGrpSpPr/>
          <p:nvPr/>
        </p:nvGrpSpPr>
        <p:grpSpPr>
          <a:xfrm>
            <a:off x="2548333" y="2193587"/>
            <a:ext cx="535022" cy="2524088"/>
            <a:chOff x="2548333" y="2193587"/>
            <a:chExt cx="535022" cy="2524088"/>
          </a:xfrm>
        </p:grpSpPr>
        <p:sp>
          <p:nvSpPr>
            <p:cNvPr id="6" name="Text Box 4"/>
            <p:cNvSpPr/>
            <p:nvPr/>
          </p:nvSpPr>
          <p:spPr>
            <a:xfrm>
              <a:off x="2549955" y="4440676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B</a:t>
              </a:r>
              <a:endParaRPr lang="en-US"/>
            </a:p>
          </p:txBody>
        </p:sp>
        <p:sp>
          <p:nvSpPr>
            <p:cNvPr id="7" name="Text Box 4"/>
            <p:cNvSpPr/>
            <p:nvPr/>
          </p:nvSpPr>
          <p:spPr>
            <a:xfrm>
              <a:off x="2548333" y="2193587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A</a:t>
              </a:r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the 3-latch design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666" y="2133600"/>
            <a:ext cx="4047334" cy="2849562"/>
          </a:xfrm>
          <a:prstGeom prst="rect">
            <a:avLst/>
          </a:prstGeom>
          <a:ln w="0">
            <a:noFill/>
          </a:ln>
        </p:spPr>
      </p:pic>
      <p:sp>
        <p:nvSpPr>
          <p:cNvPr id="4" name="TextBox 6"/>
          <p:cNvSpPr/>
          <p:nvPr/>
        </p:nvSpPr>
        <p:spPr>
          <a:xfrm>
            <a:off x="4597940" y="2358026"/>
            <a:ext cx="44958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Case II: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D = 1, CLK = 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CLK = 0 =&gt; R = 1, S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D = 1, R = 1 =&gt; B = 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B = 0, S = 1 =&gt; A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ASRB = 1110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 SR = 11 =&gt; No change</a:t>
            </a:r>
            <a:endParaRPr lang="en-US"/>
          </a:p>
        </p:txBody>
      </p:sp>
      <p:grpSp>
        <p:nvGrpSpPr>
          <p:cNvPr id="5" name="Group 11"/>
          <p:cNvGrpSpPr/>
          <p:nvPr/>
        </p:nvGrpSpPr>
        <p:grpSpPr>
          <a:xfrm>
            <a:off x="2548333" y="2193587"/>
            <a:ext cx="535022" cy="2524088"/>
            <a:chOff x="2548333" y="2193587"/>
            <a:chExt cx="535022" cy="2524088"/>
          </a:xfrm>
        </p:grpSpPr>
        <p:sp>
          <p:nvSpPr>
            <p:cNvPr id="6" name="Text Box 4"/>
            <p:cNvSpPr/>
            <p:nvPr/>
          </p:nvSpPr>
          <p:spPr>
            <a:xfrm>
              <a:off x="2549955" y="4440676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B</a:t>
              </a:r>
              <a:endParaRPr lang="en-US"/>
            </a:p>
          </p:txBody>
        </p:sp>
        <p:sp>
          <p:nvSpPr>
            <p:cNvPr id="7" name="Text Box 4"/>
            <p:cNvSpPr/>
            <p:nvPr/>
          </p:nvSpPr>
          <p:spPr>
            <a:xfrm>
              <a:off x="2548333" y="2193587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A</a:t>
              </a:r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the 3-latch design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666" y="2133600"/>
            <a:ext cx="4047334" cy="2849562"/>
          </a:xfrm>
          <a:prstGeom prst="rect">
            <a:avLst/>
          </a:prstGeom>
          <a:ln w="0">
            <a:noFill/>
          </a:ln>
        </p:spPr>
      </p:pic>
      <p:sp>
        <p:nvSpPr>
          <p:cNvPr id="4" name="TextBox 6"/>
          <p:cNvSpPr/>
          <p:nvPr/>
        </p:nvSpPr>
        <p:spPr>
          <a:xfrm>
            <a:off x="4597940" y="2358026"/>
            <a:ext cx="44958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In case II make  CLK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ASRB = 1110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R = 1, D = 1 =&gt; B = 0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B = 0, =&gt; A = 1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 = 1, CLK = 1 =&gt; S = 0 =&gt; R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SR = 01 =&gt; SET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800" b="0" i="0" kern="1200">
                <a:solidFill>
                  <a:schemeClr val="tx1"/>
                </a:solidFill>
                <a:latin typeface="Arial"/>
              </a:rPr>
              <a:t> ASRB = 1010</a:t>
            </a:r>
            <a:endParaRPr lang="en-US"/>
          </a:p>
        </p:txBody>
      </p:sp>
      <p:grpSp>
        <p:nvGrpSpPr>
          <p:cNvPr id="5" name="Group 11"/>
          <p:cNvGrpSpPr/>
          <p:nvPr/>
        </p:nvGrpSpPr>
        <p:grpSpPr>
          <a:xfrm>
            <a:off x="2548333" y="2193587"/>
            <a:ext cx="535022" cy="2524088"/>
            <a:chOff x="2548333" y="2193587"/>
            <a:chExt cx="535022" cy="2524088"/>
          </a:xfrm>
        </p:grpSpPr>
        <p:sp>
          <p:nvSpPr>
            <p:cNvPr id="6" name="Text Box 4"/>
            <p:cNvSpPr/>
            <p:nvPr/>
          </p:nvSpPr>
          <p:spPr>
            <a:xfrm>
              <a:off x="2549955" y="4440676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B</a:t>
              </a:r>
              <a:endParaRPr lang="en-US"/>
            </a:p>
          </p:txBody>
        </p:sp>
        <p:sp>
          <p:nvSpPr>
            <p:cNvPr id="7" name="Text Box 4"/>
            <p:cNvSpPr/>
            <p:nvPr/>
          </p:nvSpPr>
          <p:spPr>
            <a:xfrm>
              <a:off x="2548333" y="2193587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A</a:t>
              </a:r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Working of the 3-latch design</a:t>
            </a:r>
            <a:endParaRPr lang="en-IN"/>
          </a:p>
        </p:txBody>
      </p:sp>
      <p:pic>
        <p:nvPicPr>
          <p:cNvPr id="3" name="Content Placeholder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666" y="2133600"/>
            <a:ext cx="4047334" cy="2849562"/>
          </a:xfrm>
          <a:prstGeom prst="rect">
            <a:avLst/>
          </a:prstGeom>
          <a:ln w="0">
            <a:noFill/>
          </a:ln>
        </p:spPr>
      </p:pic>
      <p:sp>
        <p:nvSpPr>
          <p:cNvPr id="4" name="TextBox 6"/>
          <p:cNvSpPr/>
          <p:nvPr/>
        </p:nvSpPr>
        <p:spPr>
          <a:xfrm>
            <a:off x="4495800" y="1313234"/>
            <a:ext cx="4495800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From D = 1, CLK = 0 what if we suddenly changed to D = 0, CLK = 1?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ASRB = 1110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D = 0 =&gt; B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CLK = 1, A = 1 =&gt; S = 0 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S = 0, B = 1 =&gt; A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S = 0, B = 1, CLK = 1 =&gt; R = 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SR = 01 =&gt; SET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Char char="•"/>
            </a:pPr>
            <a:r>
              <a:rPr lang="en-US" altLang="en-US" sz="1600" b="0" i="0" kern="1200">
                <a:solidFill>
                  <a:schemeClr val="tx1"/>
                </a:solidFill>
                <a:latin typeface="Arial"/>
              </a:rPr>
              <a:t> ASRB = 1011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600" b="0" i="0" kern="1200">
                <a:solidFill>
                  <a:srgbClr val="FF0000"/>
                </a:solidFill>
                <a:latin typeface="Arial"/>
              </a:rPr>
              <a:t>Wrong result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</a:pPr>
            <a:r>
              <a:rPr lang="en-US" altLang="en-US" sz="1600" b="0" i="0" kern="1200">
                <a:solidFill>
                  <a:srgbClr val="FF0000"/>
                </a:solidFill>
                <a:latin typeface="Arial"/>
              </a:rPr>
              <a:t>Correct sequence will be: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AutoNum type="arabicPeriod"/>
            </a:pPr>
            <a:r>
              <a:rPr lang="en-US" altLang="en-US" sz="1600" b="0" i="0" kern="1200">
                <a:solidFill>
                  <a:schemeClr val="tx2"/>
                </a:solidFill>
                <a:latin typeface="Arial"/>
              </a:rPr>
              <a:t> Go from case II to case I, i.e., let ASRB change from 1110 to 0111. Here A takes two gate delays to change. This is </a:t>
            </a:r>
            <a:r>
              <a:rPr lang="en-US" altLang="en-US" sz="1600" b="0" i="0" kern="1200">
                <a:solidFill>
                  <a:srgbClr val="FF0000"/>
                </a:solidFill>
                <a:latin typeface="Arial"/>
              </a:rPr>
              <a:t>Setup time.</a:t>
            </a:r>
            <a:endParaRPr lang="en-US"/>
          </a:p>
          <a:p>
            <a:pPr>
              <a:spcBef>
                <a:spcPct val="50000"/>
              </a:spcBef>
              <a:spcAft>
                <a:spcPct val="0"/>
              </a:spcAft>
              <a:buAutoNum type="arabicPeriod"/>
            </a:pPr>
            <a:r>
              <a:rPr lang="en-US" altLang="en-US" sz="1600" b="0" i="0" kern="1200">
                <a:solidFill>
                  <a:schemeClr val="tx2"/>
                </a:solidFill>
                <a:latin typeface="Arial"/>
              </a:rPr>
              <a:t> Now go from case I to D = 0, CLK = 1.</a:t>
            </a:r>
            <a:endParaRPr lang="en-US"/>
          </a:p>
        </p:txBody>
      </p:sp>
      <p:grpSp>
        <p:nvGrpSpPr>
          <p:cNvPr id="5" name="Group 11"/>
          <p:cNvGrpSpPr/>
          <p:nvPr/>
        </p:nvGrpSpPr>
        <p:grpSpPr>
          <a:xfrm>
            <a:off x="2548333" y="2193587"/>
            <a:ext cx="535022" cy="2524088"/>
            <a:chOff x="2548333" y="2193587"/>
            <a:chExt cx="535022" cy="2524088"/>
          </a:xfrm>
        </p:grpSpPr>
        <p:sp>
          <p:nvSpPr>
            <p:cNvPr id="6" name="Text Box 4"/>
            <p:cNvSpPr/>
            <p:nvPr/>
          </p:nvSpPr>
          <p:spPr>
            <a:xfrm>
              <a:off x="2549955" y="4440676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B</a:t>
              </a:r>
              <a:endParaRPr lang="en-US"/>
            </a:p>
          </p:txBody>
        </p:sp>
        <p:sp>
          <p:nvSpPr>
            <p:cNvPr id="7" name="Text Box 4"/>
            <p:cNvSpPr/>
            <p:nvPr/>
          </p:nvSpPr>
          <p:spPr>
            <a:xfrm>
              <a:off x="2548333" y="2193587"/>
              <a:ext cx="533400" cy="276999"/>
            </a:xfrm>
            <a:prstGeom prst="rect">
              <a:avLst/>
            </a:prstGeom>
            <a:noFill/>
            <a:ln w="0">
              <a:noFill/>
            </a:ln>
          </p:spPr>
          <p:txBody>
            <a:bodyPr>
              <a:spAutoFit/>
            </a:bodyPr>
            <a:lstStyle>
              <a:lvl1pPr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1pPr>
              <a:lvl2pPr marL="4572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2pPr>
              <a:lvl3pPr marL="9144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3pPr>
              <a:lvl4pPr marL="13716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4pPr>
              <a:lvl5pPr marL="1828800" algn="l">
                <a:spcBef>
                  <a:spcPct val="0"/>
                </a:spcBef>
                <a:spcAft>
                  <a:spcPct val="0"/>
                </a:spcAft>
                <a:defRPr sz="2400" kern="1200">
                  <a:solidFill>
                    <a:schemeClr val="tx1"/>
                  </a:solidFill>
                  <a:latin typeface="Times New Roman"/>
                </a:defRPr>
              </a:lvl5pPr>
              <a:lvl6pPr marL="2286000" algn="l">
                <a:defRPr sz="2400" kern="1200">
                  <a:solidFill>
                    <a:schemeClr val="tx1"/>
                  </a:solidFill>
                  <a:latin typeface="Times New Roman"/>
                </a:defRPr>
              </a:lvl6pPr>
              <a:lvl7pPr marL="2743200" algn="l">
                <a:defRPr sz="2400" kern="1200">
                  <a:solidFill>
                    <a:schemeClr val="tx1"/>
                  </a:solidFill>
                  <a:latin typeface="Times New Roman"/>
                </a:defRPr>
              </a:lvl7pPr>
              <a:lvl8pPr marL="3200400" algn="l">
                <a:defRPr sz="2400" kern="1200">
                  <a:solidFill>
                    <a:schemeClr val="tx1"/>
                  </a:solidFill>
                  <a:latin typeface="Times New Roman"/>
                </a:defRPr>
              </a:lvl8pPr>
              <a:lvl9pPr marL="3657600" algn="l">
                <a:defRPr sz="2400" kern="1200">
                  <a:solidFill>
                    <a:schemeClr val="tx1"/>
                  </a:solidFill>
                  <a:latin typeface="Times New Roman"/>
                </a:defRPr>
              </a:lvl9pPr>
            </a:lstStyle>
            <a:p>
              <a:pPr>
                <a:spcBef>
                  <a:spcPct val="50000"/>
                </a:spcBef>
                <a:spcAft>
                  <a:spcPct val="0"/>
                </a:spcAft>
              </a:pPr>
              <a:r>
                <a:rPr lang="en-US" altLang="en-US" sz="1200" b="0" i="0" kern="1200">
                  <a:solidFill>
                    <a:schemeClr val="tx1"/>
                  </a:solidFill>
                  <a:latin typeface="Times New Roman"/>
                </a:rPr>
                <a:t>A</a:t>
              </a:r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/>
          <a:lstStyle/>
          <a:p>
            <a:pPr>
              <a:lnSpc>
                <a:spcPts val="3600"/>
              </a:lnSpc>
              <a:spcBef>
                <a:spcPts val="0"/>
              </a:spcBef>
              <a:spcAft>
                <a:spcPct val="0"/>
              </a:spcAft>
              <a:buNone/>
            </a:pPr>
            <a:r>
              <a:rPr lang="en-US" sz="3600" b="1" i="0" kern="1200" spc="-150" baseline="0">
                <a:solidFill>
                  <a:schemeClr val="tx1"/>
                </a:solidFill>
                <a:latin typeface="Calibri"/>
              </a:rPr>
              <a:t>D flip-flop with asynchronous reset</a:t>
            </a:r>
            <a:endParaRPr lang="en-IN"/>
          </a:p>
        </p:txBody>
      </p:sp>
      <p:pic>
        <p:nvPicPr>
          <p:cNvPr id="3" name="Content Placeholder 3"/>
          <p:cNvPicPr>
            <a:picLocks noGrp="1"/>
          </p:cNvPicPr>
          <p:nvPr>
            <p:ph idx="1"/>
          </p:nvPr>
        </p:nvPicPr>
        <p:blipFill>
          <a:blip r:embed="rId2"/>
          <a:srcRect b="5051"/>
          <a:stretch>
            <a:fillRect/>
          </a:stretch>
        </p:blipFill>
        <p:spPr>
          <a:xfrm>
            <a:off x="2718781" y="1493838"/>
            <a:ext cx="3910619" cy="494037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826</Words>
  <Application>Microsoft Office PowerPoint</Application>
  <PresentationFormat>On-screen Show (4:3)</PresentationFormat>
  <Paragraphs>105</Paragraphs>
  <Slides>22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Office Theme</vt:lpstr>
      <vt:lpstr>Digital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579</cp:revision>
  <dcterms:created xsi:type="dcterms:W3CDTF">2010-01-15T20:22:21Z</dcterms:created>
  <dcterms:modified xsi:type="dcterms:W3CDTF">2026-09-18T03:08:41Z</dcterms:modified>
</cp:coreProperties>
</file>