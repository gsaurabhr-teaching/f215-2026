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421" r:id="rId4"/>
    <p:sldId id="422" r:id="rId5"/>
    <p:sldId id="423" r:id="rId6"/>
    <p:sldId id="424" r:id="rId7"/>
    <p:sldId id="425" r:id="rId8"/>
    <p:sldId id="426" r:id="rId9"/>
    <p:sldId id="427" r:id="rId10"/>
    <p:sldId id="428" r:id="rId11"/>
    <p:sldId id="429" r:id="rId12"/>
    <p:sldId id="430" r:id="rId13"/>
    <p:sldId id="431" r:id="rId14"/>
    <p:sldId id="432" r:id="rId15"/>
    <p:sldId id="433" r:id="rId16"/>
    <p:sldId id="434" r:id="rId17"/>
    <p:sldId id="435" r:id="rId18"/>
    <p:sldId id="436" r:id="rId19"/>
    <p:sldId id="437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3578" autoAdjust="0"/>
  </p:normalViewPr>
  <p:slideViewPr>
    <p:cSldViewPr>
      <p:cViewPr varScale="1">
        <p:scale>
          <a:sx n="93" d="100"/>
          <a:sy n="93" d="100"/>
        </p:scale>
        <p:origin x="85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9/20/2026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82BB320-F13B-41AF-BB84-306DCE92248C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3489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DAF1-3678-81CF-68D0-2FFF8BF1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4762E-50A2-3FD2-FDF4-C54B9B6A93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2326C-C066-820B-DC72-5D515C273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A3138-AE69-F27D-2EAA-23D2B3BF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772D5-DBDE-E801-75E8-5C65995A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69C2E-6178-3D9A-0D54-C4141204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9347512-759C-4E18-9ECE-7FCE1DFA93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902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3F7038-E9FE-3435-A99B-628D46289E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581210D-00F8-03F9-A285-0EF404A95B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81720D-E387-AAA5-1040-9B41570959D0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1E86A8-1855-7B69-B62C-6E258FDAA75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5A7EC-8365-09AA-A08B-63472C98828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55BCDEA-2A80-3C2D-080C-509BDDC90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4FE31975-C8A2-731C-B1AA-CCD2DCF57F5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7A10F7-F50B-DAEB-B974-D1288E57150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ECCB2B-C7CF-4843-D0DF-2886453D18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A3C326-F746-6ED4-B21E-4BB970D1C98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09821B34-ED59-A848-42D8-7954EFE8425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D3EB44-1837-0D6E-CE9B-DBC9F8518DD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180C74-B502-6526-25D1-FD5B018B28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EECA1A-60B6-C307-32D5-77B6F2589D3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+mn-lt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+mn-lt"/>
                <a:cs typeface="Arial" pitchFamily="34" charset="0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65252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 w="0">
            <a:noFill/>
          </a:ln>
          <a:effectLst>
            <a:outerShdw blurRad="40000" dist="23000" dir="540000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1800" b="0" i="0" kern="1200">
              <a:solidFill>
                <a:schemeClr val="lt1"/>
              </a:solidFill>
              <a:latin typeface="Arial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 w="0">
            <a:noFill/>
          </a:ln>
          <a:effectLst>
            <a:outerShdw blurRad="40000" dist="23000" dir="540000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1800" b="0" i="0" kern="1200">
              <a:solidFill>
                <a:schemeClr val="lt1"/>
              </a:solidFill>
              <a:latin typeface="Arial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 w="0">
            <a:noFill/>
          </a:ln>
          <a:effectLst>
            <a:outerShdw blurRad="40000" dist="23000" dir="540000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1800" b="0" i="0" kern="1200">
              <a:solidFill>
                <a:schemeClr val="lt1"/>
              </a:solidFill>
              <a:latin typeface="Arial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 w="0">
            <a:noFill/>
          </a:ln>
          <a:effectLst>
            <a:outerShdw blurRad="40000" dist="23000" dir="540000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1800" b="0" i="0" kern="1200">
              <a:solidFill>
                <a:schemeClr val="lt1"/>
              </a:solidFill>
              <a:latin typeface="Arial"/>
            </a:endParaRPr>
          </a:p>
        </p:txBody>
      </p:sp>
      <p:pic>
        <p:nvPicPr>
          <p:cNvPr id="6" name="Picture 10" descr="BITS_university_logo_whitevert.png"/>
          <p:cNvPicPr/>
          <p:nvPr/>
        </p:nvPicPr>
        <p:blipFill>
          <a:blip r:embed="rId3"/>
          <a:srcRect t="2" b="28592"/>
          <a:stretch>
            <a:fillRect/>
          </a:stretch>
        </p:blipFill>
        <p:spPr>
          <a:xfrm>
            <a:off x="76200" y="3352800"/>
            <a:ext cx="2057400" cy="1979613"/>
          </a:xfrm>
          <a:prstGeom prst="rect">
            <a:avLst/>
          </a:prstGeom>
          <a:ln w="0">
            <a:noFill/>
          </a:ln>
        </p:spPr>
      </p:pic>
      <p:sp>
        <p:nvSpPr>
          <p:cNvPr id="7" name="TextBox 8"/>
          <p:cNvSpPr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900" b="1" i="0" kern="1200" spc="-150">
                <a:solidFill>
                  <a:schemeClr val="bg1"/>
                </a:solidFill>
                <a:latin typeface="Arial"/>
              </a:rPr>
              <a:t>BITS</a:t>
            </a:r>
            <a:r>
              <a:rPr lang="en-US" sz="2900" b="0" i="0" kern="1200" spc="-150">
                <a:solidFill>
                  <a:schemeClr val="bg1"/>
                </a:solidFill>
                <a:latin typeface="Arial"/>
              </a:rPr>
              <a:t> Pilani</a:t>
            </a:r>
            <a:endParaRPr lang="en-US"/>
          </a:p>
        </p:txBody>
      </p:sp>
      <p:sp>
        <p:nvSpPr>
          <p:cNvPr id="8" name="TextBox 9"/>
          <p:cNvSpPr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200" b="0" i="0" kern="1200">
                <a:solidFill>
                  <a:srgbClr val="FFFFFF"/>
                </a:solidFill>
                <a:latin typeface="Arial"/>
              </a:rPr>
              <a:t>Pilani Campus</a:t>
            </a:r>
            <a:endParaRPr lang="en-US"/>
          </a:p>
        </p:txBody>
      </p:sp>
      <p:sp>
        <p:nvSpPr>
          <p:cNvPr id="9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/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sz="1800" b="0" i="0" kern="1200" baseline="0">
                <a:solidFill>
                  <a:schemeClr val="bg1"/>
                </a:solidFill>
                <a:latin typeface="Arial"/>
              </a:rPr>
              <a:t>Click to edit Master text styles</a:t>
            </a:r>
            <a:endParaRPr lang="en-US"/>
          </a:p>
          <a:p>
            <a:pPr lvl="1">
              <a:spcBef>
                <a:spcPct val="0"/>
              </a:spcBef>
              <a:spcAft>
                <a:spcPct val="0"/>
              </a:spcAft>
            </a:pPr>
            <a:r>
              <a:rPr lang="en-US" sz="1800" b="0" i="0" kern="1200">
                <a:solidFill>
                  <a:schemeClr val="tx1"/>
                </a:solidFill>
                <a:latin typeface="Arial"/>
              </a:rPr>
              <a:t>Second level</a:t>
            </a:r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/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4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0" i="0" kern="1200" baseline="0">
                <a:solidFill>
                  <a:schemeClr val="bg1"/>
                </a:solidFill>
                <a:latin typeface="Calibri"/>
              </a:rPr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08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61" r:id="rId12"/>
    <p:sldLayoutId id="2147484862" r:id="rId13"/>
    <p:sldLayoutId id="2147484863" r:id="rId1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anchor="ctr"/>
          <a:lstStyle/>
          <a:p>
            <a:pPr algn="ctr">
              <a:lnSpc>
                <a:spcPts val="4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4400" b="0" i="0" kern="1200" baseline="0">
                <a:solidFill>
                  <a:schemeClr val="bg1"/>
                </a:solidFill>
                <a:latin typeface="Calibri"/>
              </a:rPr>
              <a:t>Digital Design</a:t>
            </a:r>
            <a:endParaRPr lang="en-US"/>
          </a:p>
        </p:txBody>
      </p:sp>
      <p:sp>
        <p:nvSpPr>
          <p:cNvPr id="3" name="Content Placeholder 1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sz="1800" b="0" i="0" kern="1200" baseline="0">
                <a:solidFill>
                  <a:schemeClr val="bg1"/>
                </a:solidFill>
                <a:latin typeface="Arial"/>
              </a:rPr>
              <a:t>Prof. GSS Chalapathi,</a:t>
            </a:r>
            <a:endParaRPr lang="en-US"/>
          </a:p>
          <a:p>
            <a:pPr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sz="1800" b="0" i="0" kern="1200" baseline="0">
                <a:solidFill>
                  <a:schemeClr val="bg1"/>
                </a:solidFill>
                <a:latin typeface="Arial"/>
              </a:rPr>
              <a:t>Prof. Saurabh Gandhi,</a:t>
            </a:r>
            <a:endParaRPr lang="en-US"/>
          </a:p>
          <a:p>
            <a:pPr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sz="1800" b="0" i="0" kern="1200" baseline="0">
                <a:solidFill>
                  <a:schemeClr val="bg1"/>
                </a:solidFill>
                <a:latin typeface="Arial"/>
              </a:rPr>
              <a:t>Prof. Ramesh Sambangi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524000"/>
            <a:ext cx="8229600" cy="4906963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anchor="t">
            <a:normAutofit/>
          </a:bodyPr>
          <a:lstStyle/>
          <a:p>
            <a:pPr marL="457200" indent="-457200">
              <a:buAutoNum type="arabicPeriod"/>
            </a:pPr>
            <a:r>
              <a:rPr lang="en-IN" dirty="0">
                <a:solidFill>
                  <a:srgbClr val="C00000"/>
                </a:solidFill>
              </a:rPr>
              <a:t>The table shown below is called a…</a:t>
            </a:r>
          </a:p>
          <a:p>
            <a:pPr marL="457200" indent="-457200">
              <a:buAutoNum type="arabicPeriod"/>
            </a:pPr>
            <a:endParaRPr lang="en-US" dirty="0">
              <a:solidFill>
                <a:srgbClr val="C00000"/>
              </a:solidFill>
            </a:endParaRP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The characteristic equation for a J-K flip-flop is…</a:t>
            </a:r>
          </a:p>
          <a:p>
            <a:pPr marL="457200" indent="-457200">
              <a:buAutoNum type="arabicPeriod"/>
            </a:pPr>
            <a:endParaRPr lang="en-US" dirty="0">
              <a:solidFill>
                <a:srgbClr val="C00000"/>
              </a:solidFill>
            </a:endParaRP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The table shown below is called a…</a:t>
            </a:r>
          </a:p>
          <a:p>
            <a:pPr marL="457200" indent="-457200">
              <a:buAutoNum type="arabicPeriod"/>
            </a:pPr>
            <a:endParaRPr lang="en-US" dirty="0">
              <a:solidFill>
                <a:srgbClr val="C00000"/>
              </a:solidFill>
            </a:endParaRP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The flip-flop shown below will trigger on…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/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sz="3600" b="1" i="0" kern="1200" spc="-150" baseline="0">
                <a:solidFill>
                  <a:schemeClr val="tx1"/>
                </a:solidFill>
                <a:latin typeface="Calibri"/>
              </a:rPr>
              <a:t>Review questions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0B476-C144-6DA7-C19C-7E413C98DE2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Analyzing sequential circuits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2F567A0-A7DF-57C6-9788-2DD07C0CCE4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48"/>
          <a:stretch>
            <a:fillRect/>
          </a:stretch>
        </p:blipFill>
        <p:spPr bwMode="auto">
          <a:xfrm>
            <a:off x="723900" y="1752600"/>
            <a:ext cx="7696200" cy="4537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0474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B452B-2D08-77DD-B469-23EBDA7CDFF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How do we begin analyzing the circuit?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8B8B62-C817-8BC1-2338-FEA919722A9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84" b="80406"/>
          <a:stretch>
            <a:fillRect/>
          </a:stretch>
        </p:blipFill>
        <p:spPr bwMode="auto">
          <a:xfrm>
            <a:off x="876300" y="1524001"/>
            <a:ext cx="7391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E4FD049F-B5B7-E30D-0270-FBAB2E32CF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83" b="63891"/>
          <a:stretch>
            <a:fillRect/>
          </a:stretch>
        </p:blipFill>
        <p:spPr bwMode="auto">
          <a:xfrm>
            <a:off x="876300" y="1524000"/>
            <a:ext cx="7391400" cy="1371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B596852D-52CC-CFCA-B01E-6E1F85D203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86" b="53379"/>
          <a:stretch>
            <a:fillRect/>
          </a:stretch>
        </p:blipFill>
        <p:spPr bwMode="auto">
          <a:xfrm>
            <a:off x="876300" y="1523998"/>
            <a:ext cx="7391400" cy="1905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0D59663E-36B8-C4DC-49A2-ADECFED78A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86" b="-671"/>
          <a:stretch>
            <a:fillRect/>
          </a:stretch>
        </p:blipFill>
        <p:spPr bwMode="auto">
          <a:xfrm>
            <a:off x="876300" y="1524000"/>
            <a:ext cx="7391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473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E7F12-274A-CA94-E804-797A9BD128C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Analyzing our example circuit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0B6D7A8-E213-6F69-20F2-A7DA7F35DD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84"/>
          <a:stretch>
            <a:fillRect/>
          </a:stretch>
        </p:blipFill>
        <p:spPr bwMode="auto">
          <a:xfrm>
            <a:off x="952500" y="1600200"/>
            <a:ext cx="7239000" cy="4678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2235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8F71F-2D64-5138-5FD8-7571012EA91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Finding the outputs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7917040-BE1D-56C5-1939-E722839DBAA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/>
          <a:stretch>
            <a:fillRect/>
          </a:stretch>
        </p:blipFill>
        <p:spPr bwMode="auto">
          <a:xfrm>
            <a:off x="1028700" y="1676400"/>
            <a:ext cx="7086600" cy="4553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8120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0FA0B-8CE2-4E13-91B8-A44EE090698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Finding next states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1AD2DC-698E-2F6E-381B-0E1151B527B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83"/>
          <a:stretch>
            <a:fillRect/>
          </a:stretch>
        </p:blipFill>
        <p:spPr bwMode="auto">
          <a:xfrm>
            <a:off x="1276762" y="1524000"/>
            <a:ext cx="6590476" cy="2018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40B1EB-B3F6-75FF-A9D2-A473FEE318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57" b="26923"/>
          <a:stretch>
            <a:fillRect/>
          </a:stretch>
        </p:blipFill>
        <p:spPr bwMode="auto">
          <a:xfrm>
            <a:off x="1690396" y="3794097"/>
            <a:ext cx="5763208" cy="2400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190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8E721-3AF2-E3A2-F70E-F69A93FE44C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Flip flop input values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B01B0C-F249-0B80-CF10-FA269533C7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96"/>
          <a:stretch>
            <a:fillRect/>
          </a:stretch>
        </p:blipFill>
        <p:spPr bwMode="auto">
          <a:xfrm>
            <a:off x="1066800" y="1676400"/>
            <a:ext cx="7010400" cy="4124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3570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4DA5C-7EF5-D589-EA86-5C24134FE68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Finding the next states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A3F847C-AF96-7031-27B9-D479F1EF76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42"/>
          <a:stretch>
            <a:fillRect/>
          </a:stretch>
        </p:blipFill>
        <p:spPr bwMode="auto">
          <a:xfrm>
            <a:off x="1702363" y="1460320"/>
            <a:ext cx="5739273" cy="2090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01B9E1-1688-DF9E-8B0F-99C4CBD95E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26"/>
          <a:stretch>
            <a:fillRect/>
          </a:stretch>
        </p:blipFill>
        <p:spPr bwMode="auto">
          <a:xfrm>
            <a:off x="1600200" y="3715248"/>
            <a:ext cx="5538358" cy="2553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1709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A5144-8961-17E6-A1F3-8900CFACA1F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State table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2882826-1B96-F57E-E18B-C48C5976163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/>
          <a:stretch>
            <a:fillRect/>
          </a:stretch>
        </p:blipFill>
        <p:spPr bwMode="auto">
          <a:xfrm>
            <a:off x="876300" y="1600200"/>
            <a:ext cx="7391400" cy="4660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8610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9DBFB-C30F-EDFC-0371-7249733E4FE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State diagrams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3D1AE44-2E68-D8DD-360E-B34F41DB19C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/>
          <a:stretch>
            <a:fillRect/>
          </a:stretch>
        </p:blipFill>
        <p:spPr bwMode="auto">
          <a:xfrm>
            <a:off x="1028700" y="1600200"/>
            <a:ext cx="7086600" cy="4587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863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282B0-020D-BB60-6CCA-49F14FE6C09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Size of the state diagram</a:t>
            </a: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B0ED07-B703-AECE-57CB-2F0798DC03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/>
          <a:stretch>
            <a:fillRect/>
          </a:stretch>
        </p:blipFill>
        <p:spPr bwMode="auto">
          <a:xfrm>
            <a:off x="876300" y="1600200"/>
            <a:ext cx="7391400" cy="458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6960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4920F-486B-5EB0-284F-9E0A2CCD5A4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2A8FDA-0E1E-A859-CA98-41F7BBE92E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 b="30524"/>
          <a:stretch>
            <a:fillRect/>
          </a:stretch>
        </p:blipFill>
        <p:spPr bwMode="auto">
          <a:xfrm>
            <a:off x="952500" y="1943100"/>
            <a:ext cx="72390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0516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FD519-A6C1-8882-370D-DD7241A3CDE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 – circuit analysis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10BDD0-D481-9966-865C-F8ACC7ADEF0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84"/>
          <a:stretch>
            <a:fillRect/>
          </a:stretch>
        </p:blipFill>
        <p:spPr bwMode="auto">
          <a:xfrm>
            <a:off x="800100" y="1524000"/>
            <a:ext cx="7543800" cy="4809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9297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CA47C-872F-9579-2BDA-25E8E86E8BD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Step 1: Flip flop input equations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634C3F0-3E3F-F76B-59D0-3E9648E6984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84"/>
          <a:stretch>
            <a:fillRect/>
          </a:stretch>
        </p:blipFill>
        <p:spPr bwMode="auto">
          <a:xfrm>
            <a:off x="1143000" y="1676400"/>
            <a:ext cx="6647619" cy="2780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9637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E2F11-99CE-BACF-B592-5C6F9ED1881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Step 2: Flip flop input values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568A0B-BDA7-F22D-40B6-E5C9262207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47"/>
          <a:stretch>
            <a:fillRect/>
          </a:stretch>
        </p:blipFill>
        <p:spPr bwMode="auto">
          <a:xfrm>
            <a:off x="650931" y="1600200"/>
            <a:ext cx="7842137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7306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8E7FF-1752-1E34-E1E6-1C190D80C1A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Step 3: finding next states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0AF0757-4478-9C58-D367-E7843DAF584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/>
          <a:stretch>
            <a:fillRect/>
          </a:stretch>
        </p:blipFill>
        <p:spPr bwMode="auto">
          <a:xfrm>
            <a:off x="800100" y="1524000"/>
            <a:ext cx="7543800" cy="4701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4143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758EC-C7C9-8E1B-906F-DE6CF8B4AF3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What does this circuit do?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D737C0-CFAD-7C21-B634-CD3AD66C173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26"/>
          <a:stretch>
            <a:fillRect/>
          </a:stretch>
        </p:blipFill>
        <p:spPr bwMode="auto">
          <a:xfrm>
            <a:off x="762000" y="1600200"/>
            <a:ext cx="7620000" cy="4652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4105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AE603-BA54-0A36-D78E-C25A039CE11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50499A3-10CD-F149-FB82-0095793CB89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 b="47141"/>
          <a:stretch>
            <a:fillRect/>
          </a:stretch>
        </p:blipFill>
        <p:spPr bwMode="auto">
          <a:xfrm>
            <a:off x="489600" y="1828800"/>
            <a:ext cx="8164799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0230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13179</TotalTime>
  <Words>123</Words>
  <Application>Microsoft Office PowerPoint</Application>
  <PresentationFormat>On-screen Show (4:3)</PresentationFormat>
  <Paragraphs>31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Digital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573</cp:revision>
  <dcterms:created xsi:type="dcterms:W3CDTF">2010-01-15T20:22:21Z</dcterms:created>
  <dcterms:modified xsi:type="dcterms:W3CDTF">2026-09-20T10:39:27Z</dcterms:modified>
</cp:coreProperties>
</file>