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9"/>
  </p:notesMasterIdLst>
  <p:sldIdLst>
    <p:sldId id="337" r:id="rId2"/>
    <p:sldId id="456" r:id="rId3"/>
    <p:sldId id="457" r:id="rId4"/>
    <p:sldId id="458" r:id="rId5"/>
    <p:sldId id="459" r:id="rId6"/>
    <p:sldId id="460" r:id="rId7"/>
    <p:sldId id="461" r:id="rId8"/>
    <p:sldId id="462" r:id="rId9"/>
    <p:sldId id="463" r:id="rId10"/>
    <p:sldId id="464" r:id="rId11"/>
    <p:sldId id="465" r:id="rId12"/>
    <p:sldId id="466" r:id="rId13"/>
    <p:sldId id="468" r:id="rId14"/>
    <p:sldId id="469" r:id="rId15"/>
    <p:sldId id="467" r:id="rId16"/>
    <p:sldId id="470" r:id="rId17"/>
    <p:sldId id="471" r:id="rId18"/>
    <p:sldId id="472" r:id="rId19"/>
    <p:sldId id="473" r:id="rId20"/>
    <p:sldId id="474" r:id="rId21"/>
    <p:sldId id="475" r:id="rId22"/>
    <p:sldId id="476" r:id="rId23"/>
    <p:sldId id="477" r:id="rId24"/>
    <p:sldId id="478" r:id="rId25"/>
    <p:sldId id="479" r:id="rId26"/>
    <p:sldId id="480" r:id="rId27"/>
    <p:sldId id="481" r:id="rId2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4" autoAdjust="0"/>
    <p:restoredTop sz="93578" autoAdjust="0"/>
  </p:normalViewPr>
  <p:slideViewPr>
    <p:cSldViewPr>
      <p:cViewPr varScale="1">
        <p:scale>
          <a:sx n="93" d="100"/>
          <a:sy n="93" d="100"/>
        </p:scale>
        <p:origin x="858" y="45"/>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55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9BA1A87E-813F-AF0F-041D-CE232B7A18C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Calibri" pitchFamily="34" charset="0"/>
              </a:defRPr>
            </a:lvl1pPr>
          </a:lstStyle>
          <a:p>
            <a:pPr>
              <a:defRPr/>
            </a:pPr>
            <a:endParaRPr lang="en-US"/>
          </a:p>
        </p:txBody>
      </p:sp>
      <p:sp>
        <p:nvSpPr>
          <p:cNvPr id="48131" name="Rectangle 3">
            <a:extLst>
              <a:ext uri="{FF2B5EF4-FFF2-40B4-BE49-F238E27FC236}">
                <a16:creationId xmlns:a16="http://schemas.microsoft.com/office/drawing/2014/main" id="{90A33BCA-FF2B-904A-6ACB-421B4697E719}"/>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defRPr>
            </a:lvl1pPr>
          </a:lstStyle>
          <a:p>
            <a:pPr>
              <a:defRPr/>
            </a:pPr>
            <a:fld id="{864C4CF4-219F-4C78-A5BA-B2F154A2CDD2}" type="datetimeFigureOut">
              <a:rPr lang="en-US"/>
              <a:pPr>
                <a:defRPr/>
              </a:pPr>
              <a:t>9/25/2026</a:t>
            </a:fld>
            <a:endParaRPr lang="en-US"/>
          </a:p>
        </p:txBody>
      </p:sp>
      <p:sp>
        <p:nvSpPr>
          <p:cNvPr id="19460" name="Rectangle 4">
            <a:extLst>
              <a:ext uri="{FF2B5EF4-FFF2-40B4-BE49-F238E27FC236}">
                <a16:creationId xmlns:a16="http://schemas.microsoft.com/office/drawing/2014/main" id="{E6881BB2-A257-BEB2-B237-5C60E2FE8C72}"/>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3" name="Rectangle 5">
            <a:extLst>
              <a:ext uri="{FF2B5EF4-FFF2-40B4-BE49-F238E27FC236}">
                <a16:creationId xmlns:a16="http://schemas.microsoft.com/office/drawing/2014/main" id="{84E1F9B0-0E05-EEE3-8B09-3292F5E58FDD}"/>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134" name="Rectangle 6">
            <a:extLst>
              <a:ext uri="{FF2B5EF4-FFF2-40B4-BE49-F238E27FC236}">
                <a16:creationId xmlns:a16="http://schemas.microsoft.com/office/drawing/2014/main" id="{FD94DB07-1FBF-48D8-BE9B-EAD1CA856026}"/>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Calibri" pitchFamily="34" charset="0"/>
              </a:defRPr>
            </a:lvl1pPr>
          </a:lstStyle>
          <a:p>
            <a:pPr>
              <a:defRPr/>
            </a:pPr>
            <a:endParaRPr lang="en-US"/>
          </a:p>
        </p:txBody>
      </p:sp>
      <p:sp>
        <p:nvSpPr>
          <p:cNvPr id="48135" name="Rectangle 7">
            <a:extLst>
              <a:ext uri="{FF2B5EF4-FFF2-40B4-BE49-F238E27FC236}">
                <a16:creationId xmlns:a16="http://schemas.microsoft.com/office/drawing/2014/main" id="{B2D67A9F-79F1-685B-B7CE-85E68E027A3D}"/>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082BB320-F13B-41AF-BB84-306DCE92248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44FFA8F6-8FBE-2312-B2D6-012FDBF058E2}"/>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60994F52-302D-250C-116C-52081CB94A4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1508" name="Slide Number Placeholder 3">
            <a:extLst>
              <a:ext uri="{FF2B5EF4-FFF2-40B4-BE49-F238E27FC236}">
                <a16:creationId xmlns:a16="http://schemas.microsoft.com/office/drawing/2014/main" id="{B92E2681-B4AB-B23F-9CED-5892333F865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9A8604D-9FA4-4914-BD57-93266632D9AF}" type="slidenum">
              <a:rPr lang="en-US" altLang="en-US" smtClean="0">
                <a:latin typeface="Calibri" panose="020F0502020204030204" pitchFamily="34" charset="0"/>
              </a:rPr>
              <a:pPr/>
              <a:t>1</a:t>
            </a:fld>
            <a:endParaRPr lang="en-US"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790210E9-01D5-7472-677A-3B0AA2AD0F30}"/>
              </a:ext>
            </a:extLst>
          </p:cNvPr>
          <p:cNvSpPr>
            <a:spLocks noGrp="1"/>
          </p:cNvSpPr>
          <p:nvPr>
            <p:ph type="dt" sz="half" idx="10"/>
          </p:nvPr>
        </p:nvSpPr>
        <p:spPr/>
        <p:txBody>
          <a:bodyPr/>
          <a:lstStyle>
            <a:lvl1pPr>
              <a:defRPr/>
            </a:lvl1pPr>
          </a:lstStyle>
          <a:p>
            <a:pPr>
              <a:defRPr/>
            </a:pPr>
            <a:r>
              <a:rPr lang="en-US"/>
              <a:t>21/12/2020</a:t>
            </a:r>
          </a:p>
        </p:txBody>
      </p:sp>
      <p:sp>
        <p:nvSpPr>
          <p:cNvPr id="5" name="Footer Placeholder 4">
            <a:extLst>
              <a:ext uri="{FF2B5EF4-FFF2-40B4-BE49-F238E27FC236}">
                <a16:creationId xmlns:a16="http://schemas.microsoft.com/office/drawing/2014/main" id="{5CCD2DDE-7A51-A1A8-5C34-99C6FAA2B32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0FD8106-2EFE-B03C-0DCC-E1803F83D0E2}"/>
              </a:ext>
            </a:extLst>
          </p:cNvPr>
          <p:cNvSpPr>
            <a:spLocks noGrp="1"/>
          </p:cNvSpPr>
          <p:nvPr>
            <p:ph type="sldNum" sz="quarter" idx="12"/>
          </p:nvPr>
        </p:nvSpPr>
        <p:spPr/>
        <p:txBody>
          <a:bodyPr/>
          <a:lstStyle>
            <a:lvl1pPr>
              <a:defRPr/>
            </a:lvl1pPr>
          </a:lstStyle>
          <a:p>
            <a:pPr>
              <a:defRPr/>
            </a:pPr>
            <a:fld id="{67F5451D-6138-4BA6-B687-6C9F908488A2}" type="slidenum">
              <a:rPr lang="en-US" altLang="en-US"/>
              <a:pPr>
                <a:defRPr/>
              </a:pPr>
              <a:t>‹#›</a:t>
            </a:fld>
            <a:endParaRPr lang="en-US" altLang="en-US"/>
          </a:p>
        </p:txBody>
      </p:sp>
    </p:spTree>
    <p:extLst>
      <p:ext uri="{BB962C8B-B14F-4D97-AF65-F5344CB8AC3E}">
        <p14:creationId xmlns:p14="http://schemas.microsoft.com/office/powerpoint/2010/main" val="1601832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3E8660-BD03-9DBA-9F27-92B953591EA4}"/>
              </a:ext>
            </a:extLst>
          </p:cNvPr>
          <p:cNvSpPr>
            <a:spLocks noGrp="1"/>
          </p:cNvSpPr>
          <p:nvPr>
            <p:ph type="dt" sz="half" idx="10"/>
          </p:nvPr>
        </p:nvSpPr>
        <p:spPr/>
        <p:txBody>
          <a:bodyPr/>
          <a:lstStyle>
            <a:lvl1pPr>
              <a:defRPr/>
            </a:lvl1pPr>
          </a:lstStyle>
          <a:p>
            <a:pPr>
              <a:defRPr/>
            </a:pPr>
            <a:r>
              <a:rPr lang="en-US"/>
              <a:t>21/12/2020</a:t>
            </a:r>
          </a:p>
        </p:txBody>
      </p:sp>
      <p:sp>
        <p:nvSpPr>
          <p:cNvPr id="5" name="Footer Placeholder 4">
            <a:extLst>
              <a:ext uri="{FF2B5EF4-FFF2-40B4-BE49-F238E27FC236}">
                <a16:creationId xmlns:a16="http://schemas.microsoft.com/office/drawing/2014/main" id="{EB170716-1DFD-E96E-77AC-224DB37BB5F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F0094D3-6482-D516-F215-AAD295B6F9B4}"/>
              </a:ext>
            </a:extLst>
          </p:cNvPr>
          <p:cNvSpPr>
            <a:spLocks noGrp="1"/>
          </p:cNvSpPr>
          <p:nvPr>
            <p:ph type="sldNum" sz="quarter" idx="12"/>
          </p:nvPr>
        </p:nvSpPr>
        <p:spPr/>
        <p:txBody>
          <a:bodyPr/>
          <a:lstStyle>
            <a:lvl1pPr>
              <a:defRPr/>
            </a:lvl1pPr>
          </a:lstStyle>
          <a:p>
            <a:pPr>
              <a:defRPr/>
            </a:pPr>
            <a:fld id="{CA887A73-1AE0-46F8-856A-18EA1CF30A1B}" type="slidenum">
              <a:rPr lang="en-US" altLang="en-US"/>
              <a:pPr>
                <a:defRPr/>
              </a:pPr>
              <a:t>‹#›</a:t>
            </a:fld>
            <a:endParaRPr lang="en-US" altLang="en-US"/>
          </a:p>
        </p:txBody>
      </p:sp>
    </p:spTree>
    <p:extLst>
      <p:ext uri="{BB962C8B-B14F-4D97-AF65-F5344CB8AC3E}">
        <p14:creationId xmlns:p14="http://schemas.microsoft.com/office/powerpoint/2010/main" val="1756230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DE40EF-D719-C1DF-C21A-2CF2ACF9549C}"/>
              </a:ext>
            </a:extLst>
          </p:cNvPr>
          <p:cNvSpPr>
            <a:spLocks noGrp="1"/>
          </p:cNvSpPr>
          <p:nvPr>
            <p:ph type="dt" sz="half" idx="10"/>
          </p:nvPr>
        </p:nvSpPr>
        <p:spPr/>
        <p:txBody>
          <a:bodyPr/>
          <a:lstStyle>
            <a:lvl1pPr>
              <a:defRPr/>
            </a:lvl1pPr>
          </a:lstStyle>
          <a:p>
            <a:pPr>
              <a:defRPr/>
            </a:pPr>
            <a:r>
              <a:rPr lang="en-US"/>
              <a:t>21/12/2020</a:t>
            </a:r>
          </a:p>
        </p:txBody>
      </p:sp>
      <p:sp>
        <p:nvSpPr>
          <p:cNvPr id="5" name="Footer Placeholder 4">
            <a:extLst>
              <a:ext uri="{FF2B5EF4-FFF2-40B4-BE49-F238E27FC236}">
                <a16:creationId xmlns:a16="http://schemas.microsoft.com/office/drawing/2014/main" id="{20154D67-7283-208E-229E-EF4878C71DB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87FBDCE-B7CC-6ED6-F37D-087059BBCDF0}"/>
              </a:ext>
            </a:extLst>
          </p:cNvPr>
          <p:cNvSpPr>
            <a:spLocks noGrp="1"/>
          </p:cNvSpPr>
          <p:nvPr>
            <p:ph type="sldNum" sz="quarter" idx="12"/>
          </p:nvPr>
        </p:nvSpPr>
        <p:spPr/>
        <p:txBody>
          <a:bodyPr/>
          <a:lstStyle>
            <a:lvl1pPr>
              <a:defRPr/>
            </a:lvl1pPr>
          </a:lstStyle>
          <a:p>
            <a:pPr>
              <a:defRPr/>
            </a:pPr>
            <a:fld id="{E79D9D01-1391-45E0-A9C5-C04635A43651}" type="slidenum">
              <a:rPr lang="en-US" altLang="en-US"/>
              <a:pPr>
                <a:defRPr/>
              </a:pPr>
              <a:t>‹#›</a:t>
            </a:fld>
            <a:endParaRPr lang="en-US" altLang="en-US"/>
          </a:p>
        </p:txBody>
      </p:sp>
    </p:spTree>
    <p:extLst>
      <p:ext uri="{BB962C8B-B14F-4D97-AF65-F5344CB8AC3E}">
        <p14:creationId xmlns:p14="http://schemas.microsoft.com/office/powerpoint/2010/main" val="3938803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8A1B8B84-BA43-81F2-03D3-23F157EDDE71}"/>
              </a:ext>
            </a:extLst>
          </p:cNvPr>
          <p:cNvSpPr>
            <a:spLocks noGrp="1"/>
          </p:cNvSpPr>
          <p:nvPr>
            <p:ph type="dt" sz="half" idx="10"/>
          </p:nvPr>
        </p:nvSpPr>
        <p:spPr/>
        <p:txBody>
          <a:bodyPr/>
          <a:lstStyle>
            <a:lvl1pPr>
              <a:defRPr/>
            </a:lvl1pPr>
          </a:lstStyle>
          <a:p>
            <a:pPr>
              <a:defRPr/>
            </a:pPr>
            <a:r>
              <a:rPr lang="en-US"/>
              <a:t>21/12/2020</a:t>
            </a:r>
          </a:p>
        </p:txBody>
      </p:sp>
      <p:sp>
        <p:nvSpPr>
          <p:cNvPr id="6" name="Footer Placeholder 4">
            <a:extLst>
              <a:ext uri="{FF2B5EF4-FFF2-40B4-BE49-F238E27FC236}">
                <a16:creationId xmlns:a16="http://schemas.microsoft.com/office/drawing/2014/main" id="{9C23C139-D613-6FE7-8352-A2E3C1C6D2B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763CA6A-FAB2-9598-5FD6-5C5FFE4CC840}"/>
              </a:ext>
            </a:extLst>
          </p:cNvPr>
          <p:cNvSpPr>
            <a:spLocks noGrp="1"/>
          </p:cNvSpPr>
          <p:nvPr>
            <p:ph type="sldNum" sz="quarter" idx="12"/>
          </p:nvPr>
        </p:nvSpPr>
        <p:spPr/>
        <p:txBody>
          <a:bodyPr/>
          <a:lstStyle>
            <a:lvl1pPr>
              <a:defRPr/>
            </a:lvl1pPr>
          </a:lstStyle>
          <a:p>
            <a:pPr>
              <a:defRPr/>
            </a:pPr>
            <a:fld id="{84877344-E1C7-49F4-9630-5A0F623202D9}" type="slidenum">
              <a:rPr lang="en-US" altLang="en-US"/>
              <a:pPr>
                <a:defRPr/>
              </a:pPr>
              <a:t>‹#›</a:t>
            </a:fld>
            <a:endParaRPr lang="en-US" altLang="en-US"/>
          </a:p>
        </p:txBody>
      </p:sp>
    </p:spTree>
    <p:extLst>
      <p:ext uri="{BB962C8B-B14F-4D97-AF65-F5344CB8AC3E}">
        <p14:creationId xmlns:p14="http://schemas.microsoft.com/office/powerpoint/2010/main" val="3720235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AC99FE01-5AE9-7CCB-1DBD-1304A57ADB6F}"/>
              </a:ext>
            </a:extLst>
          </p:cNvPr>
          <p:cNvSpPr>
            <a:spLocks noGrp="1"/>
          </p:cNvSpPr>
          <p:nvPr>
            <p:ph type="dt" sz="half" idx="10"/>
          </p:nvPr>
        </p:nvSpPr>
        <p:spPr/>
        <p:txBody>
          <a:bodyPr/>
          <a:lstStyle>
            <a:lvl1pPr>
              <a:defRPr/>
            </a:lvl1pPr>
          </a:lstStyle>
          <a:p>
            <a:pPr>
              <a:defRPr/>
            </a:pPr>
            <a:r>
              <a:rPr lang="en-US"/>
              <a:t>21/12/2020</a:t>
            </a:r>
          </a:p>
        </p:txBody>
      </p:sp>
      <p:sp>
        <p:nvSpPr>
          <p:cNvPr id="8" name="Footer Placeholder 4">
            <a:extLst>
              <a:ext uri="{FF2B5EF4-FFF2-40B4-BE49-F238E27FC236}">
                <a16:creationId xmlns:a16="http://schemas.microsoft.com/office/drawing/2014/main" id="{3A2B8239-FCBD-23CF-FA37-CDC50DB0528C}"/>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7E3DACE7-853A-4CB8-B825-278E151B17AA}"/>
              </a:ext>
            </a:extLst>
          </p:cNvPr>
          <p:cNvSpPr>
            <a:spLocks noGrp="1"/>
          </p:cNvSpPr>
          <p:nvPr>
            <p:ph type="sldNum" sz="quarter" idx="12"/>
          </p:nvPr>
        </p:nvSpPr>
        <p:spPr/>
        <p:txBody>
          <a:bodyPr/>
          <a:lstStyle>
            <a:lvl1pPr>
              <a:defRPr/>
            </a:lvl1pPr>
          </a:lstStyle>
          <a:p>
            <a:pPr>
              <a:defRPr/>
            </a:pPr>
            <a:fld id="{9ED20D7B-F2AF-465A-8627-050A33B6A2E6}" type="slidenum">
              <a:rPr lang="en-US" altLang="en-US"/>
              <a:pPr>
                <a:defRPr/>
              </a:pPr>
              <a:t>‹#›</a:t>
            </a:fld>
            <a:endParaRPr lang="en-US" altLang="en-US"/>
          </a:p>
        </p:txBody>
      </p:sp>
    </p:spTree>
    <p:extLst>
      <p:ext uri="{BB962C8B-B14F-4D97-AF65-F5344CB8AC3E}">
        <p14:creationId xmlns:p14="http://schemas.microsoft.com/office/powerpoint/2010/main" val="3899797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70E68BBE-9DA8-9C9C-D822-7FC9D3829CE7}"/>
              </a:ext>
            </a:extLst>
          </p:cNvPr>
          <p:cNvSpPr>
            <a:spLocks noGrp="1"/>
          </p:cNvSpPr>
          <p:nvPr>
            <p:ph type="dt" sz="half" idx="10"/>
          </p:nvPr>
        </p:nvSpPr>
        <p:spPr/>
        <p:txBody>
          <a:bodyPr/>
          <a:lstStyle>
            <a:lvl1pPr>
              <a:defRPr/>
            </a:lvl1pPr>
          </a:lstStyle>
          <a:p>
            <a:pPr>
              <a:defRPr/>
            </a:pPr>
            <a:r>
              <a:rPr lang="en-US"/>
              <a:t>21/12/2020</a:t>
            </a:r>
          </a:p>
        </p:txBody>
      </p:sp>
      <p:sp>
        <p:nvSpPr>
          <p:cNvPr id="4" name="Footer Placeholder 4">
            <a:extLst>
              <a:ext uri="{FF2B5EF4-FFF2-40B4-BE49-F238E27FC236}">
                <a16:creationId xmlns:a16="http://schemas.microsoft.com/office/drawing/2014/main" id="{3BD6A7CF-E35D-4F42-293C-8BAB3F13500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D87C34F-2852-49F1-C32D-490DE9743067}"/>
              </a:ext>
            </a:extLst>
          </p:cNvPr>
          <p:cNvSpPr>
            <a:spLocks noGrp="1"/>
          </p:cNvSpPr>
          <p:nvPr>
            <p:ph type="sldNum" sz="quarter" idx="12"/>
          </p:nvPr>
        </p:nvSpPr>
        <p:spPr/>
        <p:txBody>
          <a:bodyPr/>
          <a:lstStyle>
            <a:lvl1pPr>
              <a:defRPr/>
            </a:lvl1pPr>
          </a:lstStyle>
          <a:p>
            <a:pPr>
              <a:defRPr/>
            </a:pPr>
            <a:fld id="{3FB3AC73-65EA-4970-A755-094E5C634C8C}" type="slidenum">
              <a:rPr lang="en-US" altLang="en-US"/>
              <a:pPr>
                <a:defRPr/>
              </a:pPr>
              <a:t>‹#›</a:t>
            </a:fld>
            <a:endParaRPr lang="en-US" altLang="en-US"/>
          </a:p>
        </p:txBody>
      </p:sp>
    </p:spTree>
    <p:extLst>
      <p:ext uri="{BB962C8B-B14F-4D97-AF65-F5344CB8AC3E}">
        <p14:creationId xmlns:p14="http://schemas.microsoft.com/office/powerpoint/2010/main" val="3599387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25E5740-931D-F5B1-D23F-DCBD0C38C027}"/>
              </a:ext>
            </a:extLst>
          </p:cNvPr>
          <p:cNvSpPr>
            <a:spLocks noGrp="1"/>
          </p:cNvSpPr>
          <p:nvPr>
            <p:ph type="dt" sz="half" idx="10"/>
          </p:nvPr>
        </p:nvSpPr>
        <p:spPr/>
        <p:txBody>
          <a:bodyPr/>
          <a:lstStyle>
            <a:lvl1pPr>
              <a:defRPr/>
            </a:lvl1pPr>
          </a:lstStyle>
          <a:p>
            <a:pPr>
              <a:defRPr/>
            </a:pPr>
            <a:r>
              <a:rPr lang="en-US"/>
              <a:t>21/12/2020</a:t>
            </a:r>
          </a:p>
        </p:txBody>
      </p:sp>
      <p:sp>
        <p:nvSpPr>
          <p:cNvPr id="3" name="Footer Placeholder 4">
            <a:extLst>
              <a:ext uri="{FF2B5EF4-FFF2-40B4-BE49-F238E27FC236}">
                <a16:creationId xmlns:a16="http://schemas.microsoft.com/office/drawing/2014/main" id="{F48D1279-085F-FADC-9335-EE951FC2FE2C}"/>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2FCD80BA-8A05-EF30-056C-D3B895E354A3}"/>
              </a:ext>
            </a:extLst>
          </p:cNvPr>
          <p:cNvSpPr>
            <a:spLocks noGrp="1"/>
          </p:cNvSpPr>
          <p:nvPr>
            <p:ph type="sldNum" sz="quarter" idx="12"/>
          </p:nvPr>
        </p:nvSpPr>
        <p:spPr/>
        <p:txBody>
          <a:bodyPr/>
          <a:lstStyle>
            <a:lvl1pPr>
              <a:defRPr/>
            </a:lvl1pPr>
          </a:lstStyle>
          <a:p>
            <a:pPr>
              <a:defRPr/>
            </a:pPr>
            <a:fld id="{605AE7E5-2F0D-40CB-89DC-60190FE7F765}" type="slidenum">
              <a:rPr lang="en-US" altLang="en-US"/>
              <a:pPr>
                <a:defRPr/>
              </a:pPr>
              <a:t>‹#›</a:t>
            </a:fld>
            <a:endParaRPr lang="en-US" altLang="en-US"/>
          </a:p>
        </p:txBody>
      </p:sp>
    </p:spTree>
    <p:extLst>
      <p:ext uri="{BB962C8B-B14F-4D97-AF65-F5344CB8AC3E}">
        <p14:creationId xmlns:p14="http://schemas.microsoft.com/office/powerpoint/2010/main" val="3125960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0265D46-A9C7-CD06-5134-985F832761B0}"/>
              </a:ext>
            </a:extLst>
          </p:cNvPr>
          <p:cNvSpPr>
            <a:spLocks noGrp="1"/>
          </p:cNvSpPr>
          <p:nvPr>
            <p:ph type="dt" sz="half" idx="10"/>
          </p:nvPr>
        </p:nvSpPr>
        <p:spPr/>
        <p:txBody>
          <a:bodyPr/>
          <a:lstStyle>
            <a:lvl1pPr>
              <a:defRPr/>
            </a:lvl1pPr>
          </a:lstStyle>
          <a:p>
            <a:pPr>
              <a:defRPr/>
            </a:pPr>
            <a:r>
              <a:rPr lang="en-US"/>
              <a:t>21/12/2020</a:t>
            </a:r>
          </a:p>
        </p:txBody>
      </p:sp>
      <p:sp>
        <p:nvSpPr>
          <p:cNvPr id="6" name="Footer Placeholder 4">
            <a:extLst>
              <a:ext uri="{FF2B5EF4-FFF2-40B4-BE49-F238E27FC236}">
                <a16:creationId xmlns:a16="http://schemas.microsoft.com/office/drawing/2014/main" id="{C8A55F7D-AFEF-402F-45C6-533ED83EFE8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F7864CC-5912-595A-947D-86ED4368FB32}"/>
              </a:ext>
            </a:extLst>
          </p:cNvPr>
          <p:cNvSpPr>
            <a:spLocks noGrp="1"/>
          </p:cNvSpPr>
          <p:nvPr>
            <p:ph type="sldNum" sz="quarter" idx="12"/>
          </p:nvPr>
        </p:nvSpPr>
        <p:spPr/>
        <p:txBody>
          <a:bodyPr/>
          <a:lstStyle>
            <a:lvl1pPr>
              <a:defRPr/>
            </a:lvl1pPr>
          </a:lstStyle>
          <a:p>
            <a:pPr>
              <a:defRPr/>
            </a:pPr>
            <a:fld id="{48715581-CD01-4CEC-BC8F-7353CE826851}" type="slidenum">
              <a:rPr lang="en-US" altLang="en-US"/>
              <a:pPr>
                <a:defRPr/>
              </a:pPr>
              <a:t>‹#›</a:t>
            </a:fld>
            <a:endParaRPr lang="en-US" altLang="en-US"/>
          </a:p>
        </p:txBody>
      </p:sp>
    </p:spTree>
    <p:extLst>
      <p:ext uri="{BB962C8B-B14F-4D97-AF65-F5344CB8AC3E}">
        <p14:creationId xmlns:p14="http://schemas.microsoft.com/office/powerpoint/2010/main" val="3820446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AE467ABF-5DBD-0F44-6269-D1296B669355}"/>
              </a:ext>
            </a:extLst>
          </p:cNvPr>
          <p:cNvSpPr>
            <a:spLocks noGrp="1"/>
          </p:cNvSpPr>
          <p:nvPr>
            <p:ph type="dt" sz="half" idx="10"/>
          </p:nvPr>
        </p:nvSpPr>
        <p:spPr/>
        <p:txBody>
          <a:bodyPr/>
          <a:lstStyle>
            <a:lvl1pPr>
              <a:defRPr/>
            </a:lvl1pPr>
          </a:lstStyle>
          <a:p>
            <a:pPr>
              <a:defRPr/>
            </a:pPr>
            <a:r>
              <a:rPr lang="en-US"/>
              <a:t>21/12/2020</a:t>
            </a:r>
          </a:p>
        </p:txBody>
      </p:sp>
      <p:sp>
        <p:nvSpPr>
          <p:cNvPr id="6" name="Footer Placeholder 4">
            <a:extLst>
              <a:ext uri="{FF2B5EF4-FFF2-40B4-BE49-F238E27FC236}">
                <a16:creationId xmlns:a16="http://schemas.microsoft.com/office/drawing/2014/main" id="{31729259-95EB-ABB4-8CC1-6AAA526DCDA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62D7086-DF65-36F8-E6B6-082068B3EE8C}"/>
              </a:ext>
            </a:extLst>
          </p:cNvPr>
          <p:cNvSpPr>
            <a:spLocks noGrp="1"/>
          </p:cNvSpPr>
          <p:nvPr>
            <p:ph type="sldNum" sz="quarter" idx="12"/>
          </p:nvPr>
        </p:nvSpPr>
        <p:spPr/>
        <p:txBody>
          <a:bodyPr/>
          <a:lstStyle>
            <a:lvl1pPr>
              <a:defRPr/>
            </a:lvl1pPr>
          </a:lstStyle>
          <a:p>
            <a:pPr>
              <a:defRPr/>
            </a:pPr>
            <a:fld id="{FB2052F0-E69A-488D-AA78-DE7ABB9591C3}" type="slidenum">
              <a:rPr lang="en-US" altLang="en-US"/>
              <a:pPr>
                <a:defRPr/>
              </a:pPr>
              <a:t>‹#›</a:t>
            </a:fld>
            <a:endParaRPr lang="en-US" altLang="en-US"/>
          </a:p>
        </p:txBody>
      </p:sp>
    </p:spTree>
    <p:extLst>
      <p:ext uri="{BB962C8B-B14F-4D97-AF65-F5344CB8AC3E}">
        <p14:creationId xmlns:p14="http://schemas.microsoft.com/office/powerpoint/2010/main" val="2265026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49C7B9-97C1-73C5-069B-8304F71A59D3}"/>
              </a:ext>
            </a:extLst>
          </p:cNvPr>
          <p:cNvSpPr>
            <a:spLocks noGrp="1"/>
          </p:cNvSpPr>
          <p:nvPr>
            <p:ph type="dt" sz="half" idx="10"/>
          </p:nvPr>
        </p:nvSpPr>
        <p:spPr/>
        <p:txBody>
          <a:bodyPr/>
          <a:lstStyle>
            <a:lvl1pPr>
              <a:defRPr/>
            </a:lvl1pPr>
          </a:lstStyle>
          <a:p>
            <a:pPr>
              <a:defRPr/>
            </a:pPr>
            <a:r>
              <a:rPr lang="en-US"/>
              <a:t>21/12/2020</a:t>
            </a:r>
          </a:p>
        </p:txBody>
      </p:sp>
      <p:sp>
        <p:nvSpPr>
          <p:cNvPr id="5" name="Footer Placeholder 4">
            <a:extLst>
              <a:ext uri="{FF2B5EF4-FFF2-40B4-BE49-F238E27FC236}">
                <a16:creationId xmlns:a16="http://schemas.microsoft.com/office/drawing/2014/main" id="{AD44205D-B0EA-B535-1BCB-C052B27F314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38810C2-A27B-66A7-0574-10C225192FA1}"/>
              </a:ext>
            </a:extLst>
          </p:cNvPr>
          <p:cNvSpPr>
            <a:spLocks noGrp="1"/>
          </p:cNvSpPr>
          <p:nvPr>
            <p:ph type="sldNum" sz="quarter" idx="12"/>
          </p:nvPr>
        </p:nvSpPr>
        <p:spPr/>
        <p:txBody>
          <a:bodyPr/>
          <a:lstStyle>
            <a:lvl1pPr>
              <a:defRPr/>
            </a:lvl1pPr>
          </a:lstStyle>
          <a:p>
            <a:pPr>
              <a:defRPr/>
            </a:pPr>
            <a:fld id="{1F29212A-F0D7-4AFF-A386-0ACFB0AAC5E4}" type="slidenum">
              <a:rPr lang="en-US" altLang="en-US"/>
              <a:pPr>
                <a:defRPr/>
              </a:pPr>
              <a:t>‹#›</a:t>
            </a:fld>
            <a:endParaRPr lang="en-US" altLang="en-US"/>
          </a:p>
        </p:txBody>
      </p:sp>
    </p:spTree>
    <p:extLst>
      <p:ext uri="{BB962C8B-B14F-4D97-AF65-F5344CB8AC3E}">
        <p14:creationId xmlns:p14="http://schemas.microsoft.com/office/powerpoint/2010/main" val="798412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99E6BE-7F7F-94ED-1232-D89436CBCA93}"/>
              </a:ext>
            </a:extLst>
          </p:cNvPr>
          <p:cNvSpPr>
            <a:spLocks noGrp="1"/>
          </p:cNvSpPr>
          <p:nvPr>
            <p:ph type="dt" sz="half" idx="10"/>
          </p:nvPr>
        </p:nvSpPr>
        <p:spPr/>
        <p:txBody>
          <a:bodyPr/>
          <a:lstStyle>
            <a:lvl1pPr>
              <a:defRPr/>
            </a:lvl1pPr>
          </a:lstStyle>
          <a:p>
            <a:pPr>
              <a:defRPr/>
            </a:pPr>
            <a:r>
              <a:rPr lang="en-US"/>
              <a:t>21/12/2020</a:t>
            </a:r>
          </a:p>
        </p:txBody>
      </p:sp>
      <p:sp>
        <p:nvSpPr>
          <p:cNvPr id="5" name="Footer Placeholder 4">
            <a:extLst>
              <a:ext uri="{FF2B5EF4-FFF2-40B4-BE49-F238E27FC236}">
                <a16:creationId xmlns:a16="http://schemas.microsoft.com/office/drawing/2014/main" id="{AB9733A2-CB01-A6CE-B5D3-DB2ECAFBBC8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5721FBA-0C17-A4B8-E194-E3AAE0572399}"/>
              </a:ext>
            </a:extLst>
          </p:cNvPr>
          <p:cNvSpPr>
            <a:spLocks noGrp="1"/>
          </p:cNvSpPr>
          <p:nvPr>
            <p:ph type="sldNum" sz="quarter" idx="12"/>
          </p:nvPr>
        </p:nvSpPr>
        <p:spPr/>
        <p:txBody>
          <a:bodyPr/>
          <a:lstStyle>
            <a:lvl1pPr>
              <a:defRPr/>
            </a:lvl1pPr>
          </a:lstStyle>
          <a:p>
            <a:pPr>
              <a:defRPr/>
            </a:pPr>
            <a:fld id="{FED9BE82-4715-4ACA-919F-DBB11A70F4E4}" type="slidenum">
              <a:rPr lang="en-US" altLang="en-US"/>
              <a:pPr>
                <a:defRPr/>
              </a:pPr>
              <a:t>‹#›</a:t>
            </a:fld>
            <a:endParaRPr lang="en-US" altLang="en-US"/>
          </a:p>
        </p:txBody>
      </p:sp>
    </p:spTree>
    <p:extLst>
      <p:ext uri="{BB962C8B-B14F-4D97-AF65-F5344CB8AC3E}">
        <p14:creationId xmlns:p14="http://schemas.microsoft.com/office/powerpoint/2010/main" val="9557081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FFBFFBE-14B2-F0AF-F4AC-4976B5EA7B3E}"/>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FA176F73-2534-EA66-9BA3-389159441E1E}"/>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5" name="Rectangle 4">
            <a:extLst>
              <a:ext uri="{FF2B5EF4-FFF2-40B4-BE49-F238E27FC236}">
                <a16:creationId xmlns:a16="http://schemas.microsoft.com/office/drawing/2014/main" id="{41143B4A-14C2-1094-BE58-15BD80B6D446}"/>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A2D759AA-21D7-ABA4-D5D7-76848EAA814B}"/>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pic>
        <p:nvPicPr>
          <p:cNvPr id="8" name="Picture 10" descr="BITS_university_logo_whitevert.png">
            <a:extLst>
              <a:ext uri="{FF2B5EF4-FFF2-40B4-BE49-F238E27FC236}">
                <a16:creationId xmlns:a16="http://schemas.microsoft.com/office/drawing/2014/main" id="{4AC502B5-9275-C45A-F485-E98B733254DA}"/>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68A90F2E-DD9A-35C4-D90C-49EB0FD21D5D}"/>
              </a:ext>
            </a:extLst>
          </p:cNvPr>
          <p:cNvSpPr txBox="1"/>
          <p:nvPr userDrawn="1"/>
        </p:nvSpPr>
        <p:spPr>
          <a:xfrm>
            <a:off x="-76200" y="5257800"/>
            <a:ext cx="2209800" cy="554038"/>
          </a:xfrm>
          <a:prstGeom prst="rect">
            <a:avLst/>
          </a:prstGeom>
          <a:noFill/>
        </p:spPr>
        <p:txBody>
          <a:bodyPr>
            <a:spAutoFit/>
          </a:bodyPr>
          <a:lstStyle/>
          <a:p>
            <a:pPr algn="ctr" eaLnBrk="1" hangingPunct="1">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CE235B97-BCD1-B200-8B0C-6E7F31A5DD6E}"/>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200">
                <a:solidFill>
                  <a:srgbClr val="FFFFFF"/>
                </a:solidFill>
                <a:cs typeface="Arial" charset="0"/>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627371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9DAF1-3678-81CF-68D0-2FFF8BF1C823}"/>
              </a:ext>
            </a:extLst>
          </p:cNvPr>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14762E-50A2-3FD2-FDF4-C54B9B6A93B8}"/>
              </a:ext>
            </a:extLst>
          </p:cNvPr>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5A2326C-C066-820B-DC72-5D515C273E56}"/>
              </a:ext>
            </a:extLst>
          </p:cNvPr>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22A3138-AE69-F27D-2EAA-23D2B3BFFE41}"/>
              </a:ext>
            </a:extLst>
          </p:cNvPr>
          <p:cNvSpPr>
            <a:spLocks noGrp="1"/>
          </p:cNvSpPr>
          <p:nvPr>
            <p:ph type="dt" sz="half" idx="10"/>
          </p:nvPr>
        </p:nvSpPr>
        <p:spPr>
          <a:xfrm>
            <a:off x="685800" y="6248400"/>
            <a:ext cx="1905000" cy="45720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11F772D5-DBDE-E801-75E8-5C65995AF7E4}"/>
              </a:ext>
            </a:extLst>
          </p:cNvPr>
          <p:cNvSpPr>
            <a:spLocks noGrp="1"/>
          </p:cNvSpPr>
          <p:nvPr>
            <p:ph type="ftr" sz="quarter" idx="11"/>
          </p:nvPr>
        </p:nvSpPr>
        <p:spPr>
          <a:xfrm>
            <a:off x="3124200" y="6248400"/>
            <a:ext cx="2895600" cy="45720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5D069C2E-6178-3D9A-0D54-C41412046CBA}"/>
              </a:ext>
            </a:extLst>
          </p:cNvPr>
          <p:cNvSpPr>
            <a:spLocks noGrp="1"/>
          </p:cNvSpPr>
          <p:nvPr>
            <p:ph type="sldNum" sz="quarter" idx="12"/>
          </p:nvPr>
        </p:nvSpPr>
        <p:spPr>
          <a:xfrm>
            <a:off x="6553200" y="6248400"/>
            <a:ext cx="1905000" cy="457200"/>
          </a:xfrm>
        </p:spPr>
        <p:txBody>
          <a:bodyPr/>
          <a:lstStyle>
            <a:lvl1pPr>
              <a:defRPr/>
            </a:lvl1pPr>
          </a:lstStyle>
          <a:p>
            <a:fld id="{89347512-759C-4E18-9ECE-7FCE1DFA935E}" type="slidenum">
              <a:rPr lang="en-US" altLang="en-US"/>
              <a:pPr/>
              <a:t>‹#›</a:t>
            </a:fld>
            <a:endParaRPr lang="en-US" altLang="en-US"/>
          </a:p>
        </p:txBody>
      </p:sp>
    </p:spTree>
    <p:extLst>
      <p:ext uri="{BB962C8B-B14F-4D97-AF65-F5344CB8AC3E}">
        <p14:creationId xmlns:p14="http://schemas.microsoft.com/office/powerpoint/2010/main" val="1722902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3F7038-E9FE-3435-A99B-628D46289EFD}"/>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grpSp>
        <p:nvGrpSpPr>
          <p:cNvPr id="4" name="Group 11">
            <a:extLst>
              <a:ext uri="{FF2B5EF4-FFF2-40B4-BE49-F238E27FC236}">
                <a16:creationId xmlns:a16="http://schemas.microsoft.com/office/drawing/2014/main" id="{C581210D-00F8-03F9-A285-0EF404A95B28}"/>
              </a:ext>
            </a:extLst>
          </p:cNvPr>
          <p:cNvGrpSpPr>
            <a:grpSpLocks/>
          </p:cNvGrpSpPr>
          <p:nvPr userDrawn="1"/>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D981720D-E387-AAA5-1040-9B41570959D0}"/>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sp>
          <p:nvSpPr>
            <p:cNvPr id="6" name="Rectangle 5">
              <a:extLst>
                <a:ext uri="{FF2B5EF4-FFF2-40B4-BE49-F238E27FC236}">
                  <a16:creationId xmlns:a16="http://schemas.microsoft.com/office/drawing/2014/main" id="{A61E86A8-1855-7B69-B62C-6E258FDAA754}"/>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sp>
          <p:nvSpPr>
            <p:cNvPr id="7" name="Rectangle 6">
              <a:extLst>
                <a:ext uri="{FF2B5EF4-FFF2-40B4-BE49-F238E27FC236}">
                  <a16:creationId xmlns:a16="http://schemas.microsoft.com/office/drawing/2014/main" id="{80F5A7EC-8365-09AA-A08B-63472C98828A}"/>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grpSp>
      <p:pic>
        <p:nvPicPr>
          <p:cNvPr id="8" name="Picture 11" descr="Picture 7.png">
            <a:extLst>
              <a:ext uri="{FF2B5EF4-FFF2-40B4-BE49-F238E27FC236}">
                <a16:creationId xmlns:a16="http://schemas.microsoft.com/office/drawing/2014/main" id="{055BCDEA-2A80-3C2D-080C-509BDDC90CDF}"/>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4FE31975-C8A2-731C-B1AA-CCD2DCF57F50}"/>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257A10F7-F50B-DAEB-B974-D1288E571504}"/>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sp>
          <p:nvSpPr>
            <p:cNvPr id="11" name="Rectangle 10">
              <a:extLst>
                <a:ext uri="{FF2B5EF4-FFF2-40B4-BE49-F238E27FC236}">
                  <a16:creationId xmlns:a16="http://schemas.microsoft.com/office/drawing/2014/main" id="{CAECCB2B-C7CF-4843-D0DF-2886453D18B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sp>
          <p:nvSpPr>
            <p:cNvPr id="12" name="Rectangle 11">
              <a:extLst>
                <a:ext uri="{FF2B5EF4-FFF2-40B4-BE49-F238E27FC236}">
                  <a16:creationId xmlns:a16="http://schemas.microsoft.com/office/drawing/2014/main" id="{47A3C326-F746-6ED4-B21E-4BB970D1C98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grpSp>
      <p:grpSp>
        <p:nvGrpSpPr>
          <p:cNvPr id="13" name="Group 22">
            <a:extLst>
              <a:ext uri="{FF2B5EF4-FFF2-40B4-BE49-F238E27FC236}">
                <a16:creationId xmlns:a16="http://schemas.microsoft.com/office/drawing/2014/main" id="{09821B34-ED59-A848-42D8-7954EFE84254}"/>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2DD3EB44-1837-0D6E-CE9B-DBC9F8518DD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sp>
          <p:nvSpPr>
            <p:cNvPr id="15" name="Rectangle 14">
              <a:extLst>
                <a:ext uri="{FF2B5EF4-FFF2-40B4-BE49-F238E27FC236}">
                  <a16:creationId xmlns:a16="http://schemas.microsoft.com/office/drawing/2014/main" id="{14180C74-B502-6526-25D1-FD5B018B28F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sp>
          <p:nvSpPr>
            <p:cNvPr id="16" name="Rectangle 15">
              <a:extLst>
                <a:ext uri="{FF2B5EF4-FFF2-40B4-BE49-F238E27FC236}">
                  <a16:creationId xmlns:a16="http://schemas.microsoft.com/office/drawing/2014/main" id="{61EECA1A-60B6-C307-32D5-77B6F2589D3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mn-lt"/>
                <a:cs typeface="Arial" pitchFamily="34" charset="0"/>
              </a:defRPr>
            </a:lvl2pPr>
            <a:lvl3pPr>
              <a:defRPr>
                <a:latin typeface="+mn-lt"/>
              </a:defRPr>
            </a:lvl3pPr>
            <a:lvl4pPr>
              <a:defRPr>
                <a:latin typeface="+mn-lt"/>
              </a:defRPr>
            </a:lvl4pPr>
            <a:lvl5pPr>
              <a:defRPr>
                <a:latin typeface="+mn-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mj-lt"/>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2226525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A203AAE-04EA-FB40-EB07-8B5C207984B1}"/>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B0F4528A-9CB7-CDAF-ED2B-34ED92441136}"/>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E1C94811-E68F-A5B1-AEDA-C6AFA290A81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r>
              <a:rPr lang="en-US"/>
              <a:t>21/12/2020</a:t>
            </a:r>
          </a:p>
        </p:txBody>
      </p:sp>
      <p:sp>
        <p:nvSpPr>
          <p:cNvPr id="5" name="Footer Placeholder 4">
            <a:extLst>
              <a:ext uri="{FF2B5EF4-FFF2-40B4-BE49-F238E27FC236}">
                <a16:creationId xmlns:a16="http://schemas.microsoft.com/office/drawing/2014/main" id="{FD210422-B7F7-81EF-261E-27508681B4B6}"/>
              </a:ext>
            </a:extLst>
          </p:cNvPr>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Calibri"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52938BB7-5B9C-07D9-CEF5-0333C505508E}"/>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5875A4CA-FE82-4068-9563-37A5A44B587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833" r:id="rId1"/>
    <p:sldLayoutId id="2147484834" r:id="rId2"/>
    <p:sldLayoutId id="2147484835" r:id="rId3"/>
    <p:sldLayoutId id="2147484836" r:id="rId4"/>
    <p:sldLayoutId id="2147484837" r:id="rId5"/>
    <p:sldLayoutId id="2147484838" r:id="rId6"/>
    <p:sldLayoutId id="2147484839" r:id="rId7"/>
    <p:sldLayoutId id="2147484840" r:id="rId8"/>
    <p:sldLayoutId id="2147484841" r:id="rId9"/>
    <p:sldLayoutId id="2147484842" r:id="rId10"/>
    <p:sldLayoutId id="2147484843" r:id="rId11"/>
    <p:sldLayoutId id="2147484844" r:id="rId12"/>
    <p:sldLayoutId id="2147484861" r:id="rId13"/>
    <p:sldLayoutId id="2147484862" r:id="rId14"/>
  </p:sldLayoutIdLst>
  <p:hf hdr="0" ft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oleObject" Target="../embeddings/oleObject1.bin"/><Relationship Id="rId1" Type="http://schemas.openxmlformats.org/officeDocument/2006/relationships/slideLayout" Target="../slideLayouts/slideLayout14.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oleObject" Target="../embeddings/oleObject2.bin"/><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4.xml"/><Relationship Id="rId5" Type="http://schemas.openxmlformats.org/officeDocument/2006/relationships/image" Target="../media/image17.png"/><Relationship Id="rId4"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14.xml"/><Relationship Id="rId5" Type="http://schemas.openxmlformats.org/officeDocument/2006/relationships/image" Target="../media/image19.png"/><Relationship Id="rId4"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oleObject" Target="../embeddings/oleObject5.bin"/><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4.png"/><Relationship Id="rId1" Type="http://schemas.openxmlformats.org/officeDocument/2006/relationships/slideLayout" Target="../slideLayouts/slideLayout14.xml"/><Relationship Id="rId5" Type="http://schemas.openxmlformats.org/officeDocument/2006/relationships/image" Target="../media/image21.png"/><Relationship Id="rId4" Type="http://schemas.openxmlformats.org/officeDocument/2006/relationships/oleObject" Target="../embeddings/oleObject5.bin"/></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4">
            <a:extLst>
              <a:ext uri="{FF2B5EF4-FFF2-40B4-BE49-F238E27FC236}">
                <a16:creationId xmlns:a16="http://schemas.microsoft.com/office/drawing/2014/main" id="{82CCF8E8-8D44-B829-5D34-BCFE6E2C9411}"/>
              </a:ext>
            </a:extLst>
          </p:cNvPr>
          <p:cNvSpPr>
            <a:spLocks noGrp="1"/>
          </p:cNvSpPr>
          <p:nvPr>
            <p:ph type="title"/>
          </p:nvPr>
        </p:nvSpPr>
        <p:spPr/>
        <p:txBody>
          <a:bodyPr/>
          <a:lstStyle/>
          <a:p>
            <a:pPr algn="ctr"/>
            <a:r>
              <a:rPr lang="en-US" altLang="en-US" dirty="0"/>
              <a:t>BITS </a:t>
            </a:r>
            <a:r>
              <a:rPr lang="en-US" altLang="en-US" dirty="0" err="1"/>
              <a:t>Pilani</a:t>
            </a:r>
            <a:r>
              <a:rPr lang="en-US" altLang="en-US" dirty="0"/>
              <a:t> </a:t>
            </a:r>
            <a:br>
              <a:rPr lang="en-US" altLang="en-US" dirty="0"/>
            </a:br>
            <a:r>
              <a:rPr lang="en-US" altLang="en-US" dirty="0"/>
              <a:t>Digital Design</a:t>
            </a:r>
          </a:p>
        </p:txBody>
      </p:sp>
      <p:sp>
        <p:nvSpPr>
          <p:cNvPr id="2" name="Content Placeholder 1">
            <a:extLst>
              <a:ext uri="{FF2B5EF4-FFF2-40B4-BE49-F238E27FC236}">
                <a16:creationId xmlns:a16="http://schemas.microsoft.com/office/drawing/2014/main" id="{E4BD772D-9840-4762-E3C3-128057D3E943}"/>
              </a:ext>
            </a:extLst>
          </p:cNvPr>
          <p:cNvSpPr>
            <a:spLocks noGrp="1"/>
          </p:cNvSpPr>
          <p:nvPr>
            <p:ph sz="quarter" idx="13"/>
          </p:nvPr>
        </p:nvSpPr>
        <p:spPr/>
        <p:txBody>
          <a:bodyPr/>
          <a:lstStyle/>
          <a:p>
            <a:r>
              <a:rPr lang="en-US" dirty="0"/>
              <a:t>Prof. GSS </a:t>
            </a:r>
            <a:r>
              <a:rPr lang="en-US" dirty="0" err="1"/>
              <a:t>Chalapathi</a:t>
            </a:r>
            <a:r>
              <a:rPr lang="en-US" dirty="0"/>
              <a:t>, Prof. Saurabh Gandhi (EEE department)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D3DFFF-2EAB-93DE-A800-82CA28A979B1}"/>
              </a:ext>
            </a:extLst>
          </p:cNvPr>
          <p:cNvSpPr>
            <a:spLocks noGrp="1"/>
          </p:cNvSpPr>
          <p:nvPr>
            <p:ph idx="1"/>
          </p:nvPr>
        </p:nvSpPr>
        <p:spPr/>
        <p:txBody>
          <a:bodyPr/>
          <a:lstStyle/>
          <a:p>
            <a:pPr>
              <a:buFont typeface="Arial" panose="020B0604020202020204" pitchFamily="34" charset="0"/>
              <a:buChar char="•"/>
            </a:pPr>
            <a:r>
              <a:rPr lang="en-US" dirty="0"/>
              <a:t>A counter is a register that goes through a predetermined sequence of states upon the application of clock pulses.</a:t>
            </a:r>
          </a:p>
          <a:p>
            <a:pPr>
              <a:buFont typeface="Arial" panose="020B0604020202020204" pitchFamily="34" charset="0"/>
              <a:buChar char="•"/>
            </a:pPr>
            <a:r>
              <a:rPr lang="en-US" dirty="0"/>
              <a:t>Categorized as:</a:t>
            </a:r>
          </a:p>
          <a:p>
            <a:pPr lvl="1">
              <a:buFont typeface="Arial" panose="020B0604020202020204" pitchFamily="34" charset="0"/>
              <a:buChar char="•"/>
            </a:pPr>
            <a:r>
              <a:rPr lang="en-US" sz="2400" dirty="0"/>
              <a:t>Ripple counters</a:t>
            </a:r>
            <a:br>
              <a:rPr lang="en-US" sz="2400" dirty="0"/>
            </a:br>
            <a:r>
              <a:rPr lang="en-US" sz="2400" dirty="0"/>
              <a:t>The FF output transition serves as a source for triggering other FFs.</a:t>
            </a:r>
            <a:br>
              <a:rPr lang="en-US" sz="2400" dirty="0"/>
            </a:br>
            <a:r>
              <a:rPr lang="en-US" sz="2400" dirty="0"/>
              <a:t>NO COMMON CLOCK.</a:t>
            </a:r>
          </a:p>
          <a:p>
            <a:pPr lvl="1">
              <a:buFont typeface="Arial" panose="020B0604020202020204" pitchFamily="34" charset="0"/>
              <a:buChar char="•"/>
            </a:pPr>
            <a:r>
              <a:rPr lang="en-US" sz="2400" dirty="0"/>
              <a:t>Synchronous counters</a:t>
            </a:r>
            <a:br>
              <a:rPr lang="en-US" sz="2400" dirty="0"/>
            </a:br>
            <a:r>
              <a:rPr lang="en-US" sz="2400" dirty="0"/>
              <a:t>All FFs receive the common clock pulse, and the change of state is determined based on the present state</a:t>
            </a:r>
            <a:endParaRPr lang="en-IN" sz="2400" dirty="0"/>
          </a:p>
        </p:txBody>
      </p:sp>
      <p:sp>
        <p:nvSpPr>
          <p:cNvPr id="3" name="Content Placeholder 2">
            <a:extLst>
              <a:ext uri="{FF2B5EF4-FFF2-40B4-BE49-F238E27FC236}">
                <a16:creationId xmlns:a16="http://schemas.microsoft.com/office/drawing/2014/main" id="{18ECE8E9-BF8F-BB16-4F37-C2C58409C037}"/>
              </a:ext>
            </a:extLst>
          </p:cNvPr>
          <p:cNvSpPr>
            <a:spLocks noGrp="1"/>
          </p:cNvSpPr>
          <p:nvPr>
            <p:ph sz="quarter" idx="10"/>
          </p:nvPr>
        </p:nvSpPr>
        <p:spPr/>
        <p:txBody>
          <a:bodyPr/>
          <a:lstStyle/>
          <a:p>
            <a:r>
              <a:rPr lang="en-US" dirty="0"/>
              <a:t>Counters</a:t>
            </a:r>
            <a:endParaRPr lang="en-IN" dirty="0"/>
          </a:p>
        </p:txBody>
      </p:sp>
    </p:spTree>
    <p:extLst>
      <p:ext uri="{BB962C8B-B14F-4D97-AF65-F5344CB8AC3E}">
        <p14:creationId xmlns:p14="http://schemas.microsoft.com/office/powerpoint/2010/main" val="2810995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8B0FAB-9EF6-A577-536E-6621A773A671}"/>
              </a:ext>
            </a:extLst>
          </p:cNvPr>
          <p:cNvSpPr>
            <a:spLocks noGrp="1"/>
          </p:cNvSpPr>
          <p:nvPr>
            <p:ph idx="1"/>
          </p:nvPr>
        </p:nvSpPr>
        <p:spPr>
          <a:xfrm>
            <a:off x="304800" y="1493837"/>
            <a:ext cx="4495800" cy="4525963"/>
          </a:xfrm>
        </p:spPr>
        <p:txBody>
          <a:bodyPr/>
          <a:lstStyle/>
          <a:p>
            <a:pPr>
              <a:buFont typeface="Arial" panose="020B0604020202020204" pitchFamily="34" charset="0"/>
              <a:buChar char="•"/>
            </a:pPr>
            <a:r>
              <a:rPr lang="en-US" dirty="0"/>
              <a:t>Less significant bit serves as the clock for the next significant bit (negative edge clock)</a:t>
            </a:r>
          </a:p>
        </p:txBody>
      </p:sp>
      <p:sp>
        <p:nvSpPr>
          <p:cNvPr id="3" name="Content Placeholder 2">
            <a:extLst>
              <a:ext uri="{FF2B5EF4-FFF2-40B4-BE49-F238E27FC236}">
                <a16:creationId xmlns:a16="http://schemas.microsoft.com/office/drawing/2014/main" id="{EF33B3BE-5BA8-50AD-B605-C522B17D4517}"/>
              </a:ext>
            </a:extLst>
          </p:cNvPr>
          <p:cNvSpPr>
            <a:spLocks noGrp="1"/>
          </p:cNvSpPr>
          <p:nvPr>
            <p:ph sz="quarter" idx="10"/>
          </p:nvPr>
        </p:nvSpPr>
        <p:spPr/>
        <p:txBody>
          <a:bodyPr/>
          <a:lstStyle/>
          <a:p>
            <a:r>
              <a:rPr lang="en-US" dirty="0"/>
              <a:t>4-bit binary up counter</a:t>
            </a:r>
            <a:endParaRPr lang="en-IN" dirty="0"/>
          </a:p>
        </p:txBody>
      </p:sp>
      <p:pic>
        <p:nvPicPr>
          <p:cNvPr id="6" name="Picture 5">
            <a:extLst>
              <a:ext uri="{FF2B5EF4-FFF2-40B4-BE49-F238E27FC236}">
                <a16:creationId xmlns:a16="http://schemas.microsoft.com/office/drawing/2014/main" id="{D7DA7E6D-FBD6-09E0-4F36-795B562420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3434255"/>
            <a:ext cx="2895600" cy="171608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D780FFF2-C7DF-1DC3-4F60-C3195D9356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3473" t="27777" r="18750" b="14815"/>
          <a:stretch>
            <a:fillRect/>
          </a:stretch>
        </p:blipFill>
        <p:spPr bwMode="auto">
          <a:xfrm>
            <a:off x="4953000" y="1493837"/>
            <a:ext cx="3788979" cy="4947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346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A66240-21AD-5F38-59E8-8CD3802B7FBA}"/>
              </a:ext>
            </a:extLst>
          </p:cNvPr>
          <p:cNvSpPr>
            <a:spLocks noGrp="1"/>
          </p:cNvSpPr>
          <p:nvPr>
            <p:ph idx="1"/>
          </p:nvPr>
        </p:nvSpPr>
        <p:spPr>
          <a:xfrm>
            <a:off x="304800" y="1493837"/>
            <a:ext cx="4419600" cy="4525963"/>
          </a:xfrm>
        </p:spPr>
        <p:txBody>
          <a:bodyPr>
            <a:normAutofit fontScale="92500"/>
          </a:bodyPr>
          <a:lstStyle/>
          <a:p>
            <a:pPr>
              <a:buFont typeface="Arial" panose="020B0604020202020204" pitchFamily="34" charset="0"/>
              <a:buChar char="•"/>
            </a:pPr>
            <a:r>
              <a:rPr lang="en-US" dirty="0"/>
              <a:t>The output of each FF is connected to the C input of the next FF in sequence.</a:t>
            </a:r>
          </a:p>
          <a:p>
            <a:pPr>
              <a:buFont typeface="Arial" panose="020B0604020202020204" pitchFamily="34" charset="0"/>
              <a:buChar char="•"/>
            </a:pPr>
            <a:r>
              <a:rPr lang="en-US" dirty="0"/>
              <a:t>The FF holding the least significant bit receives the incoming clock pulses.</a:t>
            </a:r>
          </a:p>
          <a:p>
            <a:pPr>
              <a:buFont typeface="Arial" panose="020B0604020202020204" pitchFamily="34" charset="0"/>
              <a:buChar char="•"/>
            </a:pPr>
            <a:r>
              <a:rPr lang="en-US" dirty="0"/>
              <a:t>The J and K inputs of all FFs are connected to a permanent logic 1.</a:t>
            </a:r>
          </a:p>
          <a:p>
            <a:pPr>
              <a:buFont typeface="Arial" panose="020B0604020202020204" pitchFamily="34" charset="0"/>
              <a:buChar char="•"/>
            </a:pPr>
            <a:r>
              <a:rPr lang="en-US" dirty="0"/>
              <a:t>The bubble next to the C label indicates that the FFs respond to the negative-going transition of the input.</a:t>
            </a:r>
            <a:endParaRPr lang="en-IN" dirty="0"/>
          </a:p>
        </p:txBody>
      </p:sp>
      <p:sp>
        <p:nvSpPr>
          <p:cNvPr id="3" name="Content Placeholder 2">
            <a:extLst>
              <a:ext uri="{FF2B5EF4-FFF2-40B4-BE49-F238E27FC236}">
                <a16:creationId xmlns:a16="http://schemas.microsoft.com/office/drawing/2014/main" id="{083C2DA4-18FB-0087-4599-8A3C716982F1}"/>
              </a:ext>
            </a:extLst>
          </p:cNvPr>
          <p:cNvSpPr>
            <a:spLocks noGrp="1"/>
          </p:cNvSpPr>
          <p:nvPr>
            <p:ph sz="quarter" idx="10"/>
          </p:nvPr>
        </p:nvSpPr>
        <p:spPr/>
        <p:txBody>
          <a:bodyPr/>
          <a:lstStyle/>
          <a:p>
            <a:r>
              <a:rPr lang="en-US" dirty="0"/>
              <a:t>4-bit binary up counter</a:t>
            </a:r>
            <a:endParaRPr lang="en-IN" dirty="0"/>
          </a:p>
        </p:txBody>
      </p:sp>
      <p:pic>
        <p:nvPicPr>
          <p:cNvPr id="4" name="Picture 3">
            <a:extLst>
              <a:ext uri="{FF2B5EF4-FFF2-40B4-BE49-F238E27FC236}">
                <a16:creationId xmlns:a16="http://schemas.microsoft.com/office/drawing/2014/main" id="{CD7B83C7-D5D0-B303-19DF-DCFA28DA86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3473" t="27777" r="18750" b="14815"/>
          <a:stretch>
            <a:fillRect/>
          </a:stretch>
        </p:blipFill>
        <p:spPr bwMode="auto">
          <a:xfrm>
            <a:off x="4953000" y="1493837"/>
            <a:ext cx="3788979" cy="4947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5014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2189EA-EF57-03A5-EF78-57D2BF1D0296}"/>
              </a:ext>
            </a:extLst>
          </p:cNvPr>
          <p:cNvSpPr>
            <a:spLocks noGrp="1"/>
          </p:cNvSpPr>
          <p:nvPr>
            <p:ph sz="quarter" idx="10"/>
          </p:nvPr>
        </p:nvSpPr>
        <p:spPr/>
        <p:txBody>
          <a:bodyPr/>
          <a:lstStyle/>
          <a:p>
            <a:r>
              <a:rPr lang="en-US" dirty="0"/>
              <a:t>4-bit binary up counter</a:t>
            </a:r>
            <a:endParaRPr lang="en-IN" dirty="0"/>
          </a:p>
        </p:txBody>
      </p:sp>
      <p:pic>
        <p:nvPicPr>
          <p:cNvPr id="4" name="Picture 3">
            <a:extLst>
              <a:ext uri="{FF2B5EF4-FFF2-40B4-BE49-F238E27FC236}">
                <a16:creationId xmlns:a16="http://schemas.microsoft.com/office/drawing/2014/main" id="{3EB8C097-03E3-5449-B9A9-938596D573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3473" t="27777" r="18750" b="14815"/>
          <a:stretch>
            <a:fillRect/>
          </a:stretch>
        </p:blipFill>
        <p:spPr bwMode="auto">
          <a:xfrm>
            <a:off x="4953000" y="1493837"/>
            <a:ext cx="3788979" cy="4947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Content Placeholder 4">
            <a:extLst>
              <a:ext uri="{FF2B5EF4-FFF2-40B4-BE49-F238E27FC236}">
                <a16:creationId xmlns:a16="http://schemas.microsoft.com/office/drawing/2014/main" id="{F8C1BE0D-5008-F5E4-41AC-89C415DDAA85}"/>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4417" r="56604" b="2824"/>
          <a:stretch>
            <a:fillRect/>
          </a:stretch>
        </p:blipFill>
        <p:spPr bwMode="auto">
          <a:xfrm>
            <a:off x="1447801" y="1483690"/>
            <a:ext cx="2743200" cy="49377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32456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4ABE0E-334D-D3BF-AEBE-DC2FDF9C527B}"/>
              </a:ext>
            </a:extLst>
          </p:cNvPr>
          <p:cNvSpPr>
            <a:spLocks noGrp="1"/>
          </p:cNvSpPr>
          <p:nvPr>
            <p:ph sz="quarter" idx="10"/>
          </p:nvPr>
        </p:nvSpPr>
        <p:spPr/>
        <p:txBody>
          <a:bodyPr/>
          <a:lstStyle/>
          <a:p>
            <a:r>
              <a:rPr lang="en-US" dirty="0"/>
              <a:t>4-bit ripple counters (other designs)</a:t>
            </a:r>
            <a:endParaRPr lang="en-IN" dirty="0"/>
          </a:p>
        </p:txBody>
      </p:sp>
      <p:pic>
        <p:nvPicPr>
          <p:cNvPr id="4" name="Content Placeholder 3">
            <a:extLst>
              <a:ext uri="{FF2B5EF4-FFF2-40B4-BE49-F238E27FC236}">
                <a16:creationId xmlns:a16="http://schemas.microsoft.com/office/drawing/2014/main" id="{04E08046-BCAA-A1C1-3059-4DFE854B539F}"/>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8744"/>
          <a:stretch>
            <a:fillRect/>
          </a:stretch>
        </p:blipFill>
        <p:spPr bwMode="auto">
          <a:xfrm>
            <a:off x="2286000" y="1371601"/>
            <a:ext cx="4572000" cy="4953000"/>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3">
            <a:extLst>
              <a:ext uri="{FF2B5EF4-FFF2-40B4-BE49-F238E27FC236}">
                <a16:creationId xmlns:a16="http://schemas.microsoft.com/office/drawing/2014/main" id="{55B1E46C-9FA6-91EC-A940-E520522FE61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1257" b="4531"/>
          <a:stretch>
            <a:fillRect/>
          </a:stretch>
        </p:blipFill>
        <p:spPr bwMode="auto">
          <a:xfrm>
            <a:off x="2286000" y="6324601"/>
            <a:ext cx="4572000" cy="228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6370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DD67CF8-C44B-8668-133E-836D772AAA16}"/>
              </a:ext>
            </a:extLst>
          </p:cNvPr>
          <p:cNvSpPr>
            <a:spLocks noGrp="1"/>
          </p:cNvSpPr>
          <p:nvPr>
            <p:ph idx="1"/>
          </p:nvPr>
        </p:nvSpPr>
        <p:spPr/>
        <p:txBody>
          <a:bodyPr/>
          <a:lstStyle/>
          <a:p>
            <a:pPr>
              <a:buFont typeface="Arial" panose="020B0604020202020204" pitchFamily="34" charset="0"/>
              <a:buChar char="•"/>
            </a:pPr>
            <a:r>
              <a:rPr lang="en-US" dirty="0"/>
              <a:t>Use direct set (S) instead of direct reset (R) to start at 1111 instead of 0000</a:t>
            </a:r>
          </a:p>
          <a:p>
            <a:pPr>
              <a:buFont typeface="Arial" panose="020B0604020202020204" pitchFamily="34" charset="0"/>
              <a:buChar char="•"/>
            </a:pPr>
            <a:r>
              <a:rPr lang="en-US" dirty="0"/>
              <a:t>Design the rest on your own…</a:t>
            </a:r>
          </a:p>
        </p:txBody>
      </p:sp>
      <p:sp>
        <p:nvSpPr>
          <p:cNvPr id="3" name="Content Placeholder 2">
            <a:extLst>
              <a:ext uri="{FF2B5EF4-FFF2-40B4-BE49-F238E27FC236}">
                <a16:creationId xmlns:a16="http://schemas.microsoft.com/office/drawing/2014/main" id="{9E4C25A9-2F77-B12E-D3CA-711B8207CFB0}"/>
              </a:ext>
            </a:extLst>
          </p:cNvPr>
          <p:cNvSpPr>
            <a:spLocks noGrp="1"/>
          </p:cNvSpPr>
          <p:nvPr>
            <p:ph sz="quarter" idx="10"/>
          </p:nvPr>
        </p:nvSpPr>
        <p:spPr/>
        <p:txBody>
          <a:bodyPr/>
          <a:lstStyle/>
          <a:p>
            <a:r>
              <a:rPr lang="en-US" dirty="0"/>
              <a:t>4-bit binary down counter</a:t>
            </a:r>
            <a:endParaRPr lang="en-IN" dirty="0"/>
          </a:p>
        </p:txBody>
      </p:sp>
    </p:spTree>
    <p:extLst>
      <p:ext uri="{BB962C8B-B14F-4D97-AF65-F5344CB8AC3E}">
        <p14:creationId xmlns:p14="http://schemas.microsoft.com/office/powerpoint/2010/main" val="3516933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27BC7FD-D1C1-5003-383F-514D4AD54AD7}"/>
              </a:ext>
            </a:extLst>
          </p:cNvPr>
          <p:cNvPicPr>
            <a:picLocks noGrp="1" noChangeAspect="1"/>
          </p:cNvPicPr>
          <p:nvPr>
            <p:ph idx="1"/>
          </p:nvPr>
        </p:nvPicPr>
        <p:blipFill>
          <a:blip r:embed="rId2"/>
          <a:stretch>
            <a:fillRect/>
          </a:stretch>
        </p:blipFill>
        <p:spPr bwMode="auto">
          <a:xfrm>
            <a:off x="762000" y="1495926"/>
            <a:ext cx="3796253" cy="175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10A72125-7BE2-9425-6145-8B34B93BB437}"/>
              </a:ext>
            </a:extLst>
          </p:cNvPr>
          <p:cNvSpPr>
            <a:spLocks noGrp="1"/>
          </p:cNvSpPr>
          <p:nvPr>
            <p:ph sz="quarter" idx="10"/>
          </p:nvPr>
        </p:nvSpPr>
        <p:spPr/>
        <p:txBody>
          <a:bodyPr/>
          <a:lstStyle/>
          <a:p>
            <a:r>
              <a:rPr lang="en-US" dirty="0"/>
              <a:t>BCD ripple counter</a:t>
            </a:r>
            <a:endParaRPr lang="en-IN" dirty="0"/>
          </a:p>
        </p:txBody>
      </p:sp>
      <p:pic>
        <p:nvPicPr>
          <p:cNvPr id="7" name="Picture 6">
            <a:extLst>
              <a:ext uri="{FF2B5EF4-FFF2-40B4-BE49-F238E27FC236}">
                <a16:creationId xmlns:a16="http://schemas.microsoft.com/office/drawing/2014/main" id="{8EB958F6-DED3-D0FA-CC72-AC37F8E3CB6F}"/>
              </a:ext>
            </a:extLst>
          </p:cNvPr>
          <p:cNvPicPr>
            <a:picLocks noChangeAspect="1"/>
          </p:cNvPicPr>
          <p:nvPr/>
        </p:nvPicPr>
        <p:blipFill>
          <a:blip r:embed="rId3"/>
          <a:stretch>
            <a:fillRect/>
          </a:stretch>
        </p:blipFill>
        <p:spPr>
          <a:xfrm>
            <a:off x="5506380" y="0"/>
            <a:ext cx="3637620" cy="6858000"/>
          </a:xfrm>
          <a:prstGeom prst="rect">
            <a:avLst/>
          </a:prstGeom>
        </p:spPr>
      </p:pic>
      <p:sp>
        <p:nvSpPr>
          <p:cNvPr id="9" name="TextBox 8">
            <a:extLst>
              <a:ext uri="{FF2B5EF4-FFF2-40B4-BE49-F238E27FC236}">
                <a16:creationId xmlns:a16="http://schemas.microsoft.com/office/drawing/2014/main" id="{6C86E15C-586C-161D-195C-255FEEBF20D4}"/>
              </a:ext>
            </a:extLst>
          </p:cNvPr>
          <p:cNvSpPr txBox="1"/>
          <p:nvPr/>
        </p:nvSpPr>
        <p:spPr>
          <a:xfrm>
            <a:off x="193616" y="3503639"/>
            <a:ext cx="5064184" cy="2585323"/>
          </a:xfrm>
          <a:prstGeom prst="rect">
            <a:avLst/>
          </a:prstGeom>
          <a:noFill/>
        </p:spPr>
        <p:txBody>
          <a:bodyPr wrap="square">
            <a:spAutoFit/>
          </a:bodyPr>
          <a:lstStyle/>
          <a:p>
            <a:pPr marL="285750" indent="-285750">
              <a:buFont typeface="Arial" panose="020B0604020202020204" pitchFamily="34" charset="0"/>
              <a:buChar char="•"/>
            </a:pPr>
            <a:r>
              <a:rPr lang="en-IN" dirty="0"/>
              <a:t>Q1 complemented on every clock edge</a:t>
            </a:r>
          </a:p>
          <a:p>
            <a:pPr marL="285750" indent="-285750">
              <a:buFont typeface="Arial" panose="020B0604020202020204" pitchFamily="34" charset="0"/>
              <a:buChar char="•"/>
            </a:pPr>
            <a:r>
              <a:rPr lang="en-IN" dirty="0"/>
              <a:t>Q2 complemented if Q8 = 0, Q1 goes from 1 to 0.</a:t>
            </a:r>
          </a:p>
          <a:p>
            <a:pPr marL="285750" indent="-285750">
              <a:buFont typeface="Arial" panose="020B0604020202020204" pitchFamily="34" charset="0"/>
              <a:buChar char="•"/>
            </a:pPr>
            <a:r>
              <a:rPr lang="en-IN" dirty="0"/>
              <a:t>Q2 cleared if Q8 = 1 and Q1 goes from 1 to 0</a:t>
            </a:r>
          </a:p>
          <a:p>
            <a:pPr marL="285750" indent="-285750">
              <a:buFont typeface="Arial" panose="020B0604020202020204" pitchFamily="34" charset="0"/>
              <a:buChar char="•"/>
            </a:pPr>
            <a:r>
              <a:rPr lang="en-IN" dirty="0"/>
              <a:t>Q4 complemented when Q2 goes from 1 to 0</a:t>
            </a:r>
          </a:p>
          <a:p>
            <a:pPr marL="285750" indent="-285750">
              <a:buFont typeface="Arial" panose="020B0604020202020204" pitchFamily="34" charset="0"/>
              <a:buChar char="•"/>
            </a:pPr>
            <a:r>
              <a:rPr lang="en-IN" dirty="0"/>
              <a:t>Q8 complemented when Q4Q2 = 11, Q1 goes from 1 to 0.</a:t>
            </a:r>
          </a:p>
          <a:p>
            <a:pPr marL="285750" indent="-285750">
              <a:buFont typeface="Arial" panose="020B0604020202020204" pitchFamily="34" charset="0"/>
              <a:buChar char="•"/>
            </a:pPr>
            <a:r>
              <a:rPr lang="en-IN" dirty="0"/>
              <a:t>Q8 cleared if either Q4 or Q2 is 0 and Q1 goes from 1 to 0</a:t>
            </a:r>
          </a:p>
        </p:txBody>
      </p:sp>
    </p:spTree>
    <p:extLst>
      <p:ext uri="{BB962C8B-B14F-4D97-AF65-F5344CB8AC3E}">
        <p14:creationId xmlns:p14="http://schemas.microsoft.com/office/powerpoint/2010/main" val="349742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AAAD8D7-4BEA-4FFE-9198-F46340479ADA}"/>
              </a:ext>
            </a:extLst>
          </p:cNvPr>
          <p:cNvPicPr>
            <a:picLocks noGrp="1" noChangeAspect="1"/>
          </p:cNvPicPr>
          <p:nvPr>
            <p:ph idx="1"/>
          </p:nvPr>
        </p:nvPicPr>
        <p:blipFill>
          <a:blip r:embed="rId2"/>
          <a:stretch>
            <a:fillRect/>
          </a:stretch>
        </p:blipFill>
        <p:spPr bwMode="auto">
          <a:xfrm>
            <a:off x="528094" y="2489817"/>
            <a:ext cx="7783011" cy="2534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D1CEABAE-5D27-F22E-D024-28198A99B55D}"/>
              </a:ext>
            </a:extLst>
          </p:cNvPr>
          <p:cNvSpPr>
            <a:spLocks noGrp="1"/>
          </p:cNvSpPr>
          <p:nvPr>
            <p:ph sz="quarter" idx="10"/>
          </p:nvPr>
        </p:nvSpPr>
        <p:spPr/>
        <p:txBody>
          <a:bodyPr/>
          <a:lstStyle/>
          <a:p>
            <a:r>
              <a:rPr lang="en-US" dirty="0"/>
              <a:t>The ‘ripple’ in BCD ripple counters</a:t>
            </a:r>
            <a:endParaRPr lang="en-IN" dirty="0"/>
          </a:p>
        </p:txBody>
      </p:sp>
    </p:spTree>
    <p:extLst>
      <p:ext uri="{BB962C8B-B14F-4D97-AF65-F5344CB8AC3E}">
        <p14:creationId xmlns:p14="http://schemas.microsoft.com/office/powerpoint/2010/main" val="3729703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428788-7BD3-5B43-29B5-66DEA8E150A2}"/>
              </a:ext>
            </a:extLst>
          </p:cNvPr>
          <p:cNvSpPr>
            <a:spLocks noGrp="1"/>
          </p:cNvSpPr>
          <p:nvPr>
            <p:ph idx="1"/>
          </p:nvPr>
        </p:nvSpPr>
        <p:spPr/>
        <p:txBody>
          <a:bodyPr/>
          <a:lstStyle/>
          <a:p>
            <a:pPr>
              <a:buFont typeface="Arial" panose="020B0604020202020204" pitchFamily="34" charset="0"/>
              <a:buChar char="•"/>
            </a:pPr>
            <a:r>
              <a:rPr lang="en-US" dirty="0"/>
              <a:t>Same design procedure as other sequential circuits</a:t>
            </a:r>
          </a:p>
          <a:p>
            <a:pPr>
              <a:buFont typeface="Arial" panose="020B0604020202020204" pitchFamily="34" charset="0"/>
              <a:buChar char="•"/>
            </a:pPr>
            <a:r>
              <a:rPr lang="en-US" dirty="0"/>
              <a:t>Inputs: clock and control signals (EN, Load </a:t>
            </a:r>
            <a:r>
              <a:rPr lang="en-US" dirty="0" err="1"/>
              <a:t>etc</a:t>
            </a:r>
            <a:r>
              <a:rPr lang="en-US" dirty="0"/>
              <a:t>)</a:t>
            </a:r>
          </a:p>
          <a:p>
            <a:pPr>
              <a:buFont typeface="Arial" panose="020B0604020202020204" pitchFamily="34" charset="0"/>
              <a:buChar char="•"/>
            </a:pPr>
            <a:r>
              <a:rPr lang="en-US" dirty="0"/>
              <a:t>Outputs: FF states</a:t>
            </a:r>
          </a:p>
          <a:p>
            <a:pPr>
              <a:buFont typeface="Arial" panose="020B0604020202020204" pitchFamily="34" charset="0"/>
              <a:buChar char="•"/>
            </a:pPr>
            <a:r>
              <a:rPr lang="en-US" dirty="0"/>
              <a:t>Most efficient implementations use T or JK FFs</a:t>
            </a:r>
            <a:endParaRPr lang="en-IN" dirty="0"/>
          </a:p>
        </p:txBody>
      </p:sp>
      <p:sp>
        <p:nvSpPr>
          <p:cNvPr id="3" name="Content Placeholder 2">
            <a:extLst>
              <a:ext uri="{FF2B5EF4-FFF2-40B4-BE49-F238E27FC236}">
                <a16:creationId xmlns:a16="http://schemas.microsoft.com/office/drawing/2014/main" id="{206F1295-45B5-5DDF-841A-E73AD41E604F}"/>
              </a:ext>
            </a:extLst>
          </p:cNvPr>
          <p:cNvSpPr>
            <a:spLocks noGrp="1"/>
          </p:cNvSpPr>
          <p:nvPr>
            <p:ph sz="quarter" idx="10"/>
          </p:nvPr>
        </p:nvSpPr>
        <p:spPr/>
        <p:txBody>
          <a:bodyPr/>
          <a:lstStyle/>
          <a:p>
            <a:r>
              <a:rPr lang="en-US" dirty="0"/>
              <a:t>Synchronous binary counters</a:t>
            </a:r>
            <a:endParaRPr lang="en-IN" dirty="0"/>
          </a:p>
        </p:txBody>
      </p:sp>
    </p:spTree>
    <p:extLst>
      <p:ext uri="{BB962C8B-B14F-4D97-AF65-F5344CB8AC3E}">
        <p14:creationId xmlns:p14="http://schemas.microsoft.com/office/powerpoint/2010/main" val="885183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35017A-2398-CA37-A6AC-F9B7FDFBDC15}"/>
              </a:ext>
            </a:extLst>
          </p:cNvPr>
          <p:cNvSpPr>
            <a:spLocks noGrp="1"/>
          </p:cNvSpPr>
          <p:nvPr>
            <p:ph sz="quarter" idx="10"/>
          </p:nvPr>
        </p:nvSpPr>
        <p:spPr/>
        <p:txBody>
          <a:bodyPr/>
          <a:lstStyle/>
          <a:p>
            <a:r>
              <a:rPr lang="en-US" dirty="0"/>
              <a:t>JK synchronous binary counter</a:t>
            </a:r>
            <a:endParaRPr lang="en-IN" dirty="0"/>
          </a:p>
        </p:txBody>
      </p:sp>
      <p:graphicFrame>
        <p:nvGraphicFramePr>
          <p:cNvPr id="4" name="Object 2">
            <a:extLst>
              <a:ext uri="{FF2B5EF4-FFF2-40B4-BE49-F238E27FC236}">
                <a16:creationId xmlns:a16="http://schemas.microsoft.com/office/drawing/2014/main" id="{82E79DE7-CF68-9E1C-074B-ED0A2B11E008}"/>
              </a:ext>
            </a:extLst>
          </p:cNvPr>
          <p:cNvGraphicFramePr>
            <a:graphicFrameLocks noChangeAspect="1"/>
          </p:cNvGraphicFramePr>
          <p:nvPr>
            <p:extLst>
              <p:ext uri="{D42A27DB-BD31-4B8C-83A1-F6EECF244321}">
                <p14:modId xmlns:p14="http://schemas.microsoft.com/office/powerpoint/2010/main" val="2853653504"/>
              </p:ext>
            </p:extLst>
          </p:nvPr>
        </p:nvGraphicFramePr>
        <p:xfrm>
          <a:off x="132314" y="1524000"/>
          <a:ext cx="3359284" cy="4650677"/>
        </p:xfrm>
        <a:graphic>
          <a:graphicData uri="http://schemas.openxmlformats.org/presentationml/2006/ole">
            <mc:AlternateContent xmlns:mc="http://schemas.openxmlformats.org/markup-compatibility/2006">
              <mc:Choice xmlns:v="urn:schemas-microsoft-com:vml" Requires="v">
                <p:oleObj name="Bitmap Image" r:id="rId2" imgW="7190476" imgH="4563112" progId="Paint.Picture">
                  <p:embed/>
                </p:oleObj>
              </mc:Choice>
              <mc:Fallback>
                <p:oleObj name="Bitmap Image" r:id="rId2" imgW="7190476" imgH="4563112" progId="Paint.Picture">
                  <p:embed/>
                  <p:pic>
                    <p:nvPicPr>
                      <p:cNvPr id="271362" name="Object 2">
                        <a:extLst>
                          <a:ext uri="{FF2B5EF4-FFF2-40B4-BE49-F238E27FC236}">
                            <a16:creationId xmlns:a16="http://schemas.microsoft.com/office/drawing/2014/main" id="{F06F1DDA-DB87-04DE-A801-CD9546B35B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51666"/>
                      <a:stretch>
                        <a:fillRect/>
                      </a:stretch>
                    </p:blipFill>
                    <p:spPr bwMode="auto">
                      <a:xfrm>
                        <a:off x="132314" y="1524000"/>
                        <a:ext cx="3359284" cy="4650677"/>
                      </a:xfrm>
                      <a:prstGeom prst="rect">
                        <a:avLst/>
                      </a:prstGeom>
                      <a:noFill/>
                      <a:ln>
                        <a:noFill/>
                      </a:ln>
                      <a:effectLst/>
                    </p:spPr>
                  </p:pic>
                </p:oleObj>
              </mc:Fallback>
            </mc:AlternateContent>
          </a:graphicData>
        </a:graphic>
      </p:graphicFrame>
      <p:pic>
        <p:nvPicPr>
          <p:cNvPr id="5" name="Picture 5">
            <a:extLst>
              <a:ext uri="{FF2B5EF4-FFF2-40B4-BE49-F238E27FC236}">
                <a16:creationId xmlns:a16="http://schemas.microsoft.com/office/drawing/2014/main" id="{86597830-26B5-2A34-BD28-C8204413CA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7762"/>
          <a:stretch>
            <a:fillRect/>
          </a:stretch>
        </p:blipFill>
        <p:spPr bwMode="auto">
          <a:xfrm>
            <a:off x="3491598" y="1524000"/>
            <a:ext cx="3654103" cy="46506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a:extLst>
              <a:ext uri="{FF2B5EF4-FFF2-40B4-BE49-F238E27FC236}">
                <a16:creationId xmlns:a16="http://schemas.microsoft.com/office/drawing/2014/main" id="{FD8D8AE2-93F3-501F-AADB-703EE7079B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24982" y="914400"/>
            <a:ext cx="1594518"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247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50AA25-2E4C-3130-020A-638FD47914E0}"/>
              </a:ext>
            </a:extLst>
          </p:cNvPr>
          <p:cNvSpPr>
            <a:spLocks noGrp="1"/>
          </p:cNvSpPr>
          <p:nvPr>
            <p:ph sz="quarter" idx="10"/>
          </p:nvPr>
        </p:nvSpPr>
        <p:spPr/>
        <p:txBody>
          <a:bodyPr/>
          <a:lstStyle/>
          <a:p>
            <a:r>
              <a:rPr lang="en-US" dirty="0"/>
              <a:t>JK synchronous binary counter</a:t>
            </a:r>
            <a:endParaRPr lang="en-IN" dirty="0"/>
          </a:p>
        </p:txBody>
      </p:sp>
      <p:graphicFrame>
        <p:nvGraphicFramePr>
          <p:cNvPr id="4" name="Object 7">
            <a:extLst>
              <a:ext uri="{FF2B5EF4-FFF2-40B4-BE49-F238E27FC236}">
                <a16:creationId xmlns:a16="http://schemas.microsoft.com/office/drawing/2014/main" id="{E8B45334-942F-C8A1-3FF6-D83E19F41A5C}"/>
              </a:ext>
            </a:extLst>
          </p:cNvPr>
          <p:cNvGraphicFramePr>
            <a:graphicFrameLocks noChangeAspect="1"/>
          </p:cNvGraphicFramePr>
          <p:nvPr>
            <p:extLst>
              <p:ext uri="{D42A27DB-BD31-4B8C-83A1-F6EECF244321}">
                <p14:modId xmlns:p14="http://schemas.microsoft.com/office/powerpoint/2010/main" val="1331041348"/>
              </p:ext>
            </p:extLst>
          </p:nvPr>
        </p:nvGraphicFramePr>
        <p:xfrm>
          <a:off x="4781238" y="2292926"/>
          <a:ext cx="3879273" cy="2355273"/>
        </p:xfrm>
        <a:graphic>
          <a:graphicData uri="http://schemas.openxmlformats.org/presentationml/2006/ole">
            <mc:AlternateContent xmlns:mc="http://schemas.openxmlformats.org/markup-compatibility/2006">
              <mc:Choice xmlns:v="urn:schemas-microsoft-com:vml" Requires="v">
                <p:oleObj name="Bitmap Image" r:id="rId2" imgW="5942857" imgH="3457143" progId="Paint.Picture">
                  <p:embed/>
                </p:oleObj>
              </mc:Choice>
              <mc:Fallback>
                <p:oleObj name="Bitmap Image" r:id="rId2" imgW="5942857" imgH="3457143" progId="Paint.Picture">
                  <p:embed/>
                  <p:pic>
                    <p:nvPicPr>
                      <p:cNvPr id="268295" name="Object 7">
                        <a:extLst>
                          <a:ext uri="{FF2B5EF4-FFF2-40B4-BE49-F238E27FC236}">
                            <a16:creationId xmlns:a16="http://schemas.microsoft.com/office/drawing/2014/main" id="{A2EEE94F-12B0-0F3D-1F9B-E6E29D073F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383" t="7317" r="6383" b="4878"/>
                      <a:stretch>
                        <a:fillRect/>
                      </a:stretch>
                    </p:blipFill>
                    <p:spPr bwMode="auto">
                      <a:xfrm>
                        <a:off x="4781238" y="2292926"/>
                        <a:ext cx="3879273" cy="2355273"/>
                      </a:xfrm>
                      <a:prstGeom prst="rect">
                        <a:avLst/>
                      </a:prstGeom>
                      <a:noFill/>
                      <a:ln>
                        <a:noFill/>
                      </a:ln>
                      <a:effectLst/>
                    </p:spPr>
                  </p:pic>
                </p:oleObj>
              </mc:Fallback>
            </mc:AlternateContent>
          </a:graphicData>
        </a:graphic>
      </p:graphicFrame>
      <p:pic>
        <p:nvPicPr>
          <p:cNvPr id="5" name="Picture 9">
            <a:extLst>
              <a:ext uri="{FF2B5EF4-FFF2-40B4-BE49-F238E27FC236}">
                <a16:creationId xmlns:a16="http://schemas.microsoft.com/office/drawing/2014/main" id="{50003078-E4E6-DFFD-8D05-FF8681C693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52315"/>
          <a:stretch>
            <a:fillRect/>
          </a:stretch>
        </p:blipFill>
        <p:spPr bwMode="auto">
          <a:xfrm>
            <a:off x="340856" y="1676400"/>
            <a:ext cx="2909455" cy="4572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4">
            <a:extLst>
              <a:ext uri="{FF2B5EF4-FFF2-40B4-BE49-F238E27FC236}">
                <a16:creationId xmlns:a16="http://schemas.microsoft.com/office/drawing/2014/main" id="{4B95704E-E7BC-0FD5-2209-5A7B79D9C8A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428" t="16667" r="39287"/>
          <a:stretch>
            <a:fillRect/>
          </a:stretch>
        </p:blipFill>
        <p:spPr bwMode="auto">
          <a:xfrm>
            <a:off x="3402712" y="2438400"/>
            <a:ext cx="1016888"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6803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ED906-1687-794C-D3C7-8EC3D62CE75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6F8DC4-ECB1-1215-33EF-627DD7616669}"/>
              </a:ext>
            </a:extLst>
          </p:cNvPr>
          <p:cNvSpPr>
            <a:spLocks noGrp="1"/>
          </p:cNvSpPr>
          <p:nvPr>
            <p:ph sz="quarter" idx="10"/>
          </p:nvPr>
        </p:nvSpPr>
        <p:spPr/>
        <p:txBody>
          <a:bodyPr/>
          <a:lstStyle/>
          <a:p>
            <a:r>
              <a:rPr lang="en-US" dirty="0"/>
              <a:t>JK synchronous binary counter</a:t>
            </a:r>
            <a:endParaRPr lang="en-IN" dirty="0"/>
          </a:p>
        </p:txBody>
      </p:sp>
      <p:pic>
        <p:nvPicPr>
          <p:cNvPr id="5" name="Picture 9">
            <a:extLst>
              <a:ext uri="{FF2B5EF4-FFF2-40B4-BE49-F238E27FC236}">
                <a16:creationId xmlns:a16="http://schemas.microsoft.com/office/drawing/2014/main" id="{59115B3E-B4C4-5E02-ED4E-9CA21F695C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340856" y="1676400"/>
            <a:ext cx="2909455" cy="4572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4">
            <a:extLst>
              <a:ext uri="{FF2B5EF4-FFF2-40B4-BE49-F238E27FC236}">
                <a16:creationId xmlns:a16="http://schemas.microsoft.com/office/drawing/2014/main" id="{3EC71BD0-4839-2BA1-09DA-0529112C5B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410" b="1313"/>
          <a:stretch>
            <a:fillRect/>
          </a:stretch>
        </p:blipFill>
        <p:spPr bwMode="auto">
          <a:xfrm>
            <a:off x="3402712" y="2475570"/>
            <a:ext cx="859909" cy="371112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Object 7">
            <a:extLst>
              <a:ext uri="{FF2B5EF4-FFF2-40B4-BE49-F238E27FC236}">
                <a16:creationId xmlns:a16="http://schemas.microsoft.com/office/drawing/2014/main" id="{381C7F33-9C20-CC87-5477-FB92A3A0F973}"/>
              </a:ext>
            </a:extLst>
          </p:cNvPr>
          <p:cNvGraphicFramePr>
            <a:graphicFrameLocks noChangeAspect="1"/>
          </p:cNvGraphicFramePr>
          <p:nvPr>
            <p:extLst>
              <p:ext uri="{D42A27DB-BD31-4B8C-83A1-F6EECF244321}">
                <p14:modId xmlns:p14="http://schemas.microsoft.com/office/powerpoint/2010/main" val="3901483659"/>
              </p:ext>
            </p:extLst>
          </p:nvPr>
        </p:nvGraphicFramePr>
        <p:xfrm>
          <a:off x="5105400" y="2591368"/>
          <a:ext cx="3424419" cy="1675264"/>
        </p:xfrm>
        <a:graphic>
          <a:graphicData uri="http://schemas.openxmlformats.org/presentationml/2006/ole">
            <mc:AlternateContent xmlns:mc="http://schemas.openxmlformats.org/markup-compatibility/2006">
              <mc:Choice xmlns:v="urn:schemas-microsoft-com:vml" Requires="v">
                <p:oleObj name="Bitmap Image" r:id="rId4" imgW="5495238" imgH="2486372" progId="Paint.Picture">
                  <p:embed/>
                </p:oleObj>
              </mc:Choice>
              <mc:Fallback>
                <p:oleObj name="Bitmap Image" r:id="rId4" imgW="5495238" imgH="2486372" progId="Paint.Picture">
                  <p:embed/>
                  <p:pic>
                    <p:nvPicPr>
                      <p:cNvPr id="269319" name="Object 7">
                        <a:extLst>
                          <a:ext uri="{FF2B5EF4-FFF2-40B4-BE49-F238E27FC236}">
                            <a16:creationId xmlns:a16="http://schemas.microsoft.com/office/drawing/2014/main" id="{DB9F7CCE-AA60-C3D4-5C3A-B2347ED631B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7805" t="6902" r="7903" b="6830"/>
                      <a:stretch>
                        <a:fillRect/>
                      </a:stretch>
                    </p:blipFill>
                    <p:spPr bwMode="auto">
                      <a:xfrm>
                        <a:off x="5105400" y="2591368"/>
                        <a:ext cx="3424419" cy="167526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869356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3E649-446D-EDF5-80C7-DE0C0EECBA5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8F3768-01BA-BE60-6A73-D390B8CAC1FE}"/>
              </a:ext>
            </a:extLst>
          </p:cNvPr>
          <p:cNvSpPr>
            <a:spLocks noGrp="1"/>
          </p:cNvSpPr>
          <p:nvPr>
            <p:ph sz="quarter" idx="10"/>
          </p:nvPr>
        </p:nvSpPr>
        <p:spPr/>
        <p:txBody>
          <a:bodyPr/>
          <a:lstStyle/>
          <a:p>
            <a:r>
              <a:rPr lang="en-US" dirty="0"/>
              <a:t>JK synchronous binary counter</a:t>
            </a:r>
            <a:endParaRPr lang="en-IN" dirty="0"/>
          </a:p>
        </p:txBody>
      </p:sp>
      <p:pic>
        <p:nvPicPr>
          <p:cNvPr id="5" name="Picture 9">
            <a:extLst>
              <a:ext uri="{FF2B5EF4-FFF2-40B4-BE49-F238E27FC236}">
                <a16:creationId xmlns:a16="http://schemas.microsoft.com/office/drawing/2014/main" id="{9374F288-9895-EE50-1758-7DA6A3EB21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340856" y="1676400"/>
            <a:ext cx="2909455" cy="4572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4">
            <a:extLst>
              <a:ext uri="{FF2B5EF4-FFF2-40B4-BE49-F238E27FC236}">
                <a16:creationId xmlns:a16="http://schemas.microsoft.com/office/drawing/2014/main" id="{37571118-C80B-C92D-2D22-510C253B9F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147" b="2328"/>
          <a:stretch>
            <a:fillRect/>
          </a:stretch>
        </p:blipFill>
        <p:spPr bwMode="auto">
          <a:xfrm>
            <a:off x="3429000" y="2402716"/>
            <a:ext cx="878385" cy="373342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Object 6">
            <a:extLst>
              <a:ext uri="{FF2B5EF4-FFF2-40B4-BE49-F238E27FC236}">
                <a16:creationId xmlns:a16="http://schemas.microsoft.com/office/drawing/2014/main" id="{99B681A9-B901-6C59-1FB0-77B421F6E8B6}"/>
              </a:ext>
            </a:extLst>
          </p:cNvPr>
          <p:cNvGraphicFramePr>
            <a:graphicFrameLocks noChangeAspect="1"/>
          </p:cNvGraphicFramePr>
          <p:nvPr>
            <p:extLst>
              <p:ext uri="{D42A27DB-BD31-4B8C-83A1-F6EECF244321}">
                <p14:modId xmlns:p14="http://schemas.microsoft.com/office/powerpoint/2010/main" val="3807267868"/>
              </p:ext>
            </p:extLst>
          </p:nvPr>
        </p:nvGraphicFramePr>
        <p:xfrm>
          <a:off x="5029200" y="2557718"/>
          <a:ext cx="3642211" cy="1742564"/>
        </p:xfrm>
        <a:graphic>
          <a:graphicData uri="http://schemas.openxmlformats.org/presentationml/2006/ole">
            <mc:AlternateContent xmlns:mc="http://schemas.openxmlformats.org/markup-compatibility/2006">
              <mc:Choice xmlns:v="urn:schemas-microsoft-com:vml" Requires="v">
                <p:oleObj name="Bitmap Image" r:id="rId4" imgW="5380952" imgH="2419048" progId="Paint.Picture">
                  <p:embed/>
                </p:oleObj>
              </mc:Choice>
              <mc:Fallback>
                <p:oleObj name="Bitmap Image" r:id="rId4" imgW="5380952" imgH="2419048" progId="Paint.Picture">
                  <p:embed/>
                  <p:pic>
                    <p:nvPicPr>
                      <p:cNvPr id="270342" name="Object 6">
                        <a:extLst>
                          <a:ext uri="{FF2B5EF4-FFF2-40B4-BE49-F238E27FC236}">
                            <a16:creationId xmlns:a16="http://schemas.microsoft.com/office/drawing/2014/main" id="{7CB0D56A-9C46-40B9-D747-5E98F3BFCD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7458" t="4149" r="6760" b="4581"/>
                      <a:stretch>
                        <a:fillRect/>
                      </a:stretch>
                    </p:blipFill>
                    <p:spPr bwMode="auto">
                      <a:xfrm>
                        <a:off x="5029200" y="2557718"/>
                        <a:ext cx="3642211" cy="174256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979508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Content Placeholder 80">
            <a:extLst>
              <a:ext uri="{FF2B5EF4-FFF2-40B4-BE49-F238E27FC236}">
                <a16:creationId xmlns:a16="http://schemas.microsoft.com/office/drawing/2014/main" id="{1361B5C3-E0F4-E683-D649-E0C81CFB487B}"/>
              </a:ext>
            </a:extLst>
          </p:cNvPr>
          <p:cNvPicPr>
            <a:picLocks noGrp="1" noChangeAspect="1"/>
          </p:cNvPicPr>
          <p:nvPr>
            <p:ph idx="1"/>
          </p:nvPr>
        </p:nvPicPr>
        <p:blipFill>
          <a:blip r:embed="rId2">
            <a:duotone>
              <a:prstClr val="black"/>
              <a:schemeClr val="tx1">
                <a:tint val="45000"/>
                <a:satMod val="400000"/>
              </a:schemeClr>
            </a:duotone>
            <a:extLst>
              <a:ext uri="{BEBA8EAE-BF5A-486C-A8C5-ECC9F3942E4B}">
                <a14:imgProps xmlns:a14="http://schemas.microsoft.com/office/drawing/2010/main">
                  <a14:imgLayer r:embed="rId3">
                    <a14:imgEffect>
                      <a14:colorTemperature colorTemp="6400"/>
                    </a14:imgEffect>
                    <a14:imgEffect>
                      <a14:saturation sat="400000"/>
                    </a14:imgEffect>
                    <a14:imgEffect>
                      <a14:brightnessContrast bright="-100000" contrast="100000"/>
                    </a14:imgEffect>
                  </a14:imgLayer>
                </a14:imgProps>
              </a:ext>
            </a:extLst>
          </a:blip>
          <a:stretch>
            <a:fillRect/>
          </a:stretch>
        </p:blipFill>
        <p:spPr>
          <a:xfrm>
            <a:off x="1600200" y="1600200"/>
            <a:ext cx="5575313" cy="4708276"/>
          </a:xfrm>
          <a:prstGeom prst="rect">
            <a:avLst/>
          </a:prstGeom>
        </p:spPr>
      </p:pic>
      <p:sp>
        <p:nvSpPr>
          <p:cNvPr id="3" name="Content Placeholder 2">
            <a:extLst>
              <a:ext uri="{FF2B5EF4-FFF2-40B4-BE49-F238E27FC236}">
                <a16:creationId xmlns:a16="http://schemas.microsoft.com/office/drawing/2014/main" id="{4501DCE2-873E-F58C-D617-C0719CF8A9B1}"/>
              </a:ext>
            </a:extLst>
          </p:cNvPr>
          <p:cNvSpPr>
            <a:spLocks noGrp="1"/>
          </p:cNvSpPr>
          <p:nvPr>
            <p:ph sz="quarter" idx="10"/>
          </p:nvPr>
        </p:nvSpPr>
        <p:spPr/>
        <p:txBody>
          <a:bodyPr/>
          <a:lstStyle/>
          <a:p>
            <a:r>
              <a:rPr lang="en-US" dirty="0"/>
              <a:t>JK synchronous binary counter</a:t>
            </a:r>
            <a:endParaRPr lang="en-IN" dirty="0"/>
          </a:p>
        </p:txBody>
      </p:sp>
    </p:spTree>
    <p:extLst>
      <p:ext uri="{BB962C8B-B14F-4D97-AF65-F5344CB8AC3E}">
        <p14:creationId xmlns:p14="http://schemas.microsoft.com/office/powerpoint/2010/main" val="2745809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55A94C-45D4-B94A-0E59-72975798A983}"/>
              </a:ext>
            </a:extLst>
          </p:cNvPr>
          <p:cNvSpPr>
            <a:spLocks noGrp="1"/>
          </p:cNvSpPr>
          <p:nvPr>
            <p:ph sz="quarter" idx="10"/>
          </p:nvPr>
        </p:nvSpPr>
        <p:spPr/>
        <p:txBody>
          <a:bodyPr/>
          <a:lstStyle/>
          <a:p>
            <a:r>
              <a:rPr lang="en-US" dirty="0"/>
              <a:t>JK synchronous binary counter</a:t>
            </a:r>
            <a:r>
              <a:rPr lang="en-IN" dirty="0"/>
              <a:t> with EN and CO</a:t>
            </a:r>
          </a:p>
        </p:txBody>
      </p:sp>
      <p:graphicFrame>
        <p:nvGraphicFramePr>
          <p:cNvPr id="4" name="Object 2">
            <a:extLst>
              <a:ext uri="{FF2B5EF4-FFF2-40B4-BE49-F238E27FC236}">
                <a16:creationId xmlns:a16="http://schemas.microsoft.com/office/drawing/2014/main" id="{9CC82164-F3AA-5AF1-A4E1-BCB261B789E6}"/>
              </a:ext>
            </a:extLst>
          </p:cNvPr>
          <p:cNvGraphicFramePr>
            <a:graphicFrameLocks noGrp="1" noChangeAspect="1"/>
          </p:cNvGraphicFramePr>
          <p:nvPr>
            <p:ph idx="1"/>
            <p:extLst>
              <p:ext uri="{D42A27DB-BD31-4B8C-83A1-F6EECF244321}">
                <p14:modId xmlns:p14="http://schemas.microsoft.com/office/powerpoint/2010/main" val="2353927893"/>
              </p:ext>
            </p:extLst>
          </p:nvPr>
        </p:nvGraphicFramePr>
        <p:xfrm>
          <a:off x="304800" y="1676400"/>
          <a:ext cx="4381500" cy="4381500"/>
        </p:xfrm>
        <a:graphic>
          <a:graphicData uri="http://schemas.openxmlformats.org/presentationml/2006/ole">
            <mc:AlternateContent xmlns:mc="http://schemas.openxmlformats.org/markup-compatibility/2006">
              <mc:Choice xmlns:v="urn:schemas-microsoft-com:vml" Requires="v">
                <p:oleObj name="Bitmap Image" r:id="rId2" imgW="4382112" imgH="4382112" progId="Paint.Picture">
                  <p:embed/>
                </p:oleObj>
              </mc:Choice>
              <mc:Fallback>
                <p:oleObj name="Bitmap Image" r:id="rId2" imgW="4382112" imgH="4382112" progId="Paint.Picture">
                  <p:embed/>
                  <p:pic>
                    <p:nvPicPr>
                      <p:cNvPr id="272386" name="Object 2">
                        <a:extLst>
                          <a:ext uri="{FF2B5EF4-FFF2-40B4-BE49-F238E27FC236}">
                            <a16:creationId xmlns:a16="http://schemas.microsoft.com/office/drawing/2014/main" id="{724C0B58-8AF6-0AB0-7470-3BC593CF87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676400"/>
                        <a:ext cx="4381500" cy="438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5">
            <a:extLst>
              <a:ext uri="{FF2B5EF4-FFF2-40B4-BE49-F238E27FC236}">
                <a16:creationId xmlns:a16="http://schemas.microsoft.com/office/drawing/2014/main" id="{F6E28B40-62BF-F4FD-E98B-248CA560DD55}"/>
              </a:ext>
            </a:extLst>
          </p:cNvPr>
          <p:cNvSpPr txBox="1">
            <a:spLocks noChangeArrowheads="1"/>
          </p:cNvSpPr>
          <p:nvPr/>
        </p:nvSpPr>
        <p:spPr bwMode="auto">
          <a:xfrm>
            <a:off x="5410200" y="1649663"/>
            <a:ext cx="2971800" cy="5345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dirty="0">
                <a:latin typeface="+mn-lt"/>
              </a:rPr>
              <a:t>EN = enable control signal, when 0 counter remains in the same state, when 1 it counts</a:t>
            </a:r>
          </a:p>
          <a:p>
            <a:endParaRPr lang="en-US" altLang="en-US" sz="1600" dirty="0">
              <a:latin typeface="+mn-lt"/>
            </a:endParaRPr>
          </a:p>
          <a:p>
            <a:r>
              <a:rPr lang="en-US" altLang="en-US" sz="1600" dirty="0"/>
              <a:t>J</a:t>
            </a:r>
            <a:r>
              <a:rPr lang="en-US" altLang="en-US" sz="1600" baseline="-25000" dirty="0"/>
              <a:t>Q0 </a:t>
            </a:r>
            <a:r>
              <a:rPr lang="en-US" altLang="en-US" sz="1600" dirty="0"/>
              <a:t>= 1 · EN</a:t>
            </a:r>
          </a:p>
          <a:p>
            <a:r>
              <a:rPr lang="en-US" altLang="en-US" sz="1600" dirty="0"/>
              <a:t>K</a:t>
            </a:r>
            <a:r>
              <a:rPr lang="en-US" altLang="en-US" sz="1600" baseline="-25000" dirty="0"/>
              <a:t>Q0 </a:t>
            </a:r>
            <a:r>
              <a:rPr lang="en-US" altLang="en-US" sz="1600" dirty="0"/>
              <a:t>= 1 · EN</a:t>
            </a:r>
          </a:p>
          <a:p>
            <a:r>
              <a:rPr lang="en-US" altLang="en-US" sz="1600" dirty="0"/>
              <a:t>J</a:t>
            </a:r>
            <a:r>
              <a:rPr lang="en-US" altLang="en-US" sz="1600" baseline="-25000" dirty="0"/>
              <a:t>Q1 </a:t>
            </a:r>
            <a:r>
              <a:rPr lang="en-US" altLang="en-US" sz="1600" dirty="0"/>
              <a:t>= Q</a:t>
            </a:r>
            <a:r>
              <a:rPr lang="en-US" altLang="en-US" sz="1600" baseline="-25000" dirty="0"/>
              <a:t>0 </a:t>
            </a:r>
            <a:r>
              <a:rPr lang="en-US" altLang="en-US" sz="1600" dirty="0"/>
              <a:t>· EN</a:t>
            </a:r>
          </a:p>
          <a:p>
            <a:r>
              <a:rPr lang="en-US" altLang="en-US" sz="1600" dirty="0"/>
              <a:t>K</a:t>
            </a:r>
            <a:r>
              <a:rPr lang="en-US" altLang="en-US" sz="1600" baseline="-25000" dirty="0"/>
              <a:t>Q1 </a:t>
            </a:r>
            <a:r>
              <a:rPr lang="en-US" altLang="en-US" sz="1600" dirty="0"/>
              <a:t>= Q</a:t>
            </a:r>
            <a:r>
              <a:rPr lang="en-US" altLang="en-US" sz="1600" baseline="-25000" dirty="0"/>
              <a:t>0 </a:t>
            </a:r>
            <a:r>
              <a:rPr lang="en-US" altLang="en-US" sz="1600" dirty="0"/>
              <a:t>· EN</a:t>
            </a:r>
            <a:endParaRPr lang="en-US" altLang="en-US" sz="1600" baseline="-25000" dirty="0"/>
          </a:p>
          <a:p>
            <a:r>
              <a:rPr lang="en-US" altLang="en-US" sz="1600" dirty="0"/>
              <a:t>J</a:t>
            </a:r>
            <a:r>
              <a:rPr lang="en-US" altLang="en-US" sz="1600" baseline="-25000" dirty="0"/>
              <a:t>Q2 </a:t>
            </a:r>
            <a:r>
              <a:rPr lang="en-US" altLang="en-US" sz="1600" dirty="0"/>
              <a:t>= Q</a:t>
            </a:r>
            <a:r>
              <a:rPr lang="en-US" altLang="en-US" sz="1600" baseline="-25000" dirty="0"/>
              <a:t>0 </a:t>
            </a:r>
            <a:r>
              <a:rPr lang="en-US" altLang="en-US" sz="1600" dirty="0"/>
              <a:t>Q</a:t>
            </a:r>
            <a:r>
              <a:rPr lang="en-US" altLang="en-US" sz="1600" baseline="-25000" dirty="0"/>
              <a:t>1 </a:t>
            </a:r>
            <a:r>
              <a:rPr lang="en-US" altLang="en-US" sz="1600" dirty="0"/>
              <a:t>· EN</a:t>
            </a:r>
          </a:p>
          <a:p>
            <a:r>
              <a:rPr lang="en-US" altLang="en-US" sz="1600" dirty="0"/>
              <a:t>K</a:t>
            </a:r>
            <a:r>
              <a:rPr lang="en-US" altLang="en-US" sz="1600" baseline="-25000" dirty="0"/>
              <a:t>Q2 </a:t>
            </a:r>
            <a:r>
              <a:rPr lang="en-US" altLang="en-US" sz="1600" dirty="0"/>
              <a:t>= Q</a:t>
            </a:r>
            <a:r>
              <a:rPr lang="en-US" altLang="en-US" sz="1600" baseline="-25000" dirty="0"/>
              <a:t>0 </a:t>
            </a:r>
            <a:r>
              <a:rPr lang="en-US" altLang="en-US" sz="1600" dirty="0"/>
              <a:t>Q</a:t>
            </a:r>
            <a:r>
              <a:rPr lang="en-US" altLang="en-US" sz="1600" baseline="-25000" dirty="0"/>
              <a:t>1 </a:t>
            </a:r>
            <a:r>
              <a:rPr lang="en-US" altLang="en-US" sz="1600" dirty="0"/>
              <a:t>· EN</a:t>
            </a:r>
            <a:endParaRPr lang="en-US" altLang="en-US" sz="1600" baseline="-25000" dirty="0"/>
          </a:p>
          <a:p>
            <a:r>
              <a:rPr lang="en-US" altLang="en-US" sz="1600" dirty="0"/>
              <a:t>J</a:t>
            </a:r>
            <a:r>
              <a:rPr lang="en-US" altLang="en-US" sz="1600" baseline="-25000" dirty="0"/>
              <a:t>Q3 </a:t>
            </a:r>
            <a:r>
              <a:rPr lang="en-US" altLang="en-US" sz="1600" dirty="0"/>
              <a:t>= Q</a:t>
            </a:r>
            <a:r>
              <a:rPr lang="en-US" altLang="en-US" sz="1600" baseline="-25000" dirty="0"/>
              <a:t>0 </a:t>
            </a:r>
            <a:r>
              <a:rPr lang="en-US" altLang="en-US" sz="1600" dirty="0"/>
              <a:t>Q</a:t>
            </a:r>
            <a:r>
              <a:rPr lang="en-US" altLang="en-US" sz="1600" baseline="-25000" dirty="0"/>
              <a:t>1 </a:t>
            </a:r>
            <a:r>
              <a:rPr lang="en-US" altLang="en-US" sz="1600" dirty="0"/>
              <a:t>Q</a:t>
            </a:r>
            <a:r>
              <a:rPr lang="en-US" altLang="en-US" sz="1600" baseline="-25000" dirty="0"/>
              <a:t>2 </a:t>
            </a:r>
            <a:r>
              <a:rPr lang="en-US" altLang="en-US" sz="1600" dirty="0"/>
              <a:t>· EN</a:t>
            </a:r>
          </a:p>
          <a:p>
            <a:r>
              <a:rPr lang="en-US" altLang="en-US" sz="1600" dirty="0"/>
              <a:t>K</a:t>
            </a:r>
            <a:r>
              <a:rPr lang="en-US" altLang="en-US" sz="1600" baseline="-25000" dirty="0"/>
              <a:t>Q3 </a:t>
            </a:r>
            <a:r>
              <a:rPr lang="en-US" altLang="en-US" sz="1600" dirty="0"/>
              <a:t>= Q</a:t>
            </a:r>
            <a:r>
              <a:rPr lang="en-US" altLang="en-US" sz="1600" baseline="-25000" dirty="0"/>
              <a:t>0 </a:t>
            </a:r>
            <a:r>
              <a:rPr lang="en-US" altLang="en-US" sz="1600" dirty="0"/>
              <a:t>Q</a:t>
            </a:r>
            <a:r>
              <a:rPr lang="en-US" altLang="en-US" sz="1600" baseline="-25000" dirty="0"/>
              <a:t>1 </a:t>
            </a:r>
            <a:r>
              <a:rPr lang="en-US" altLang="en-US" sz="1600" dirty="0"/>
              <a:t>Q</a:t>
            </a:r>
            <a:r>
              <a:rPr lang="en-US" altLang="en-US" sz="1600" baseline="-25000" dirty="0"/>
              <a:t>2 </a:t>
            </a:r>
            <a:r>
              <a:rPr lang="en-US" altLang="en-US" sz="1600" dirty="0"/>
              <a:t>· EN</a:t>
            </a:r>
          </a:p>
          <a:p>
            <a:r>
              <a:rPr lang="en-US" altLang="en-US" sz="1600" dirty="0"/>
              <a:t>C0  = Q</a:t>
            </a:r>
            <a:r>
              <a:rPr lang="en-US" altLang="en-US" sz="1600" baseline="-25000" dirty="0"/>
              <a:t>0 </a:t>
            </a:r>
            <a:r>
              <a:rPr lang="en-US" altLang="en-US" sz="1600" dirty="0"/>
              <a:t>Q</a:t>
            </a:r>
            <a:r>
              <a:rPr lang="en-US" altLang="en-US" sz="1600" baseline="-25000" dirty="0"/>
              <a:t>1 </a:t>
            </a:r>
            <a:r>
              <a:rPr lang="en-US" altLang="en-US" sz="1600" dirty="0"/>
              <a:t>Q</a:t>
            </a:r>
            <a:r>
              <a:rPr lang="en-US" altLang="en-US" sz="1600" baseline="-25000" dirty="0"/>
              <a:t>2 </a:t>
            </a:r>
            <a:r>
              <a:rPr lang="en-US" altLang="en-US" sz="1600" dirty="0"/>
              <a:t>Q</a:t>
            </a:r>
            <a:r>
              <a:rPr lang="en-US" altLang="en-US" sz="1600" baseline="-25000" dirty="0"/>
              <a:t>3 </a:t>
            </a:r>
            <a:r>
              <a:rPr lang="en-US" altLang="en-US" sz="1600" dirty="0"/>
              <a:t>· EN</a:t>
            </a:r>
          </a:p>
          <a:p>
            <a:endParaRPr lang="en-US" altLang="en-US" sz="1600" dirty="0">
              <a:latin typeface="+mn-lt"/>
            </a:endParaRPr>
          </a:p>
          <a:p>
            <a:endParaRPr lang="en-US" altLang="en-US" sz="1600" dirty="0">
              <a:latin typeface="+mn-lt"/>
            </a:endParaRPr>
          </a:p>
          <a:p>
            <a:r>
              <a:rPr lang="en-US" altLang="en-US" sz="1600" dirty="0">
                <a:latin typeface="+mn-lt"/>
              </a:rPr>
              <a:t>CO = carry output signal:</a:t>
            </a:r>
          </a:p>
          <a:p>
            <a:r>
              <a:rPr lang="en-US" altLang="en-US" sz="1600" dirty="0">
                <a:latin typeface="+mn-lt"/>
              </a:rPr>
              <a:t>used to extend the counter to more stages</a:t>
            </a:r>
          </a:p>
          <a:p>
            <a:r>
              <a:rPr lang="en-US" altLang="en-US" sz="1600" dirty="0">
                <a:latin typeface="+mn-lt"/>
              </a:rPr>
              <a:t>                                         …how?</a:t>
            </a:r>
          </a:p>
          <a:p>
            <a:endParaRPr lang="en-US" altLang="en-US" sz="1600" dirty="0">
              <a:latin typeface="+mn-lt"/>
            </a:endParaRPr>
          </a:p>
          <a:p>
            <a:endParaRPr lang="en-US" altLang="en-US" sz="1600" baseline="-25000" dirty="0">
              <a:latin typeface="+mn-lt"/>
            </a:endParaRPr>
          </a:p>
          <a:p>
            <a:endParaRPr lang="en-US" altLang="en-US" sz="1600" baseline="-25000" dirty="0">
              <a:latin typeface="+mn-lt"/>
            </a:endParaRPr>
          </a:p>
        </p:txBody>
      </p:sp>
    </p:spTree>
    <p:extLst>
      <p:ext uri="{BB962C8B-B14F-4D97-AF65-F5344CB8AC3E}">
        <p14:creationId xmlns:p14="http://schemas.microsoft.com/office/powerpoint/2010/main" val="1485061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ED2553-BB0D-9EA4-B605-B40FA9097899}"/>
              </a:ext>
            </a:extLst>
          </p:cNvPr>
          <p:cNvSpPr>
            <a:spLocks noGrp="1"/>
          </p:cNvSpPr>
          <p:nvPr>
            <p:ph idx="1"/>
          </p:nvPr>
        </p:nvSpPr>
        <p:spPr/>
        <p:txBody>
          <a:bodyPr/>
          <a:lstStyle/>
          <a:p>
            <a:pPr>
              <a:buFont typeface="Arial" panose="020B0604020202020204" pitchFamily="34" charset="0"/>
              <a:buChar char="•"/>
            </a:pPr>
            <a:r>
              <a:rPr lang="en-US" dirty="0"/>
              <a:t>If serial gating (chain of gates, info ripples through) is used </a:t>
            </a:r>
            <a:br>
              <a:rPr lang="en-US" dirty="0"/>
            </a:br>
            <a:r>
              <a:rPr lang="en-US" dirty="0">
                <a:sym typeface="Wingdings" panose="05000000000000000000" pitchFamily="2" charset="2"/>
              </a:rPr>
              <a:t> </a:t>
            </a:r>
            <a:r>
              <a:rPr lang="en-US" dirty="0"/>
              <a:t>serial counter</a:t>
            </a:r>
          </a:p>
          <a:p>
            <a:pPr>
              <a:buFont typeface="Arial" panose="020B0604020202020204" pitchFamily="34" charset="0"/>
              <a:buChar char="•"/>
            </a:pPr>
            <a:r>
              <a:rPr lang="en-US" dirty="0"/>
              <a:t>If serial gating is replaced with parallel gating (this is analogous with ripple-logic replaced with carry-</a:t>
            </a:r>
            <a:r>
              <a:rPr lang="en-US" dirty="0" err="1"/>
              <a:t>lookeahead</a:t>
            </a:r>
            <a:r>
              <a:rPr lang="en-US" dirty="0"/>
              <a:t> logic in our adder designs) </a:t>
            </a:r>
            <a:br>
              <a:rPr lang="en-US" dirty="0"/>
            </a:br>
            <a:r>
              <a:rPr lang="en-US" dirty="0">
                <a:sym typeface="Wingdings" panose="05000000000000000000" pitchFamily="2" charset="2"/>
              </a:rPr>
              <a:t> </a:t>
            </a:r>
            <a:r>
              <a:rPr lang="en-US" dirty="0"/>
              <a:t>parallel counter</a:t>
            </a:r>
          </a:p>
          <a:p>
            <a:pPr>
              <a:buFont typeface="Arial" panose="020B0604020202020204" pitchFamily="34" charset="0"/>
              <a:buChar char="•"/>
            </a:pPr>
            <a:r>
              <a:rPr lang="en-US" dirty="0"/>
              <a:t>Advantage of parallel over serial counter: faster in certain occasions (1111 </a:t>
            </a:r>
            <a:r>
              <a:rPr lang="en-US" dirty="0">
                <a:sym typeface="Wingdings" panose="05000000000000000000" pitchFamily="2" charset="2"/>
              </a:rPr>
              <a:t></a:t>
            </a:r>
            <a:r>
              <a:rPr lang="en-US" dirty="0"/>
              <a:t> 0000)</a:t>
            </a:r>
            <a:endParaRPr lang="en-IN" dirty="0"/>
          </a:p>
        </p:txBody>
      </p:sp>
      <p:sp>
        <p:nvSpPr>
          <p:cNvPr id="3" name="Content Placeholder 2">
            <a:extLst>
              <a:ext uri="{FF2B5EF4-FFF2-40B4-BE49-F238E27FC236}">
                <a16:creationId xmlns:a16="http://schemas.microsoft.com/office/drawing/2014/main" id="{D2C19079-B1BC-5974-4D18-6F307743C5F6}"/>
              </a:ext>
            </a:extLst>
          </p:cNvPr>
          <p:cNvSpPr>
            <a:spLocks noGrp="1"/>
          </p:cNvSpPr>
          <p:nvPr>
            <p:ph sz="quarter" idx="10"/>
          </p:nvPr>
        </p:nvSpPr>
        <p:spPr/>
        <p:txBody>
          <a:bodyPr/>
          <a:lstStyle/>
          <a:p>
            <a:r>
              <a:rPr lang="en-US" dirty="0"/>
              <a:t>Serial vs parallel counters</a:t>
            </a:r>
            <a:endParaRPr lang="en-IN" dirty="0"/>
          </a:p>
        </p:txBody>
      </p:sp>
    </p:spTree>
    <p:extLst>
      <p:ext uri="{BB962C8B-B14F-4D97-AF65-F5344CB8AC3E}">
        <p14:creationId xmlns:p14="http://schemas.microsoft.com/office/powerpoint/2010/main" val="2263116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Content Placeholder 16">
            <a:extLst>
              <a:ext uri="{FF2B5EF4-FFF2-40B4-BE49-F238E27FC236}">
                <a16:creationId xmlns:a16="http://schemas.microsoft.com/office/drawing/2014/main" id="{BB71A1FA-EB50-269B-B207-59915DE5C798}"/>
              </a:ext>
            </a:extLst>
          </p:cNvPr>
          <p:cNvPicPr>
            <a:picLocks noGrp="1" noChangeAspect="1"/>
          </p:cNvPicPr>
          <p:nvPr>
            <p:ph idx="1"/>
          </p:nvPr>
        </p:nvPicPr>
        <p:blipFill>
          <a:blip>
            <a:extLst>
              <a:ext uri="{96DAC541-7B7A-43D3-8B79-37D633B846F1}">
                <asvg:svgBlip xmlns:asvg="http://schemas.microsoft.com/office/drawing/2016/SVG/main" r:embed="rId2"/>
              </a:ext>
            </a:extLst>
          </a:blip>
          <a:srcRect/>
          <a:stretch/>
        </p:blipFill>
        <p:spPr>
          <a:xfrm>
            <a:off x="1956602" y="1866895"/>
            <a:ext cx="4925995" cy="3779848"/>
          </a:xfrm>
          <a:prstGeom prst="rect">
            <a:avLst/>
          </a:prstGeom>
        </p:spPr>
      </p:pic>
      <p:sp>
        <p:nvSpPr>
          <p:cNvPr id="3" name="Content Placeholder 2">
            <a:extLst>
              <a:ext uri="{FF2B5EF4-FFF2-40B4-BE49-F238E27FC236}">
                <a16:creationId xmlns:a16="http://schemas.microsoft.com/office/drawing/2014/main" id="{B6E2D2DC-1209-7AE3-1700-4C817680B5E7}"/>
              </a:ext>
            </a:extLst>
          </p:cNvPr>
          <p:cNvSpPr>
            <a:spLocks noGrp="1"/>
          </p:cNvSpPr>
          <p:nvPr>
            <p:ph sz="quarter" idx="10"/>
          </p:nvPr>
        </p:nvSpPr>
        <p:spPr/>
        <p:txBody>
          <a:bodyPr/>
          <a:lstStyle/>
          <a:p>
            <a:r>
              <a:rPr lang="en-US" dirty="0"/>
              <a:t>Up – Down binary counters</a:t>
            </a:r>
            <a:endParaRPr lang="en-IN" dirty="0"/>
          </a:p>
        </p:txBody>
      </p:sp>
    </p:spTree>
    <p:extLst>
      <p:ext uri="{BB962C8B-B14F-4D97-AF65-F5344CB8AC3E}">
        <p14:creationId xmlns:p14="http://schemas.microsoft.com/office/powerpoint/2010/main" val="1139129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30F0E7-8B7C-0920-8EB3-4FB827EE4963}"/>
              </a:ext>
            </a:extLst>
          </p:cNvPr>
          <p:cNvSpPr>
            <a:spLocks noGrp="1"/>
          </p:cNvSpPr>
          <p:nvPr>
            <p:ph sz="quarter" idx="10"/>
          </p:nvPr>
        </p:nvSpPr>
        <p:spPr/>
        <p:txBody>
          <a:bodyPr/>
          <a:lstStyle/>
          <a:p>
            <a:r>
              <a:rPr lang="en-US" dirty="0"/>
              <a:t>Up – Down binary counters</a:t>
            </a:r>
            <a:endParaRPr lang="en-IN" dirty="0"/>
          </a:p>
        </p:txBody>
      </p:sp>
      <p:sp>
        <p:nvSpPr>
          <p:cNvPr id="4" name="Line 2">
            <a:extLst>
              <a:ext uri="{FF2B5EF4-FFF2-40B4-BE49-F238E27FC236}">
                <a16:creationId xmlns:a16="http://schemas.microsoft.com/office/drawing/2014/main" id="{DE1AC28F-C3F0-3FB8-D289-1B25746B077C}"/>
              </a:ext>
            </a:extLst>
          </p:cNvPr>
          <p:cNvSpPr>
            <a:spLocks noChangeShapeType="1"/>
          </p:cNvSpPr>
          <p:nvPr/>
        </p:nvSpPr>
        <p:spPr bwMode="auto">
          <a:xfrm>
            <a:off x="6946900" y="214312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5" name="Line 3">
            <a:extLst>
              <a:ext uri="{FF2B5EF4-FFF2-40B4-BE49-F238E27FC236}">
                <a16:creationId xmlns:a16="http://schemas.microsoft.com/office/drawing/2014/main" id="{8290D5E7-CDC4-B0A9-C1FF-51A48B44B982}"/>
              </a:ext>
            </a:extLst>
          </p:cNvPr>
          <p:cNvSpPr>
            <a:spLocks noChangeShapeType="1"/>
          </p:cNvSpPr>
          <p:nvPr/>
        </p:nvSpPr>
        <p:spPr bwMode="auto">
          <a:xfrm>
            <a:off x="6851650" y="2190750"/>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6" name="Line 4">
            <a:extLst>
              <a:ext uri="{FF2B5EF4-FFF2-40B4-BE49-F238E27FC236}">
                <a16:creationId xmlns:a16="http://schemas.microsoft.com/office/drawing/2014/main" id="{062CAE2C-5767-A143-DEFF-08EFE8CD2FFE}"/>
              </a:ext>
            </a:extLst>
          </p:cNvPr>
          <p:cNvSpPr>
            <a:spLocks noChangeShapeType="1"/>
          </p:cNvSpPr>
          <p:nvPr/>
        </p:nvSpPr>
        <p:spPr bwMode="auto">
          <a:xfrm>
            <a:off x="6946900" y="3611563"/>
            <a:ext cx="1588"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7" name="Line 5">
            <a:extLst>
              <a:ext uri="{FF2B5EF4-FFF2-40B4-BE49-F238E27FC236}">
                <a16:creationId xmlns:a16="http://schemas.microsoft.com/office/drawing/2014/main" id="{A121113A-98CE-7CD0-3ECC-CD994C4B9903}"/>
              </a:ext>
            </a:extLst>
          </p:cNvPr>
          <p:cNvSpPr>
            <a:spLocks noChangeShapeType="1"/>
          </p:cNvSpPr>
          <p:nvPr/>
        </p:nvSpPr>
        <p:spPr bwMode="auto">
          <a:xfrm>
            <a:off x="6851650" y="3659188"/>
            <a:ext cx="1588"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8" name="Line 6">
            <a:extLst>
              <a:ext uri="{FF2B5EF4-FFF2-40B4-BE49-F238E27FC236}">
                <a16:creationId xmlns:a16="http://schemas.microsoft.com/office/drawing/2014/main" id="{BF96C6DB-80AC-CED0-E58A-C252225D0C64}"/>
              </a:ext>
            </a:extLst>
          </p:cNvPr>
          <p:cNvSpPr>
            <a:spLocks noChangeShapeType="1"/>
          </p:cNvSpPr>
          <p:nvPr/>
        </p:nvSpPr>
        <p:spPr bwMode="auto">
          <a:xfrm>
            <a:off x="6946900" y="5078413"/>
            <a:ext cx="1588"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9" name="Line 7">
            <a:extLst>
              <a:ext uri="{FF2B5EF4-FFF2-40B4-BE49-F238E27FC236}">
                <a16:creationId xmlns:a16="http://schemas.microsoft.com/office/drawing/2014/main" id="{49CBB737-E6FA-DB43-3736-C9079CCC0B18}"/>
              </a:ext>
            </a:extLst>
          </p:cNvPr>
          <p:cNvSpPr>
            <a:spLocks noChangeShapeType="1"/>
          </p:cNvSpPr>
          <p:nvPr/>
        </p:nvSpPr>
        <p:spPr bwMode="auto">
          <a:xfrm>
            <a:off x="6851650" y="5126038"/>
            <a:ext cx="1588"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0" name="Line 8">
            <a:extLst>
              <a:ext uri="{FF2B5EF4-FFF2-40B4-BE49-F238E27FC236}">
                <a16:creationId xmlns:a16="http://schemas.microsoft.com/office/drawing/2014/main" id="{AADB7D47-CBA0-A2E1-0BB5-097318815951}"/>
              </a:ext>
            </a:extLst>
          </p:cNvPr>
          <p:cNvSpPr>
            <a:spLocks noChangeShapeType="1"/>
          </p:cNvSpPr>
          <p:nvPr/>
        </p:nvSpPr>
        <p:spPr bwMode="auto">
          <a:xfrm>
            <a:off x="6354763" y="4772025"/>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1" name="Line 9">
            <a:extLst>
              <a:ext uri="{FF2B5EF4-FFF2-40B4-BE49-F238E27FC236}">
                <a16:creationId xmlns:a16="http://schemas.microsoft.com/office/drawing/2014/main" id="{A09785D5-DB6F-5A19-8610-C0CB31FF87F1}"/>
              </a:ext>
            </a:extLst>
          </p:cNvPr>
          <p:cNvSpPr>
            <a:spLocks noChangeShapeType="1"/>
          </p:cNvSpPr>
          <p:nvPr/>
        </p:nvSpPr>
        <p:spPr bwMode="auto">
          <a:xfrm>
            <a:off x="6354763" y="4772025"/>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2" name="Line 10">
            <a:extLst>
              <a:ext uri="{FF2B5EF4-FFF2-40B4-BE49-F238E27FC236}">
                <a16:creationId xmlns:a16="http://schemas.microsoft.com/office/drawing/2014/main" id="{A60014BD-70B1-2259-FEAE-F47908AD2C9D}"/>
              </a:ext>
            </a:extLst>
          </p:cNvPr>
          <p:cNvSpPr>
            <a:spLocks noChangeShapeType="1"/>
          </p:cNvSpPr>
          <p:nvPr/>
        </p:nvSpPr>
        <p:spPr bwMode="auto">
          <a:xfrm>
            <a:off x="6354763" y="4772025"/>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13" name="Text Box 12">
            <a:extLst>
              <a:ext uri="{FF2B5EF4-FFF2-40B4-BE49-F238E27FC236}">
                <a16:creationId xmlns:a16="http://schemas.microsoft.com/office/drawing/2014/main" id="{44B63F4D-B2E9-6DF5-7C10-9AD0A06E23BB}"/>
              </a:ext>
            </a:extLst>
          </p:cNvPr>
          <p:cNvSpPr txBox="1">
            <a:spLocks noChangeArrowheads="1"/>
          </p:cNvSpPr>
          <p:nvPr/>
        </p:nvSpPr>
        <p:spPr bwMode="auto">
          <a:xfrm>
            <a:off x="4695825" y="1971675"/>
            <a:ext cx="3835400"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Courier New" panose="02070309020205020404" pitchFamily="49" charset="0"/>
              </a:rPr>
              <a:t>1  0  0  0   1  1  1</a:t>
            </a:r>
          </a:p>
          <a:p>
            <a:r>
              <a:rPr lang="en-US" altLang="en-US" sz="2400">
                <a:latin typeface="Courier New" panose="02070309020205020404" pitchFamily="49" charset="0"/>
              </a:rPr>
              <a:t>1  0  0  1   0  0  0</a:t>
            </a:r>
          </a:p>
          <a:p>
            <a:r>
              <a:rPr lang="en-US" altLang="en-US" sz="2400">
                <a:latin typeface="Courier New" panose="02070309020205020404" pitchFamily="49" charset="0"/>
              </a:rPr>
              <a:t>1  0  1  0   0  0  1</a:t>
            </a:r>
          </a:p>
          <a:p>
            <a:r>
              <a:rPr lang="en-US" altLang="en-US" sz="2400">
                <a:latin typeface="Courier New" panose="02070309020205020404" pitchFamily="49" charset="0"/>
              </a:rPr>
              <a:t>1  0  1  1   0  1  0</a:t>
            </a:r>
          </a:p>
          <a:p>
            <a:r>
              <a:rPr lang="en-US" altLang="en-US" sz="2400">
                <a:latin typeface="Courier New" panose="02070309020205020404" pitchFamily="49" charset="0"/>
              </a:rPr>
              <a:t>1  1  0  0   0  1  1</a:t>
            </a:r>
          </a:p>
          <a:p>
            <a:r>
              <a:rPr lang="en-US" altLang="en-US" sz="2400">
                <a:latin typeface="Courier New" panose="02070309020205020404" pitchFamily="49" charset="0"/>
              </a:rPr>
              <a:t>1  1  0  1   1  0  0</a:t>
            </a:r>
          </a:p>
          <a:p>
            <a:r>
              <a:rPr lang="en-US" altLang="en-US" sz="2400">
                <a:latin typeface="Courier New" panose="02070309020205020404" pitchFamily="49" charset="0"/>
              </a:rPr>
              <a:t>1  1  1  0   1  0  1</a:t>
            </a:r>
          </a:p>
          <a:p>
            <a:r>
              <a:rPr lang="en-US" altLang="en-US" sz="2400">
                <a:latin typeface="Courier New" panose="02070309020205020404" pitchFamily="49" charset="0"/>
              </a:rPr>
              <a:t>1  1  1  1   1  1  0</a:t>
            </a:r>
          </a:p>
          <a:p>
            <a:endParaRPr lang="en-US" altLang="en-US" sz="2400">
              <a:latin typeface="Courier New" panose="02070309020205020404" pitchFamily="49" charset="0"/>
            </a:endParaRPr>
          </a:p>
        </p:txBody>
      </p:sp>
      <p:sp>
        <p:nvSpPr>
          <p:cNvPr id="14" name="Text Box 13">
            <a:extLst>
              <a:ext uri="{FF2B5EF4-FFF2-40B4-BE49-F238E27FC236}">
                <a16:creationId xmlns:a16="http://schemas.microsoft.com/office/drawing/2014/main" id="{1C496CC4-43B1-9860-F7DA-253D0B5C7B60}"/>
              </a:ext>
            </a:extLst>
          </p:cNvPr>
          <p:cNvSpPr txBox="1">
            <a:spLocks noChangeArrowheads="1"/>
          </p:cNvSpPr>
          <p:nvPr/>
        </p:nvSpPr>
        <p:spPr bwMode="auto">
          <a:xfrm>
            <a:off x="4573588" y="1538288"/>
            <a:ext cx="4241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imes New Roman" panose="02020603050405020304" pitchFamily="18" charset="0"/>
              </a:rPr>
              <a:t> UD   Q2   Q1    Q0    Q2.D Q1.D Q0.D</a:t>
            </a:r>
            <a:endParaRPr lang="en-US" altLang="en-US" sz="2400">
              <a:latin typeface="Times New Roman" panose="02020603050405020304" pitchFamily="18" charset="0"/>
            </a:endParaRPr>
          </a:p>
        </p:txBody>
      </p:sp>
      <p:sp>
        <p:nvSpPr>
          <p:cNvPr id="15" name="Line 14">
            <a:extLst>
              <a:ext uri="{FF2B5EF4-FFF2-40B4-BE49-F238E27FC236}">
                <a16:creationId xmlns:a16="http://schemas.microsoft.com/office/drawing/2014/main" id="{7EDC91EB-8EE5-B86A-84C5-255BAFF596DD}"/>
              </a:ext>
            </a:extLst>
          </p:cNvPr>
          <p:cNvSpPr>
            <a:spLocks noChangeShapeType="1"/>
          </p:cNvSpPr>
          <p:nvPr/>
        </p:nvSpPr>
        <p:spPr bwMode="auto">
          <a:xfrm>
            <a:off x="4495800" y="1905000"/>
            <a:ext cx="4419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 name="Line 15">
            <a:extLst>
              <a:ext uri="{FF2B5EF4-FFF2-40B4-BE49-F238E27FC236}">
                <a16:creationId xmlns:a16="http://schemas.microsoft.com/office/drawing/2014/main" id="{A88F4BD6-42A6-C085-4D58-26913421B29D}"/>
              </a:ext>
            </a:extLst>
          </p:cNvPr>
          <p:cNvSpPr>
            <a:spLocks noChangeShapeType="1"/>
          </p:cNvSpPr>
          <p:nvPr/>
        </p:nvSpPr>
        <p:spPr bwMode="auto">
          <a:xfrm>
            <a:off x="6781800" y="1447800"/>
            <a:ext cx="0" cy="3581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 name="Line 16">
            <a:extLst>
              <a:ext uri="{FF2B5EF4-FFF2-40B4-BE49-F238E27FC236}">
                <a16:creationId xmlns:a16="http://schemas.microsoft.com/office/drawing/2014/main" id="{8B152CFD-2081-4722-EB48-D3807051F7F4}"/>
              </a:ext>
            </a:extLst>
          </p:cNvPr>
          <p:cNvSpPr>
            <a:spLocks noChangeShapeType="1"/>
          </p:cNvSpPr>
          <p:nvPr/>
        </p:nvSpPr>
        <p:spPr bwMode="auto">
          <a:xfrm>
            <a:off x="4495800" y="1524000"/>
            <a:ext cx="0" cy="35052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 name="Text Box 17">
            <a:extLst>
              <a:ext uri="{FF2B5EF4-FFF2-40B4-BE49-F238E27FC236}">
                <a16:creationId xmlns:a16="http://schemas.microsoft.com/office/drawing/2014/main" id="{698F5AF3-B861-3DA1-3838-4620B78358DA}"/>
              </a:ext>
            </a:extLst>
          </p:cNvPr>
          <p:cNvSpPr txBox="1">
            <a:spLocks noChangeArrowheads="1"/>
          </p:cNvSpPr>
          <p:nvPr/>
        </p:nvSpPr>
        <p:spPr bwMode="auto">
          <a:xfrm>
            <a:off x="352425" y="1971675"/>
            <a:ext cx="3835400"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latin typeface="Courier New" panose="02070309020205020404" pitchFamily="49" charset="0"/>
              </a:rPr>
              <a:t>0  0  0  0   0  0  1</a:t>
            </a:r>
          </a:p>
          <a:p>
            <a:r>
              <a:rPr lang="en-US" altLang="en-US" sz="2400" dirty="0">
                <a:latin typeface="Courier New" panose="02070309020205020404" pitchFamily="49" charset="0"/>
              </a:rPr>
              <a:t>0  0  0  1   0  1  0</a:t>
            </a:r>
          </a:p>
          <a:p>
            <a:r>
              <a:rPr lang="en-US" altLang="en-US" sz="2400" dirty="0">
                <a:latin typeface="Courier New" panose="02070309020205020404" pitchFamily="49" charset="0"/>
              </a:rPr>
              <a:t>0  0  1  0   0  1  1</a:t>
            </a:r>
          </a:p>
          <a:p>
            <a:r>
              <a:rPr lang="en-US" altLang="en-US" sz="2400" dirty="0">
                <a:latin typeface="Courier New" panose="02070309020205020404" pitchFamily="49" charset="0"/>
              </a:rPr>
              <a:t>0  0  1  1   1  0  0</a:t>
            </a:r>
          </a:p>
          <a:p>
            <a:r>
              <a:rPr lang="en-US" altLang="en-US" sz="2400" dirty="0">
                <a:latin typeface="Courier New" panose="02070309020205020404" pitchFamily="49" charset="0"/>
              </a:rPr>
              <a:t>0  1  0  0   1  0  1</a:t>
            </a:r>
          </a:p>
          <a:p>
            <a:r>
              <a:rPr lang="en-US" altLang="en-US" sz="2400" dirty="0">
                <a:latin typeface="Courier New" panose="02070309020205020404" pitchFamily="49" charset="0"/>
              </a:rPr>
              <a:t>0  1  0  1   1  1  0</a:t>
            </a:r>
          </a:p>
          <a:p>
            <a:r>
              <a:rPr lang="en-US" altLang="en-US" sz="2400" dirty="0">
                <a:latin typeface="Courier New" panose="02070309020205020404" pitchFamily="49" charset="0"/>
              </a:rPr>
              <a:t>0  1  1  0   1  1  1</a:t>
            </a:r>
          </a:p>
          <a:p>
            <a:r>
              <a:rPr lang="en-US" altLang="en-US" sz="2400" dirty="0">
                <a:latin typeface="Courier New" panose="02070309020205020404" pitchFamily="49" charset="0"/>
              </a:rPr>
              <a:t>0  1  1  1   0  0  0</a:t>
            </a:r>
          </a:p>
          <a:p>
            <a:endParaRPr lang="en-US" altLang="en-US" sz="2400" dirty="0">
              <a:latin typeface="Courier New" panose="02070309020205020404" pitchFamily="49" charset="0"/>
            </a:endParaRPr>
          </a:p>
        </p:txBody>
      </p:sp>
      <p:sp>
        <p:nvSpPr>
          <p:cNvPr id="19" name="Text Box 18">
            <a:extLst>
              <a:ext uri="{FF2B5EF4-FFF2-40B4-BE49-F238E27FC236}">
                <a16:creationId xmlns:a16="http://schemas.microsoft.com/office/drawing/2014/main" id="{0E0140EF-8043-C211-0207-D50C8E1B92E5}"/>
              </a:ext>
            </a:extLst>
          </p:cNvPr>
          <p:cNvSpPr txBox="1">
            <a:spLocks noChangeArrowheads="1"/>
          </p:cNvSpPr>
          <p:nvPr/>
        </p:nvSpPr>
        <p:spPr bwMode="auto">
          <a:xfrm>
            <a:off x="230188" y="1538288"/>
            <a:ext cx="417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dirty="0">
                <a:latin typeface="Times New Roman" panose="02020603050405020304" pitchFamily="18" charset="0"/>
              </a:rPr>
              <a:t> UD  Q2   Q1    Q0    Q2.D Q1.D Q0.D</a:t>
            </a:r>
            <a:endParaRPr lang="en-US" altLang="en-US" sz="2400" dirty="0">
              <a:latin typeface="Times New Roman" panose="02020603050405020304" pitchFamily="18" charset="0"/>
            </a:endParaRPr>
          </a:p>
        </p:txBody>
      </p:sp>
      <p:sp>
        <p:nvSpPr>
          <p:cNvPr id="20" name="Line 19">
            <a:extLst>
              <a:ext uri="{FF2B5EF4-FFF2-40B4-BE49-F238E27FC236}">
                <a16:creationId xmlns:a16="http://schemas.microsoft.com/office/drawing/2014/main" id="{F1C42D36-274C-74A4-942B-DCBF856662A3}"/>
              </a:ext>
            </a:extLst>
          </p:cNvPr>
          <p:cNvSpPr>
            <a:spLocks noChangeShapeType="1"/>
          </p:cNvSpPr>
          <p:nvPr/>
        </p:nvSpPr>
        <p:spPr bwMode="auto">
          <a:xfrm>
            <a:off x="152400" y="1905000"/>
            <a:ext cx="4419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 name="Line 20">
            <a:extLst>
              <a:ext uri="{FF2B5EF4-FFF2-40B4-BE49-F238E27FC236}">
                <a16:creationId xmlns:a16="http://schemas.microsoft.com/office/drawing/2014/main" id="{8C292C80-2EF2-249D-AC76-6A2D6147EF4F}"/>
              </a:ext>
            </a:extLst>
          </p:cNvPr>
          <p:cNvSpPr>
            <a:spLocks noChangeShapeType="1"/>
          </p:cNvSpPr>
          <p:nvPr/>
        </p:nvSpPr>
        <p:spPr bwMode="auto">
          <a:xfrm>
            <a:off x="2438400" y="1447800"/>
            <a:ext cx="0" cy="3581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2" name="AutoShape 21">
            <a:extLst>
              <a:ext uri="{FF2B5EF4-FFF2-40B4-BE49-F238E27FC236}">
                <a16:creationId xmlns:a16="http://schemas.microsoft.com/office/drawing/2014/main" id="{7F0C4CD1-4B2A-46E9-E51F-4086921397D3}"/>
              </a:ext>
            </a:extLst>
          </p:cNvPr>
          <p:cNvSpPr>
            <a:spLocks/>
          </p:cNvSpPr>
          <p:nvPr/>
        </p:nvSpPr>
        <p:spPr bwMode="auto">
          <a:xfrm rot="16258228">
            <a:off x="2211388" y="3352800"/>
            <a:ext cx="457200" cy="3962400"/>
          </a:xfrm>
          <a:prstGeom prst="leftBrace">
            <a:avLst>
              <a:gd name="adj1" fmla="val 7222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 name="AutoShape 22">
            <a:extLst>
              <a:ext uri="{FF2B5EF4-FFF2-40B4-BE49-F238E27FC236}">
                <a16:creationId xmlns:a16="http://schemas.microsoft.com/office/drawing/2014/main" id="{F7A2D598-4066-7CE5-D028-C6B70252CCAA}"/>
              </a:ext>
            </a:extLst>
          </p:cNvPr>
          <p:cNvSpPr>
            <a:spLocks/>
          </p:cNvSpPr>
          <p:nvPr/>
        </p:nvSpPr>
        <p:spPr bwMode="auto">
          <a:xfrm rot="16258228">
            <a:off x="6324600" y="3352800"/>
            <a:ext cx="457200" cy="3962400"/>
          </a:xfrm>
          <a:prstGeom prst="leftBrace">
            <a:avLst>
              <a:gd name="adj1" fmla="val 7222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4" name="Text Box 23">
            <a:extLst>
              <a:ext uri="{FF2B5EF4-FFF2-40B4-BE49-F238E27FC236}">
                <a16:creationId xmlns:a16="http://schemas.microsoft.com/office/drawing/2014/main" id="{E7BEF775-F55F-C6B9-CD19-C2C911FFA215}"/>
              </a:ext>
            </a:extLst>
          </p:cNvPr>
          <p:cNvSpPr txBox="1">
            <a:spLocks noChangeArrowheads="1"/>
          </p:cNvSpPr>
          <p:nvPr/>
        </p:nvSpPr>
        <p:spPr bwMode="auto">
          <a:xfrm>
            <a:off x="1600200" y="5562600"/>
            <a:ext cx="1639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Times New Roman" panose="02020603050405020304" pitchFamily="18" charset="0"/>
              </a:rPr>
              <a:t>Up-Counter</a:t>
            </a:r>
          </a:p>
        </p:txBody>
      </p:sp>
      <p:sp>
        <p:nvSpPr>
          <p:cNvPr id="25" name="Text Box 24">
            <a:extLst>
              <a:ext uri="{FF2B5EF4-FFF2-40B4-BE49-F238E27FC236}">
                <a16:creationId xmlns:a16="http://schemas.microsoft.com/office/drawing/2014/main" id="{F4F4866D-7BA3-7C60-71CC-5AD15A83264C}"/>
              </a:ext>
            </a:extLst>
          </p:cNvPr>
          <p:cNvSpPr txBox="1">
            <a:spLocks noChangeArrowheads="1"/>
          </p:cNvSpPr>
          <p:nvPr/>
        </p:nvSpPr>
        <p:spPr bwMode="auto">
          <a:xfrm>
            <a:off x="5562600" y="5562600"/>
            <a:ext cx="2012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Times New Roman" panose="02020603050405020304" pitchFamily="18" charset="0"/>
              </a:rPr>
              <a:t>Down-Counter</a:t>
            </a:r>
          </a:p>
        </p:txBody>
      </p:sp>
    </p:spTree>
    <p:extLst>
      <p:ext uri="{BB962C8B-B14F-4D97-AF65-F5344CB8AC3E}">
        <p14:creationId xmlns:p14="http://schemas.microsoft.com/office/powerpoint/2010/main" val="3925398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Content Placeholder 32">
            <a:extLst>
              <a:ext uri="{FF2B5EF4-FFF2-40B4-BE49-F238E27FC236}">
                <a16:creationId xmlns:a16="http://schemas.microsoft.com/office/drawing/2014/main" id="{55E181C1-D0BB-01F3-C078-CD2E8A14012A}"/>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Lst>
          </a:blip>
          <a:stretch>
            <a:fillRect/>
          </a:stretch>
        </p:blipFill>
        <p:spPr>
          <a:xfrm>
            <a:off x="304800" y="1558954"/>
            <a:ext cx="8229600" cy="4395730"/>
          </a:xfrm>
          <a:prstGeom prst="rect">
            <a:avLst/>
          </a:prstGeom>
        </p:spPr>
      </p:pic>
      <p:sp>
        <p:nvSpPr>
          <p:cNvPr id="3" name="Content Placeholder 2">
            <a:extLst>
              <a:ext uri="{FF2B5EF4-FFF2-40B4-BE49-F238E27FC236}">
                <a16:creationId xmlns:a16="http://schemas.microsoft.com/office/drawing/2014/main" id="{84AC9705-4CB0-B9B5-39C2-2EDC697909A2}"/>
              </a:ext>
            </a:extLst>
          </p:cNvPr>
          <p:cNvSpPr>
            <a:spLocks noGrp="1"/>
          </p:cNvSpPr>
          <p:nvPr>
            <p:ph sz="quarter" idx="10"/>
          </p:nvPr>
        </p:nvSpPr>
        <p:spPr/>
        <p:txBody>
          <a:bodyPr/>
          <a:lstStyle/>
          <a:p>
            <a:r>
              <a:rPr lang="en-US" dirty="0"/>
              <a:t>Up – Down binary counters</a:t>
            </a:r>
            <a:endParaRPr lang="en-IN" dirty="0"/>
          </a:p>
        </p:txBody>
      </p:sp>
    </p:spTree>
    <p:extLst>
      <p:ext uri="{BB962C8B-B14F-4D97-AF65-F5344CB8AC3E}">
        <p14:creationId xmlns:p14="http://schemas.microsoft.com/office/powerpoint/2010/main" val="2276056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3D382F-5890-A208-CC96-D5A464DA5F12}"/>
              </a:ext>
            </a:extLst>
          </p:cNvPr>
          <p:cNvSpPr>
            <a:spLocks noGrp="1"/>
          </p:cNvSpPr>
          <p:nvPr>
            <p:ph sz="quarter" idx="10"/>
          </p:nvPr>
        </p:nvSpPr>
        <p:spPr/>
        <p:txBody>
          <a:bodyPr/>
          <a:lstStyle/>
          <a:p>
            <a:r>
              <a:rPr lang="en-US" dirty="0"/>
              <a:t>Up – Down binary counters</a:t>
            </a:r>
            <a:endParaRPr lang="en-IN" dirty="0"/>
          </a:p>
        </p:txBody>
      </p:sp>
      <p:pic>
        <p:nvPicPr>
          <p:cNvPr id="4" name="Picture 2">
            <a:extLst>
              <a:ext uri="{FF2B5EF4-FFF2-40B4-BE49-F238E27FC236}">
                <a16:creationId xmlns:a16="http://schemas.microsoft.com/office/drawing/2014/main" id="{E8DA5CA9-917C-E718-86B2-E4AEB5F90A28}"/>
              </a:ext>
            </a:extLst>
          </p:cNvPr>
          <p:cNvPicPr>
            <a:picLocks noGrp="1" noChangeAspect="1" noChangeArrowheads="1"/>
          </p:cNvPicPr>
          <p:nvPr>
            <p:ph idx="1"/>
          </p:nvPr>
        </p:nvPicPr>
        <p:blipFill rotWithShape="1">
          <a:blip r:embed="rId2">
            <a:extLst>
              <a:ext uri="{BEBA8EAE-BF5A-486C-A8C5-ECC9F3942E4B}">
                <a14:imgProps xmlns:a14="http://schemas.microsoft.com/office/drawing/2010/main">
                  <a14:imgLayer r:embed="rId3">
                    <a14:imgEffect>
                      <a14:sharpenSoften amount="100000"/>
                    </a14:imgEffect>
                    <a14:imgEffect>
                      <a14:brightnessContrast bright="13000" contrast="100000"/>
                    </a14:imgEffect>
                  </a14:imgLayer>
                </a14:imgProps>
              </a:ext>
              <a:ext uri="{28A0092B-C50C-407E-A947-70E740481C1C}">
                <a14:useLocalDpi xmlns:a14="http://schemas.microsoft.com/office/drawing/2010/main" val="0"/>
              </a:ext>
            </a:extLst>
          </a:blip>
          <a:srcRect b="6734"/>
          <a:stretch>
            <a:fillRect/>
          </a:stretch>
        </p:blipFill>
        <p:spPr bwMode="auto">
          <a:xfrm>
            <a:off x="3445044" y="1447800"/>
            <a:ext cx="4038600" cy="49268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Object 2">
            <a:extLst>
              <a:ext uri="{FF2B5EF4-FFF2-40B4-BE49-F238E27FC236}">
                <a16:creationId xmlns:a16="http://schemas.microsoft.com/office/drawing/2014/main" id="{DCA4BB23-1ABA-FDBE-E2EC-8B5A4A741651}"/>
              </a:ext>
            </a:extLst>
          </p:cNvPr>
          <p:cNvGraphicFramePr>
            <a:graphicFrameLocks noChangeAspect="1"/>
          </p:cNvGraphicFramePr>
          <p:nvPr>
            <p:extLst>
              <p:ext uri="{D42A27DB-BD31-4B8C-83A1-F6EECF244321}">
                <p14:modId xmlns:p14="http://schemas.microsoft.com/office/powerpoint/2010/main" val="2550974788"/>
              </p:ext>
            </p:extLst>
          </p:nvPr>
        </p:nvGraphicFramePr>
        <p:xfrm>
          <a:off x="288758" y="2819400"/>
          <a:ext cx="3390900" cy="3390900"/>
        </p:xfrm>
        <a:graphic>
          <a:graphicData uri="http://schemas.openxmlformats.org/presentationml/2006/ole">
            <mc:AlternateContent xmlns:mc="http://schemas.openxmlformats.org/markup-compatibility/2006">
              <mc:Choice xmlns:v="urn:schemas-microsoft-com:vml" Requires="v">
                <p:oleObj name="Bitmap Image" r:id="rId4" imgW="4382112" imgH="4382112" progId="Paint.Picture">
                  <p:embed/>
                </p:oleObj>
              </mc:Choice>
              <mc:Fallback>
                <p:oleObj name="Bitmap Image" r:id="rId4" imgW="4382112" imgH="4382112" progId="Paint.Picture">
                  <p:embed/>
                  <p:pic>
                    <p:nvPicPr>
                      <p:cNvPr id="4" name="Object 2">
                        <a:extLst>
                          <a:ext uri="{FF2B5EF4-FFF2-40B4-BE49-F238E27FC236}">
                            <a16:creationId xmlns:a16="http://schemas.microsoft.com/office/drawing/2014/main" id="{9CC82164-F3AA-5AF1-A4E1-BCB261B789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758" y="2819400"/>
                        <a:ext cx="3390900" cy="33909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543380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708D49-5776-A6E8-E5A6-6393AAC57E93}"/>
              </a:ext>
            </a:extLst>
          </p:cNvPr>
          <p:cNvSpPr>
            <a:spLocks noGrp="1"/>
          </p:cNvSpPr>
          <p:nvPr>
            <p:ph idx="1"/>
          </p:nvPr>
        </p:nvSpPr>
        <p:spPr>
          <a:xfrm>
            <a:off x="304800" y="1493837"/>
            <a:ext cx="2743200" cy="4525963"/>
          </a:xfrm>
        </p:spPr>
        <p:txBody>
          <a:bodyPr/>
          <a:lstStyle/>
          <a:p>
            <a:pPr>
              <a:buFont typeface="Arial" panose="020B0604020202020204" pitchFamily="34" charset="0"/>
              <a:buChar char="•"/>
            </a:pPr>
            <a:r>
              <a:rPr lang="en-US" dirty="0"/>
              <a:t>Ability to set the counter to an arbitrary value to begin counting</a:t>
            </a:r>
          </a:p>
          <a:p>
            <a:pPr marL="0" indent="0"/>
            <a:endParaRPr lang="en-IN" dirty="0"/>
          </a:p>
        </p:txBody>
      </p:sp>
      <p:sp>
        <p:nvSpPr>
          <p:cNvPr id="3" name="Content Placeholder 2">
            <a:extLst>
              <a:ext uri="{FF2B5EF4-FFF2-40B4-BE49-F238E27FC236}">
                <a16:creationId xmlns:a16="http://schemas.microsoft.com/office/drawing/2014/main" id="{AF3BEB6F-E1B1-A498-1389-95FFCF8383DE}"/>
              </a:ext>
            </a:extLst>
          </p:cNvPr>
          <p:cNvSpPr>
            <a:spLocks noGrp="1"/>
          </p:cNvSpPr>
          <p:nvPr>
            <p:ph sz="quarter" idx="10"/>
          </p:nvPr>
        </p:nvSpPr>
        <p:spPr/>
        <p:txBody>
          <a:bodyPr/>
          <a:lstStyle/>
          <a:p>
            <a:r>
              <a:rPr lang="en-US" dirty="0"/>
              <a:t>Binary counter with parallel load</a:t>
            </a:r>
            <a:endParaRPr lang="en-IN" dirty="0"/>
          </a:p>
        </p:txBody>
      </p:sp>
      <p:graphicFrame>
        <p:nvGraphicFramePr>
          <p:cNvPr id="5" name="Group 4">
            <a:extLst>
              <a:ext uri="{FF2B5EF4-FFF2-40B4-BE49-F238E27FC236}">
                <a16:creationId xmlns:a16="http://schemas.microsoft.com/office/drawing/2014/main" id="{B553732B-CAA5-CC6E-BE4D-348C10595B5B}"/>
              </a:ext>
            </a:extLst>
          </p:cNvPr>
          <p:cNvGraphicFramePr>
            <a:graphicFrameLocks noGrp="1"/>
          </p:cNvGraphicFramePr>
          <p:nvPr>
            <p:extLst>
              <p:ext uri="{D42A27DB-BD31-4B8C-83A1-F6EECF244321}">
                <p14:modId xmlns:p14="http://schemas.microsoft.com/office/powerpoint/2010/main" val="1224593340"/>
              </p:ext>
            </p:extLst>
          </p:nvPr>
        </p:nvGraphicFramePr>
        <p:xfrm>
          <a:off x="381000" y="3276600"/>
          <a:ext cx="2590800" cy="1709829"/>
        </p:xfrm>
        <a:graphic>
          <a:graphicData uri="http://schemas.openxmlformats.org/drawingml/2006/table">
            <a:tbl>
              <a:tblPr/>
              <a:tblGrid>
                <a:gridCol w="863600">
                  <a:extLst>
                    <a:ext uri="{9D8B030D-6E8A-4147-A177-3AD203B41FA5}">
                      <a16:colId xmlns:a16="http://schemas.microsoft.com/office/drawing/2014/main" val="263467136"/>
                    </a:ext>
                  </a:extLst>
                </a:gridCol>
                <a:gridCol w="863600">
                  <a:extLst>
                    <a:ext uri="{9D8B030D-6E8A-4147-A177-3AD203B41FA5}">
                      <a16:colId xmlns:a16="http://schemas.microsoft.com/office/drawing/2014/main" val="2335758670"/>
                    </a:ext>
                  </a:extLst>
                </a:gridCol>
                <a:gridCol w="863600">
                  <a:extLst>
                    <a:ext uri="{9D8B030D-6E8A-4147-A177-3AD203B41FA5}">
                      <a16:colId xmlns:a16="http://schemas.microsoft.com/office/drawing/2014/main" val="372395714"/>
                    </a:ext>
                  </a:extLst>
                </a:gridCol>
              </a:tblGrid>
              <a:tr h="393290">
                <a:tc>
                  <a:txBody>
                    <a:bodyPr/>
                    <a:lstStyle>
                      <a:lvl1pPr>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Comic Sans MS" panose="030F0702030302020204" pitchFamily="66" charset="0"/>
                        </a:defRPr>
                      </a:lvl1pPr>
                      <a:lvl2pPr>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Comic Sans MS" panose="030F0702030302020204" pitchFamily="66" charset="0"/>
                        </a:defRPr>
                      </a:lvl2pPr>
                      <a:lvl3pPr>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Comic Sans MS" panose="030F0702030302020204" pitchFamily="66" charset="0"/>
                        </a:defRPr>
                      </a:lvl3pPr>
                      <a:lvl4pPr>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4pPr>
                      <a:lvl5pPr>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5pPr>
                      <a:lvl6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6pPr>
                      <a:lvl7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7pPr>
                      <a:lvl8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8pPr>
                      <a:lvl9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en-US" sz="1600" b="0" i="0" u="none" strike="noStrike" cap="none" normalizeH="0" baseline="0">
                          <a:ln>
                            <a:noFill/>
                          </a:ln>
                          <a:solidFill>
                            <a:sysClr val="windowText" lastClr="000000"/>
                          </a:solidFill>
                          <a:effectLst/>
                          <a:latin typeface="+mn-lt"/>
                        </a:rPr>
                        <a:t>Load</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Comic Sans MS" panose="030F0702030302020204" pitchFamily="66" charset="0"/>
                        </a:defRPr>
                      </a:lvl1pPr>
                      <a:lvl2pPr>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Comic Sans MS" panose="030F0702030302020204" pitchFamily="66" charset="0"/>
                        </a:defRPr>
                      </a:lvl2pPr>
                      <a:lvl3pPr>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Comic Sans MS" panose="030F0702030302020204" pitchFamily="66" charset="0"/>
                        </a:defRPr>
                      </a:lvl3pPr>
                      <a:lvl4pPr>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4pPr>
                      <a:lvl5pPr>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5pPr>
                      <a:lvl6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6pPr>
                      <a:lvl7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7pPr>
                      <a:lvl8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8pPr>
                      <a:lvl9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en-US" sz="1600" b="0" i="0" u="none" strike="noStrike" cap="none" normalizeH="0" baseline="0" dirty="0">
                          <a:ln>
                            <a:noFill/>
                          </a:ln>
                          <a:solidFill>
                            <a:sysClr val="windowText" lastClr="000000"/>
                          </a:solidFill>
                          <a:effectLst/>
                          <a:latin typeface="+mn-lt"/>
                        </a:rPr>
                        <a:t>Count</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Comic Sans MS" panose="030F0702030302020204" pitchFamily="66" charset="0"/>
                        </a:defRPr>
                      </a:lvl1pPr>
                      <a:lvl2pPr>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Comic Sans MS" panose="030F0702030302020204" pitchFamily="66" charset="0"/>
                        </a:defRPr>
                      </a:lvl2pPr>
                      <a:lvl3pPr>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Comic Sans MS" panose="030F0702030302020204" pitchFamily="66" charset="0"/>
                        </a:defRPr>
                      </a:lvl3pPr>
                      <a:lvl4pPr>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4pPr>
                      <a:lvl5pPr>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5pPr>
                      <a:lvl6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6pPr>
                      <a:lvl7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7pPr>
                      <a:lvl8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8pPr>
                      <a:lvl9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en-US" sz="1600" b="0" i="0" u="none" strike="noStrike" cap="none" normalizeH="0" baseline="0">
                          <a:ln>
                            <a:noFill/>
                          </a:ln>
                          <a:solidFill>
                            <a:sysClr val="windowText" lastClr="000000"/>
                          </a:solidFill>
                          <a:effectLst/>
                          <a:latin typeface="+mn-lt"/>
                        </a:rPr>
                        <a:t>Operation</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59910566"/>
                  </a:ext>
                </a:extLst>
              </a:tr>
              <a:tr h="376903">
                <a:tc>
                  <a:txBody>
                    <a:bodyPr/>
                    <a:lstStyle>
                      <a:lvl1pPr>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Comic Sans MS" panose="030F0702030302020204" pitchFamily="66" charset="0"/>
                        </a:defRPr>
                      </a:lvl1pPr>
                      <a:lvl2pPr>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Comic Sans MS" panose="030F0702030302020204" pitchFamily="66" charset="0"/>
                        </a:defRPr>
                      </a:lvl2pPr>
                      <a:lvl3pPr>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Comic Sans MS" panose="030F0702030302020204" pitchFamily="66" charset="0"/>
                        </a:defRPr>
                      </a:lvl3pPr>
                      <a:lvl4pPr>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4pPr>
                      <a:lvl5pPr>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5pPr>
                      <a:lvl6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6pPr>
                      <a:lvl7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7pPr>
                      <a:lvl8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8pPr>
                      <a:lvl9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en-US" sz="1600" b="0" i="0" u="none" strike="noStrike" cap="none" normalizeH="0" baseline="0" dirty="0">
                          <a:ln>
                            <a:noFill/>
                          </a:ln>
                          <a:solidFill>
                            <a:sysClr val="windowText" lastClr="000000"/>
                          </a:solidFill>
                          <a:effectLst/>
                          <a:latin typeface="+mn-lt"/>
                        </a:rPr>
                        <a:t>0</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Comic Sans MS" panose="030F0702030302020204" pitchFamily="66" charset="0"/>
                        </a:defRPr>
                      </a:lvl1pPr>
                      <a:lvl2pPr>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Comic Sans MS" panose="030F0702030302020204" pitchFamily="66" charset="0"/>
                        </a:defRPr>
                      </a:lvl2pPr>
                      <a:lvl3pPr>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Comic Sans MS" panose="030F0702030302020204" pitchFamily="66" charset="0"/>
                        </a:defRPr>
                      </a:lvl3pPr>
                      <a:lvl4pPr>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4pPr>
                      <a:lvl5pPr>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5pPr>
                      <a:lvl6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6pPr>
                      <a:lvl7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7pPr>
                      <a:lvl8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8pPr>
                      <a:lvl9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en-US" sz="1600" b="0" i="0" u="none" strike="noStrike" cap="none" normalizeH="0" baseline="0">
                          <a:ln>
                            <a:noFill/>
                          </a:ln>
                          <a:solidFill>
                            <a:sysClr val="windowText" lastClr="000000"/>
                          </a:solidFill>
                          <a:effectLst/>
                          <a:latin typeface="+mn-lt"/>
                        </a:rPr>
                        <a:t>0</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Comic Sans MS" panose="030F0702030302020204" pitchFamily="66" charset="0"/>
                        </a:defRPr>
                      </a:lvl1pPr>
                      <a:lvl2pPr>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Comic Sans MS" panose="030F0702030302020204" pitchFamily="66" charset="0"/>
                        </a:defRPr>
                      </a:lvl2pPr>
                      <a:lvl3pPr>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Comic Sans MS" panose="030F0702030302020204" pitchFamily="66" charset="0"/>
                        </a:defRPr>
                      </a:lvl3pPr>
                      <a:lvl4pPr>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4pPr>
                      <a:lvl5pPr>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5pPr>
                      <a:lvl6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6pPr>
                      <a:lvl7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7pPr>
                      <a:lvl8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8pPr>
                      <a:lvl9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en-US" sz="1600" b="0" i="0" u="none" strike="noStrike" cap="none" normalizeH="0" baseline="0" dirty="0">
                          <a:ln>
                            <a:noFill/>
                          </a:ln>
                          <a:solidFill>
                            <a:sysClr val="windowText" lastClr="000000"/>
                          </a:solidFill>
                          <a:effectLst/>
                          <a:latin typeface="+mn-lt"/>
                        </a:rPr>
                        <a:t>Nothing</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01384441"/>
                  </a:ext>
                </a:extLst>
              </a:tr>
              <a:tr h="376903">
                <a:tc>
                  <a:txBody>
                    <a:bodyPr/>
                    <a:lstStyle>
                      <a:lvl1pPr>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Comic Sans MS" panose="030F0702030302020204" pitchFamily="66" charset="0"/>
                        </a:defRPr>
                      </a:lvl1pPr>
                      <a:lvl2pPr>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Comic Sans MS" panose="030F0702030302020204" pitchFamily="66" charset="0"/>
                        </a:defRPr>
                      </a:lvl2pPr>
                      <a:lvl3pPr>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Comic Sans MS" panose="030F0702030302020204" pitchFamily="66" charset="0"/>
                        </a:defRPr>
                      </a:lvl3pPr>
                      <a:lvl4pPr>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4pPr>
                      <a:lvl5pPr>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5pPr>
                      <a:lvl6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6pPr>
                      <a:lvl7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7pPr>
                      <a:lvl8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8pPr>
                      <a:lvl9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en-US" sz="1600" b="0" i="0" u="none" strike="noStrike" cap="none" normalizeH="0" baseline="0">
                          <a:ln>
                            <a:noFill/>
                          </a:ln>
                          <a:solidFill>
                            <a:sysClr val="windowText" lastClr="000000"/>
                          </a:solidFill>
                          <a:effectLst/>
                          <a:latin typeface="+mn-lt"/>
                        </a:rPr>
                        <a:t>0</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Comic Sans MS" panose="030F0702030302020204" pitchFamily="66" charset="0"/>
                        </a:defRPr>
                      </a:lvl1pPr>
                      <a:lvl2pPr>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Comic Sans MS" panose="030F0702030302020204" pitchFamily="66" charset="0"/>
                        </a:defRPr>
                      </a:lvl2pPr>
                      <a:lvl3pPr>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Comic Sans MS" panose="030F0702030302020204" pitchFamily="66" charset="0"/>
                        </a:defRPr>
                      </a:lvl3pPr>
                      <a:lvl4pPr>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4pPr>
                      <a:lvl5pPr>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5pPr>
                      <a:lvl6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6pPr>
                      <a:lvl7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7pPr>
                      <a:lvl8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8pPr>
                      <a:lvl9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en-US" sz="1600" b="0" i="0" u="none" strike="noStrike" cap="none" normalizeH="0" baseline="0">
                          <a:ln>
                            <a:noFill/>
                          </a:ln>
                          <a:solidFill>
                            <a:sysClr val="windowText" lastClr="000000"/>
                          </a:solidFill>
                          <a:effectLst/>
                          <a:latin typeface="+mn-lt"/>
                        </a:rPr>
                        <a:t>1</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Comic Sans MS" panose="030F0702030302020204" pitchFamily="66" charset="0"/>
                        </a:defRPr>
                      </a:lvl1pPr>
                      <a:lvl2pPr>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Comic Sans MS" panose="030F0702030302020204" pitchFamily="66" charset="0"/>
                        </a:defRPr>
                      </a:lvl2pPr>
                      <a:lvl3pPr>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Comic Sans MS" panose="030F0702030302020204" pitchFamily="66" charset="0"/>
                        </a:defRPr>
                      </a:lvl3pPr>
                      <a:lvl4pPr>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4pPr>
                      <a:lvl5pPr>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5pPr>
                      <a:lvl6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6pPr>
                      <a:lvl7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7pPr>
                      <a:lvl8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8pPr>
                      <a:lvl9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en-US" sz="1600" b="0" i="0" u="none" strike="noStrike" cap="none" normalizeH="0" baseline="0" dirty="0">
                          <a:ln>
                            <a:noFill/>
                          </a:ln>
                          <a:solidFill>
                            <a:sysClr val="windowText" lastClr="000000"/>
                          </a:solidFill>
                          <a:effectLst/>
                          <a:latin typeface="+mn-lt"/>
                        </a:rPr>
                        <a:t>Count</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47143190"/>
                  </a:ext>
                </a:extLst>
              </a:tr>
              <a:tr h="376903">
                <a:tc>
                  <a:txBody>
                    <a:bodyPr/>
                    <a:lstStyle>
                      <a:lvl1pPr>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Comic Sans MS" panose="030F0702030302020204" pitchFamily="66" charset="0"/>
                        </a:defRPr>
                      </a:lvl1pPr>
                      <a:lvl2pPr>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Comic Sans MS" panose="030F0702030302020204" pitchFamily="66" charset="0"/>
                        </a:defRPr>
                      </a:lvl2pPr>
                      <a:lvl3pPr>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Comic Sans MS" panose="030F0702030302020204" pitchFamily="66" charset="0"/>
                        </a:defRPr>
                      </a:lvl3pPr>
                      <a:lvl4pPr>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4pPr>
                      <a:lvl5pPr>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5pPr>
                      <a:lvl6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6pPr>
                      <a:lvl7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7pPr>
                      <a:lvl8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8pPr>
                      <a:lvl9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en-US" sz="1600" b="0" i="0" u="none" strike="noStrike" cap="none" normalizeH="0" baseline="0">
                          <a:ln>
                            <a:noFill/>
                          </a:ln>
                          <a:solidFill>
                            <a:sysClr val="windowText" lastClr="000000"/>
                          </a:solidFill>
                          <a:effectLst/>
                          <a:latin typeface="+mn-lt"/>
                        </a:rPr>
                        <a:t>1</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Comic Sans MS" panose="030F0702030302020204" pitchFamily="66" charset="0"/>
                        </a:defRPr>
                      </a:lvl1pPr>
                      <a:lvl2pPr>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Comic Sans MS" panose="030F0702030302020204" pitchFamily="66" charset="0"/>
                        </a:defRPr>
                      </a:lvl2pPr>
                      <a:lvl3pPr>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Comic Sans MS" panose="030F0702030302020204" pitchFamily="66" charset="0"/>
                        </a:defRPr>
                      </a:lvl3pPr>
                      <a:lvl4pPr>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4pPr>
                      <a:lvl5pPr>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5pPr>
                      <a:lvl6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6pPr>
                      <a:lvl7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7pPr>
                      <a:lvl8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8pPr>
                      <a:lvl9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en-US" sz="1600" b="0" i="0" u="none" strike="noStrike" cap="none" normalizeH="0" baseline="0">
                          <a:ln>
                            <a:noFill/>
                          </a:ln>
                          <a:solidFill>
                            <a:sysClr val="windowText" lastClr="000000"/>
                          </a:solidFill>
                          <a:effectLst/>
                          <a:latin typeface="+mn-lt"/>
                        </a:rPr>
                        <a:t>x</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Comic Sans MS" panose="030F0702030302020204" pitchFamily="66" charset="0"/>
                        </a:defRPr>
                      </a:lvl1pPr>
                      <a:lvl2pPr>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Comic Sans MS" panose="030F0702030302020204" pitchFamily="66" charset="0"/>
                        </a:defRPr>
                      </a:lvl2pPr>
                      <a:lvl3pPr>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Comic Sans MS" panose="030F0702030302020204" pitchFamily="66" charset="0"/>
                        </a:defRPr>
                      </a:lvl3pPr>
                      <a:lvl4pPr>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4pPr>
                      <a:lvl5pPr>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5pPr>
                      <a:lvl6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6pPr>
                      <a:lvl7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7pPr>
                      <a:lvl8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8pPr>
                      <a:lvl9pPr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en-US" sz="1600" b="0" i="0" u="none" strike="noStrike" cap="none" normalizeH="0" baseline="0" dirty="0">
                          <a:ln>
                            <a:noFill/>
                          </a:ln>
                          <a:solidFill>
                            <a:sysClr val="windowText" lastClr="000000"/>
                          </a:solidFill>
                          <a:effectLst/>
                          <a:latin typeface="+mn-lt"/>
                        </a:rPr>
                        <a:t>Load</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66942065"/>
                  </a:ext>
                </a:extLst>
              </a:tr>
            </a:tbl>
          </a:graphicData>
        </a:graphic>
      </p:graphicFrame>
      <p:pic>
        <p:nvPicPr>
          <p:cNvPr id="6" name="Picture 2">
            <a:extLst>
              <a:ext uri="{FF2B5EF4-FFF2-40B4-BE49-F238E27FC236}">
                <a16:creationId xmlns:a16="http://schemas.microsoft.com/office/drawing/2014/main" id="{54D421FE-6198-78EA-DF46-8238A5FE3F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1667" t="15741" r="5556" b="12038"/>
          <a:stretch>
            <a:fillRect/>
          </a:stretch>
        </p:blipFill>
        <p:spPr bwMode="auto">
          <a:xfrm>
            <a:off x="3505200" y="1371600"/>
            <a:ext cx="4970389" cy="5101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5183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5774AB-EA69-D863-6EBC-07B4CDA0C4C9}"/>
              </a:ext>
            </a:extLst>
          </p:cNvPr>
          <p:cNvSpPr>
            <a:spLocks noGrp="1"/>
          </p:cNvSpPr>
          <p:nvPr>
            <p:ph sz="quarter" idx="10"/>
          </p:nvPr>
        </p:nvSpPr>
        <p:spPr/>
        <p:txBody>
          <a:bodyPr/>
          <a:lstStyle/>
          <a:p>
            <a:r>
              <a:rPr lang="en-US" dirty="0"/>
              <a:t>BCD counter using parallel load counter</a:t>
            </a:r>
            <a:endParaRPr lang="en-IN" dirty="0"/>
          </a:p>
        </p:txBody>
      </p:sp>
      <p:pic>
        <p:nvPicPr>
          <p:cNvPr id="4" name="Picture 4">
            <a:extLst>
              <a:ext uri="{FF2B5EF4-FFF2-40B4-BE49-F238E27FC236}">
                <a16:creationId xmlns:a16="http://schemas.microsoft.com/office/drawing/2014/main" id="{8CEDED19-1E43-7EC2-FA58-FEAA0A68524B}"/>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61458" t="36111" r="23262" b="31296"/>
          <a:stretch>
            <a:fillRect/>
          </a:stretch>
        </p:blipFill>
        <p:spPr>
          <a:xfrm>
            <a:off x="2199105" y="2743201"/>
            <a:ext cx="1676400" cy="2681888"/>
          </a:xfrm>
          <a:noFill/>
          <a:ln/>
          <a:extLst>
            <a:ext uri="{91240B29-F687-4F45-9708-019B960494DF}">
              <a14:hiddenLine xmlns:a14="http://schemas.microsoft.com/office/drawing/2010/main" w="25400" cap="sq">
                <a:solidFill>
                  <a:schemeClr val="tx1"/>
                </a:solidFill>
                <a:miter lim="800000"/>
                <a:headEnd/>
                <a:tailEnd/>
              </a14:hiddenLine>
            </a:ext>
          </a:extLst>
        </p:spPr>
      </p:pic>
      <p:pic>
        <p:nvPicPr>
          <p:cNvPr id="5" name="Picture 4">
            <a:extLst>
              <a:ext uri="{FF2B5EF4-FFF2-40B4-BE49-F238E27FC236}">
                <a16:creationId xmlns:a16="http://schemas.microsoft.com/office/drawing/2014/main" id="{F2994D51-48CC-CBD4-1946-8C33CFB4FDC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093" t="36111" r="12843" b="24814"/>
          <a:stretch>
            <a:fillRect/>
          </a:stretch>
        </p:blipFill>
        <p:spPr bwMode="auto">
          <a:xfrm>
            <a:off x="294105" y="2743200"/>
            <a:ext cx="4724400" cy="321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sq">
                <a:solidFill>
                  <a:schemeClr val="tx1"/>
                </a:solidFill>
                <a:miter lim="800000"/>
                <a:headEnd/>
                <a:tailEnd/>
              </a14:hiddenLine>
            </a:ext>
          </a:extLst>
        </p:spPr>
      </p:pic>
      <p:sp>
        <p:nvSpPr>
          <p:cNvPr id="7" name="TextBox 6">
            <a:extLst>
              <a:ext uri="{FF2B5EF4-FFF2-40B4-BE49-F238E27FC236}">
                <a16:creationId xmlns:a16="http://schemas.microsoft.com/office/drawing/2014/main" id="{8C07BDA0-63F1-8FFA-0605-0638EDD00AD6}"/>
              </a:ext>
            </a:extLst>
          </p:cNvPr>
          <p:cNvSpPr txBox="1"/>
          <p:nvPr/>
        </p:nvSpPr>
        <p:spPr>
          <a:xfrm>
            <a:off x="5105400" y="1618671"/>
            <a:ext cx="3810000" cy="4216539"/>
          </a:xfrm>
          <a:prstGeom prst="rect">
            <a:avLst/>
          </a:prstGeom>
          <a:noFill/>
        </p:spPr>
        <p:txBody>
          <a:bodyPr wrap="square">
            <a:spAutoFit/>
          </a:bodyPr>
          <a:lstStyle/>
          <a:p>
            <a:pPr marL="285750" indent="-285750">
              <a:lnSpc>
                <a:spcPct val="90000"/>
              </a:lnSpc>
              <a:spcAft>
                <a:spcPts val="1000"/>
              </a:spcAft>
              <a:buFont typeface="Arial" panose="020B0604020202020204" pitchFamily="34" charset="0"/>
              <a:buChar char="•"/>
            </a:pPr>
            <a:r>
              <a:rPr lang="en-US" altLang="en-US" sz="1800" dirty="0">
                <a:latin typeface="+mn-lt"/>
              </a:rPr>
              <a:t>The counter starts with an all-zero output</a:t>
            </a:r>
            <a:r>
              <a:rPr lang="en-US" altLang="en-US" dirty="0">
                <a:latin typeface="+mn-lt"/>
              </a:rPr>
              <a:t>.</a:t>
            </a:r>
          </a:p>
          <a:p>
            <a:pPr marL="285750" indent="-285750">
              <a:lnSpc>
                <a:spcPct val="90000"/>
              </a:lnSpc>
              <a:spcAft>
                <a:spcPts val="1000"/>
              </a:spcAft>
              <a:buFont typeface="Arial" panose="020B0604020202020204" pitchFamily="34" charset="0"/>
              <a:buChar char="•"/>
            </a:pPr>
            <a:r>
              <a:rPr lang="en-US" altLang="en-US" sz="1800" dirty="0">
                <a:latin typeface="+mn-lt"/>
              </a:rPr>
              <a:t>As long as the output of the AND gate is 0, each positive clock pulse transition increments the counter by one.</a:t>
            </a:r>
          </a:p>
          <a:p>
            <a:pPr marL="285750" indent="-285750">
              <a:lnSpc>
                <a:spcPct val="90000"/>
              </a:lnSpc>
              <a:spcAft>
                <a:spcPts val="1000"/>
              </a:spcAft>
              <a:buFont typeface="Arial" panose="020B0604020202020204" pitchFamily="34" charset="0"/>
              <a:buChar char="•"/>
            </a:pPr>
            <a:r>
              <a:rPr lang="en-US" altLang="en-US" sz="1800" dirty="0">
                <a:latin typeface="+mn-lt"/>
              </a:rPr>
              <a:t>When the output reaches the count of 1001, both Q</a:t>
            </a:r>
            <a:r>
              <a:rPr lang="en-US" altLang="en-US" sz="1800" baseline="-25000" dirty="0">
                <a:latin typeface="+mn-lt"/>
              </a:rPr>
              <a:t>0</a:t>
            </a:r>
            <a:r>
              <a:rPr lang="en-US" altLang="en-US" sz="1800" dirty="0">
                <a:latin typeface="+mn-lt"/>
              </a:rPr>
              <a:t> and Q</a:t>
            </a:r>
            <a:r>
              <a:rPr lang="en-US" altLang="en-US" sz="1800" baseline="-25000" dirty="0">
                <a:latin typeface="+mn-lt"/>
              </a:rPr>
              <a:t>3 </a:t>
            </a:r>
            <a:r>
              <a:rPr lang="en-US" altLang="en-US" sz="1800" dirty="0">
                <a:latin typeface="+mn-lt"/>
              </a:rPr>
              <a:t>become 1, making the output of the AND gate equal to 1. This condition makes Load active, so on the next clock transition, the counter does not count, but is loaded from its four inputs.</a:t>
            </a:r>
          </a:p>
          <a:p>
            <a:pPr marL="285750" indent="-285750">
              <a:lnSpc>
                <a:spcPct val="90000"/>
              </a:lnSpc>
              <a:spcAft>
                <a:spcPts val="1000"/>
              </a:spcAft>
              <a:buFont typeface="Arial" panose="020B0604020202020204" pitchFamily="34" charset="0"/>
              <a:buChar char="•"/>
            </a:pPr>
            <a:r>
              <a:rPr lang="en-US" altLang="en-US" sz="1800" dirty="0">
                <a:latin typeface="+mn-lt"/>
              </a:rPr>
              <a:t>The value loaded then is 0000.</a:t>
            </a:r>
          </a:p>
        </p:txBody>
      </p:sp>
    </p:spTree>
    <p:extLst>
      <p:ext uri="{BB962C8B-B14F-4D97-AF65-F5344CB8AC3E}">
        <p14:creationId xmlns:p14="http://schemas.microsoft.com/office/powerpoint/2010/main" val="2675759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C1921B-2EE8-30D2-7708-C8F7968D7573}"/>
              </a:ext>
            </a:extLst>
          </p:cNvPr>
          <p:cNvSpPr>
            <a:spLocks noGrp="1"/>
          </p:cNvSpPr>
          <p:nvPr>
            <p:ph idx="1"/>
          </p:nvPr>
        </p:nvSpPr>
        <p:spPr/>
        <p:txBody>
          <a:bodyPr/>
          <a:lstStyle/>
          <a:p>
            <a:pPr>
              <a:buFont typeface="Arial" panose="020B0604020202020204" pitchFamily="34" charset="0"/>
              <a:buChar char="•"/>
            </a:pPr>
            <a:r>
              <a:rPr lang="en-US" dirty="0"/>
              <a:t>Given an arbitrary sequence, design a counter that will generate the sequence</a:t>
            </a:r>
          </a:p>
          <a:p>
            <a:pPr>
              <a:buFont typeface="Arial" panose="020B0604020202020204" pitchFamily="34" charset="0"/>
              <a:buChar char="•"/>
            </a:pPr>
            <a:r>
              <a:rPr lang="en-US" dirty="0"/>
              <a:t>Procedure:</a:t>
            </a:r>
          </a:p>
          <a:p>
            <a:pPr lvl="1">
              <a:buFont typeface="Arial" panose="020B0604020202020204" pitchFamily="34" charset="0"/>
              <a:buChar char="•"/>
            </a:pPr>
            <a:r>
              <a:rPr lang="en-US" dirty="0"/>
              <a:t>Derive state table / diagram based on the sequence</a:t>
            </a:r>
          </a:p>
          <a:p>
            <a:pPr lvl="1">
              <a:buFont typeface="Arial" panose="020B0604020202020204" pitchFamily="34" charset="0"/>
              <a:buChar char="•"/>
            </a:pPr>
            <a:r>
              <a:rPr lang="en-US" dirty="0"/>
              <a:t>Simplify</a:t>
            </a:r>
          </a:p>
          <a:p>
            <a:pPr lvl="1">
              <a:buFont typeface="Arial" panose="020B0604020202020204" pitchFamily="34" charset="0"/>
              <a:buChar char="•"/>
            </a:pPr>
            <a:r>
              <a:rPr lang="en-US" dirty="0"/>
              <a:t>Build the circuit</a:t>
            </a:r>
          </a:p>
          <a:p>
            <a:pPr>
              <a:buFont typeface="Arial" panose="020B0604020202020204" pitchFamily="34" charset="0"/>
              <a:buChar char="•"/>
            </a:pPr>
            <a:r>
              <a:rPr lang="en-US" dirty="0"/>
              <a:t>Example: Use D-FFs to design a sequence generator for the sequence: </a:t>
            </a:r>
            <a:r>
              <a:rPr lang="en-US" sz="2000" dirty="0"/>
              <a:t>0 </a:t>
            </a:r>
            <a:r>
              <a:rPr lang="en-US" sz="2000" dirty="0">
                <a:sym typeface="Wingdings" panose="05000000000000000000" pitchFamily="2" charset="2"/>
              </a:rPr>
              <a:t> 7  6  1  0 (000  111  110  001  000)</a:t>
            </a:r>
            <a:endParaRPr lang="en-IN" dirty="0"/>
          </a:p>
        </p:txBody>
      </p:sp>
      <p:sp>
        <p:nvSpPr>
          <p:cNvPr id="3" name="Content Placeholder 2">
            <a:extLst>
              <a:ext uri="{FF2B5EF4-FFF2-40B4-BE49-F238E27FC236}">
                <a16:creationId xmlns:a16="http://schemas.microsoft.com/office/drawing/2014/main" id="{0734D307-358B-AE42-54F5-DF6F727E82DC}"/>
              </a:ext>
            </a:extLst>
          </p:cNvPr>
          <p:cNvSpPr>
            <a:spLocks noGrp="1"/>
          </p:cNvSpPr>
          <p:nvPr>
            <p:ph sz="quarter" idx="10"/>
          </p:nvPr>
        </p:nvSpPr>
        <p:spPr/>
        <p:txBody>
          <a:bodyPr/>
          <a:lstStyle/>
          <a:p>
            <a:r>
              <a:rPr lang="en-US" dirty="0"/>
              <a:t>Arbitrary sequence counter</a:t>
            </a:r>
            <a:endParaRPr lang="en-IN" dirty="0"/>
          </a:p>
        </p:txBody>
      </p:sp>
    </p:spTree>
    <p:extLst>
      <p:ext uri="{BB962C8B-B14F-4D97-AF65-F5344CB8AC3E}">
        <p14:creationId xmlns:p14="http://schemas.microsoft.com/office/powerpoint/2010/main" val="2305569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7EA5C2-D2B1-913D-8614-95CEA4BC59C1}"/>
              </a:ext>
            </a:extLst>
          </p:cNvPr>
          <p:cNvSpPr>
            <a:spLocks noGrp="1"/>
          </p:cNvSpPr>
          <p:nvPr>
            <p:ph sz="quarter" idx="10"/>
          </p:nvPr>
        </p:nvSpPr>
        <p:spPr/>
        <p:txBody>
          <a:bodyPr/>
          <a:lstStyle/>
          <a:p>
            <a:r>
              <a:rPr lang="en-US" dirty="0"/>
              <a:t>Counters with unused states</a:t>
            </a:r>
            <a:endParaRPr lang="en-IN" dirty="0"/>
          </a:p>
        </p:txBody>
      </p:sp>
      <p:pic>
        <p:nvPicPr>
          <p:cNvPr id="4" name="Picture 2">
            <a:extLst>
              <a:ext uri="{FF2B5EF4-FFF2-40B4-BE49-F238E27FC236}">
                <a16:creationId xmlns:a16="http://schemas.microsoft.com/office/drawing/2014/main" id="{974369DD-9697-659D-55FA-07C9A585C8BD}"/>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5051"/>
          <a:stretch>
            <a:fillRect/>
          </a:stretch>
        </p:blipFill>
        <p:spPr bwMode="auto">
          <a:xfrm>
            <a:off x="2087384" y="1447800"/>
            <a:ext cx="4969232" cy="4966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9713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5DB4F5-7446-5E41-C45C-58C4AA5EE3F5}"/>
              </a:ext>
            </a:extLst>
          </p:cNvPr>
          <p:cNvSpPr>
            <a:spLocks noGrp="1"/>
          </p:cNvSpPr>
          <p:nvPr>
            <p:ph sz="quarter" idx="10"/>
          </p:nvPr>
        </p:nvSpPr>
        <p:spPr/>
        <p:txBody>
          <a:bodyPr/>
          <a:lstStyle/>
          <a:p>
            <a:r>
              <a:rPr lang="en-US" dirty="0"/>
              <a:t>Ring counter</a:t>
            </a:r>
            <a:endParaRPr lang="en-IN" dirty="0"/>
          </a:p>
        </p:txBody>
      </p:sp>
      <p:pic>
        <p:nvPicPr>
          <p:cNvPr id="4" name="Picture 2">
            <a:extLst>
              <a:ext uri="{FF2B5EF4-FFF2-40B4-BE49-F238E27FC236}">
                <a16:creationId xmlns:a16="http://schemas.microsoft.com/office/drawing/2014/main" id="{286FA710-36FA-818B-279B-CE34EB57BC25}"/>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6734"/>
          <a:stretch>
            <a:fillRect/>
          </a:stretch>
        </p:blipFill>
        <p:spPr bwMode="auto">
          <a:xfrm>
            <a:off x="1777713" y="1524000"/>
            <a:ext cx="5588574" cy="49389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8309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C0CC6B-93B0-5DB5-C6AF-7085FF8F4AE9}"/>
              </a:ext>
            </a:extLst>
          </p:cNvPr>
          <p:cNvSpPr>
            <a:spLocks noGrp="1"/>
          </p:cNvSpPr>
          <p:nvPr>
            <p:ph sz="quarter" idx="10"/>
          </p:nvPr>
        </p:nvSpPr>
        <p:spPr/>
        <p:txBody>
          <a:bodyPr/>
          <a:lstStyle/>
          <a:p>
            <a:r>
              <a:rPr lang="en-US" dirty="0"/>
              <a:t>Johnson counter</a:t>
            </a:r>
            <a:endParaRPr lang="en-IN" dirty="0"/>
          </a:p>
        </p:txBody>
      </p:sp>
      <p:pic>
        <p:nvPicPr>
          <p:cNvPr id="4" name="Picture 2">
            <a:extLst>
              <a:ext uri="{FF2B5EF4-FFF2-40B4-BE49-F238E27FC236}">
                <a16:creationId xmlns:a16="http://schemas.microsoft.com/office/drawing/2014/main" id="{E4C88358-9528-81C9-22C8-3A6074B4FBFD}"/>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5051"/>
          <a:stretch>
            <a:fillRect/>
          </a:stretch>
        </p:blipFill>
        <p:spPr bwMode="auto">
          <a:xfrm>
            <a:off x="1740910" y="1447800"/>
            <a:ext cx="5662180" cy="5099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8099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pptA48A.tmp</Template>
  <TotalTime>13395</TotalTime>
  <Words>883</Words>
  <Application>Microsoft Office PowerPoint</Application>
  <PresentationFormat>On-screen Show (4:3)</PresentationFormat>
  <Paragraphs>113</Paragraphs>
  <Slides>27</Slides>
  <Notes>1</Notes>
  <HiddenSlides>2</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4" baseType="lpstr">
      <vt:lpstr>Arial</vt:lpstr>
      <vt:lpstr>Calibri</vt:lpstr>
      <vt:lpstr>Courier New</vt:lpstr>
      <vt:lpstr>Times New Roman</vt:lpstr>
      <vt:lpstr>Wingdings</vt:lpstr>
      <vt:lpstr>Office Theme</vt:lpstr>
      <vt:lpstr>Bitmap Image</vt:lpstr>
      <vt:lpstr>BITS Pilani  Digital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bits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Time Systems</dc:title>
  <dc:creator>a</dc:creator>
  <cp:lastModifiedBy>Saurabh Gandhi</cp:lastModifiedBy>
  <cp:revision>579</cp:revision>
  <dcterms:created xsi:type="dcterms:W3CDTF">2010-01-15T20:22:21Z</dcterms:created>
  <dcterms:modified xsi:type="dcterms:W3CDTF">2026-09-25T09:31:02Z</dcterms:modified>
</cp:coreProperties>
</file>