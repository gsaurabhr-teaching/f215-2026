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482" r:id="rId4"/>
    <p:sldId id="483" r:id="rId5"/>
    <p:sldId id="484" r:id="rId6"/>
    <p:sldId id="485" r:id="rId7"/>
    <p:sldId id="486" r:id="rId8"/>
    <p:sldId id="487" r:id="rId9"/>
    <p:sldId id="488" r:id="rId10"/>
    <p:sldId id="489" r:id="rId11"/>
    <p:sldId id="490" r:id="rId12"/>
    <p:sldId id="491" r:id="rId13"/>
    <p:sldId id="492" r:id="rId14"/>
    <p:sldId id="493" r:id="rId15"/>
    <p:sldId id="494" r:id="rId16"/>
    <p:sldId id="495" r:id="rId17"/>
    <p:sldId id="496" r:id="rId18"/>
    <p:sldId id="497" r:id="rId19"/>
    <p:sldId id="498" r:id="rId20"/>
    <p:sldId id="500" r:id="rId21"/>
    <p:sldId id="499" r:id="rId22"/>
    <p:sldId id="501" r:id="rId23"/>
    <p:sldId id="480" r:id="rId24"/>
    <p:sldId id="481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3578" autoAdjust="0"/>
  </p:normalViewPr>
  <p:slideViewPr>
    <p:cSldViewPr>
      <p:cViewPr varScale="1">
        <p:scale>
          <a:sx n="109" d="100"/>
          <a:sy n="109" d="100"/>
        </p:scale>
        <p:origin x="159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10/12/2026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 w="0">
            <a:noFill/>
          </a:ln>
          <a:effectLst>
            <a:outerShdw blurRad="40000" dist="23000" dir="540000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800" b="0" i="0" kern="1200">
              <a:solidFill>
                <a:schemeClr val="lt1"/>
              </a:solidFill>
              <a:latin typeface="Arial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 w="0">
            <a:noFill/>
          </a:ln>
          <a:effectLst>
            <a:outerShdw blurRad="40000" dist="23000" dir="540000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800" b="0" i="0" kern="1200">
              <a:solidFill>
                <a:schemeClr val="lt1"/>
              </a:solidFill>
              <a:latin typeface="Arial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 w="0">
            <a:noFill/>
          </a:ln>
          <a:effectLst>
            <a:outerShdw blurRad="40000" dist="23000" dir="540000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800" b="0" i="0" kern="1200">
              <a:solidFill>
                <a:schemeClr val="lt1"/>
              </a:solidFill>
              <a:latin typeface="Arial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 w="0">
            <a:noFill/>
          </a:ln>
          <a:effectLst>
            <a:outerShdw blurRad="40000" dist="23000" dir="540000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800" b="0" i="0" kern="1200">
              <a:solidFill>
                <a:schemeClr val="lt1"/>
              </a:solidFill>
              <a:latin typeface="Arial"/>
            </a:endParaRPr>
          </a:p>
        </p:txBody>
      </p:sp>
      <p:pic>
        <p:nvPicPr>
          <p:cNvPr id="6" name="Picture 10" descr="BITS_university_logo_whitevert.png"/>
          <p:cNvPicPr/>
          <p:nvPr/>
        </p:nvPicPr>
        <p:blipFill>
          <a:blip r:embed="rId3"/>
          <a:srcRect t="2" b="28592"/>
          <a:stretch>
            <a:fillRect/>
          </a:stretch>
        </p:blipFill>
        <p:spPr>
          <a:xfrm>
            <a:off x="76200" y="3352800"/>
            <a:ext cx="2057400" cy="1979613"/>
          </a:xfrm>
          <a:prstGeom prst="rect">
            <a:avLst/>
          </a:prstGeom>
          <a:ln w="0">
            <a:noFill/>
          </a:ln>
        </p:spPr>
      </p:pic>
      <p:sp>
        <p:nvSpPr>
          <p:cNvPr id="7" name="TextBox 8"/>
          <p:cNvSpPr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900" b="1" i="0" kern="1200" spc="-150">
                <a:solidFill>
                  <a:schemeClr val="bg1"/>
                </a:solidFill>
                <a:latin typeface="Arial"/>
              </a:rPr>
              <a:t>BITS</a:t>
            </a:r>
            <a:r>
              <a:rPr lang="en-US" sz="2900" b="0" i="0" kern="1200" spc="-150">
                <a:solidFill>
                  <a:schemeClr val="bg1"/>
                </a:solidFill>
                <a:latin typeface="Arial"/>
              </a:rPr>
              <a:t> Pilani</a:t>
            </a:r>
            <a:endParaRPr lang="en-US"/>
          </a:p>
        </p:txBody>
      </p:sp>
      <p:sp>
        <p:nvSpPr>
          <p:cNvPr id="8" name="TextBox 9"/>
          <p:cNvSpPr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b="0" i="0" kern="1200">
                <a:solidFill>
                  <a:srgbClr val="FFFFFF"/>
                </a:solidFill>
                <a:latin typeface="Arial"/>
              </a:rPr>
              <a:t>Pilani Campus</a:t>
            </a:r>
            <a:endParaRPr lang="en-US"/>
          </a:p>
        </p:txBody>
      </p:sp>
      <p:sp>
        <p:nvSpPr>
          <p:cNvPr id="9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/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Click to edit Master text styles</a:t>
            </a:r>
            <a:endParaRPr lang="en-US"/>
          </a:p>
          <a:p>
            <a:pPr lvl="1">
              <a:spcBef>
                <a:spcPct val="0"/>
              </a:spcBef>
              <a:spcAft>
                <a:spcPct val="0"/>
              </a:spcAft>
            </a:pPr>
            <a:r>
              <a:rPr lang="en-US" sz="1800" b="0" i="0" kern="1200">
                <a:solidFill>
                  <a:schemeClr val="tx1"/>
                </a:solidFill>
                <a:latin typeface="Arial"/>
              </a:rPr>
              <a:t>Second level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/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0" i="0" kern="1200" baseline="0">
                <a:solidFill>
                  <a:schemeClr val="bg1"/>
                </a:solidFill>
                <a:latin typeface="Calibri"/>
              </a:rPr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05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61" r:id="rId12"/>
    <p:sldLayoutId id="2147484862" r:id="rId13"/>
    <p:sldLayoutId id="2147484863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anchor="ctr"/>
          <a:lstStyle/>
          <a:p>
            <a:pPr algn="ctr">
              <a:lnSpc>
                <a:spcPts val="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400" b="0" i="0" kern="1200" baseline="0">
                <a:solidFill>
                  <a:schemeClr val="bg1"/>
                </a:solidFill>
                <a:latin typeface="Calibri"/>
              </a:rPr>
              <a:t>Digital Design</a:t>
            </a:r>
            <a:endParaRPr lang="en-US"/>
          </a:p>
        </p:txBody>
      </p:sp>
      <p:sp>
        <p:nvSpPr>
          <p:cNvPr id="3" name="Content Placeholder 1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Prof. GSS Chalapathi,</a:t>
            </a:r>
            <a:endParaRPr lang="en-US"/>
          </a:p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Prof. Saurabh Gandhi,</a:t>
            </a:r>
            <a:endParaRPr lang="en-US"/>
          </a:p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Prof. Ramesh Sambangi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06963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anchor="t"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AutoNum type="arabicPeriod"/>
            </a:pPr>
            <a:r>
              <a:rPr lang="en-US" sz="2400" b="0" i="0" kern="1200">
                <a:solidFill>
                  <a:srgbClr val="C00000"/>
                </a:solidFill>
                <a:latin typeface="Calibri"/>
              </a:rPr>
              <a:t>In a D-latch, output becomes equal to input when…</a:t>
            </a:r>
            <a:endParaRPr lang="en-US"/>
          </a:p>
          <a:p>
            <a:pPr marL="457200" indent="-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AutoNum type="arabicPeriod"/>
            </a:pPr>
            <a:endParaRPr lang="en-US" sz="2400" b="0" i="0" kern="1200">
              <a:solidFill>
                <a:srgbClr val="C0000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AutoNum type="arabicPeriod"/>
            </a:pPr>
            <a:r>
              <a:rPr lang="en-US" sz="2400" b="0" i="0" kern="1200">
                <a:solidFill>
                  <a:srgbClr val="C00000"/>
                </a:solidFill>
                <a:latin typeface="Calibri"/>
              </a:rPr>
              <a:t>In a D-flipflop, output becomes equal to input when…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/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3600" b="1" i="0" kern="1200" spc="-150" baseline="0">
                <a:solidFill>
                  <a:schemeClr val="tx1"/>
                </a:solidFill>
                <a:latin typeface="Calibri"/>
              </a:rPr>
              <a:t>Review questions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2BCA91-F7EC-1B6C-7E5C-C7DEECD6F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Flip-flops store only one bit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surely need larger units of storage, for example 32 bit integers or floating point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register is an extension of a flip flop that can store multiple bits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Registers are commonly used as temporary storage in a processors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Faster and more convenient than main memory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More registers can help speed up complex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EB967-1374-2C45-8FFC-DAD5D64E03B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Registers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02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C2E374-1D2D-5AC7-AB65-99D075A4C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68580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Basic registers are easy to build – just put a bunch of flip flops together!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7E38F-1B25-D16D-7C61-13E73DAA51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basic register</a:t>
            </a: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2485144-941D-E7E9-DD4A-D1936686EE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08" t="11250" r="3738" b="61250"/>
          <a:stretch>
            <a:fillRect/>
          </a:stretch>
        </p:blipFill>
        <p:spPr bwMode="auto">
          <a:xfrm>
            <a:off x="7010400" y="2924175"/>
            <a:ext cx="167640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23FD461-21EE-EF5B-250D-FBDA012D1F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5" t="48750" r="9346"/>
          <a:stretch>
            <a:fillRect/>
          </a:stretch>
        </p:blipFill>
        <p:spPr bwMode="auto">
          <a:xfrm>
            <a:off x="381000" y="2514600"/>
            <a:ext cx="64770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136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4EEFC-B08D-5644-79CF-A0B4D2AE465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Register with LOAD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767F658-311D-D069-3167-C0B2E19C7E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47" b="74525"/>
          <a:stretch>
            <a:fillRect/>
          </a:stretch>
        </p:blipFill>
        <p:spPr bwMode="auto">
          <a:xfrm>
            <a:off x="533400" y="1600201"/>
            <a:ext cx="8458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C3D08884-090C-692E-3233-FA60F9C044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74" b="52536"/>
          <a:stretch>
            <a:fillRect/>
          </a:stretch>
        </p:blipFill>
        <p:spPr bwMode="auto">
          <a:xfrm>
            <a:off x="533400" y="2209801"/>
            <a:ext cx="8458200" cy="1142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EE364EF-0F4C-602D-72F2-58A152BE91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95" b="1161"/>
          <a:stretch>
            <a:fillRect/>
          </a:stretch>
        </p:blipFill>
        <p:spPr bwMode="auto">
          <a:xfrm>
            <a:off x="533400" y="3429000"/>
            <a:ext cx="84582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919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FBF45-30DC-5B43-548B-4873094E4C1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LOAD with ‘clock gating’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06C73B2-19B6-7B1B-4D61-E8B8DF2F90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49"/>
          <a:stretch>
            <a:fillRect/>
          </a:stretch>
        </p:blipFill>
        <p:spPr bwMode="auto">
          <a:xfrm>
            <a:off x="647700" y="3581400"/>
            <a:ext cx="7848600" cy="288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11C36867-B6BA-66D8-5772-C857A7606C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1" b="52052"/>
          <a:stretch>
            <a:fillRect/>
          </a:stretch>
        </p:blipFill>
        <p:spPr bwMode="auto">
          <a:xfrm>
            <a:off x="647700" y="1447801"/>
            <a:ext cx="7848600" cy="2133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493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0BE52-697A-4220-0398-02519FEA9BB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problems with clock gating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1BAC4C3-1C6F-ECE3-D755-F8B5028C33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 b="83905"/>
          <a:stretch>
            <a:fillRect/>
          </a:stretch>
        </p:blipFill>
        <p:spPr bwMode="auto">
          <a:xfrm>
            <a:off x="605510" y="1447801"/>
            <a:ext cx="7932979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FA0ADA3-8FDC-2E48-3C88-4756ED939C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9" b="73250"/>
          <a:stretch>
            <a:fillRect/>
          </a:stretch>
        </p:blipFill>
        <p:spPr bwMode="auto">
          <a:xfrm>
            <a:off x="605509" y="1447800"/>
            <a:ext cx="7932979" cy="91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B5B4994-E03F-996D-DB9B-F6064C78D1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51" b="51941"/>
          <a:stretch>
            <a:fillRect/>
          </a:stretch>
        </p:blipFill>
        <p:spPr bwMode="auto">
          <a:xfrm>
            <a:off x="605508" y="2362198"/>
            <a:ext cx="7932979" cy="121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D8F18FF-4B0C-E1C0-D988-D2A305F0AC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49"/>
          <a:stretch>
            <a:fillRect/>
          </a:stretch>
        </p:blipFill>
        <p:spPr bwMode="auto">
          <a:xfrm>
            <a:off x="647700" y="3581400"/>
            <a:ext cx="7848600" cy="288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316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4A307-B4BC-8479-9DBF-D80C8AE2F0E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better implementation of LOAD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6EB2EAB-4D57-20C5-96B3-7D51F9A2E7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08"/>
          <a:stretch>
            <a:fillRect/>
          </a:stretch>
        </p:blipFill>
        <p:spPr bwMode="auto">
          <a:xfrm>
            <a:off x="415857" y="3048000"/>
            <a:ext cx="8312285" cy="3492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534DBD5-8C0C-1851-6F69-D623756575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83" b="60292"/>
          <a:stretch>
            <a:fillRect/>
          </a:stretch>
        </p:blipFill>
        <p:spPr bwMode="auto">
          <a:xfrm>
            <a:off x="415857" y="1447801"/>
            <a:ext cx="831228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47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EC46-C490-FF55-75D3-D683BEC8FB1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Parallel load without Muxes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33B6234-26A4-4683-A128-3E9B4122E7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>
            <a:fillRect/>
          </a:stretch>
        </p:blipFill>
        <p:spPr bwMode="auto">
          <a:xfrm>
            <a:off x="1951637" y="1371600"/>
            <a:ext cx="5240726" cy="513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99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009BF-5637-6497-7999-FAE1505BC0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Shift registers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CE98A39-670D-046E-38CA-C085F0B590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87"/>
          <a:stretch>
            <a:fillRect/>
          </a:stretch>
        </p:blipFill>
        <p:spPr bwMode="auto">
          <a:xfrm>
            <a:off x="304800" y="1447800"/>
            <a:ext cx="8534400" cy="5050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1934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2B462-4DDC-5945-F318-64092DB8BBD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Shift direction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D85A935-FA4B-8F75-2B57-3E714103B5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90" b="33225"/>
          <a:stretch>
            <a:fillRect/>
          </a:stretch>
        </p:blipFill>
        <p:spPr bwMode="auto">
          <a:xfrm>
            <a:off x="342900" y="1447800"/>
            <a:ext cx="84582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985129B-FB55-F850-1C03-37F5AEEFAD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74" b="1040"/>
          <a:stretch>
            <a:fillRect/>
          </a:stretch>
        </p:blipFill>
        <p:spPr bwMode="auto">
          <a:xfrm>
            <a:off x="342900" y="4572000"/>
            <a:ext cx="84582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206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F4F4B-ABAE-A688-2FC5-C88DCF95297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Shift registers with parallel load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1221F0A-CA9B-EF4F-B4E7-3055234BDE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533400" y="1447800"/>
            <a:ext cx="8077200" cy="5103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4083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C7F58-C8BA-8C78-4B4F-762045FCD72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use of shift registers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5CA6727-13B9-BE2B-D6ED-661CEB5E92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772"/>
          <a:stretch>
            <a:fillRect/>
          </a:stretch>
        </p:blipFill>
        <p:spPr bwMode="auto">
          <a:xfrm>
            <a:off x="253366" y="1752600"/>
            <a:ext cx="8637268" cy="3677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0158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34719-23F1-F410-4C35-5A9556B53A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Receiving serial data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88F5A4B-A9B6-AC77-D4C4-BD9B2BB9B4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26"/>
          <a:stretch>
            <a:fillRect/>
          </a:stretch>
        </p:blipFill>
        <p:spPr bwMode="auto">
          <a:xfrm>
            <a:off x="342900" y="1447800"/>
            <a:ext cx="8458200" cy="4972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8019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B11B4-A2AE-7624-2586-79A497552D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Sending serial data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E83537A-FEB5-6A3C-0563-536EDF6EF1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53"/>
          <a:stretch>
            <a:fillRect/>
          </a:stretch>
        </p:blipFill>
        <p:spPr bwMode="auto">
          <a:xfrm>
            <a:off x="304800" y="1447800"/>
            <a:ext cx="8534400" cy="5026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4059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3932E-BEBA-2F57-3F33-A1CEAFCE4A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Serial addition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F4D07FD-51B8-41E5-FE93-035C9516D1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5"/>
          <a:stretch>
            <a:fillRect/>
          </a:stretch>
        </p:blipFill>
        <p:spPr bwMode="auto">
          <a:xfrm>
            <a:off x="571500" y="1524000"/>
            <a:ext cx="8001000" cy="4784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8357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5FFFC-B5CD-A7F9-F5DF-CF8F5077419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Serial addition – implementation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D807C1A-B1A6-F1F1-1A06-21BF12EA83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2"/>
          <a:stretch>
            <a:fillRect/>
          </a:stretch>
        </p:blipFill>
        <p:spPr bwMode="auto">
          <a:xfrm>
            <a:off x="387485" y="1447800"/>
            <a:ext cx="8369030" cy="5102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305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7BD38-7AEA-49F3-0A2E-DFFCF34A5FA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How to deal with the carry?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92F28AA-BDB8-DF1F-A173-DDF2605233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69"/>
          <a:stretch>
            <a:fillRect/>
          </a:stretch>
        </p:blipFill>
        <p:spPr bwMode="auto">
          <a:xfrm>
            <a:off x="609600" y="1600200"/>
            <a:ext cx="7924800" cy="4287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319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6A04-A8A8-A6D1-67C2-4246C4ACD99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Putting together the serial adder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E0ACE64-6875-B6C1-6233-598C8C870B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571500" y="1447800"/>
            <a:ext cx="8001000" cy="5000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4486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A5E891-1057-3DCD-9A30-F7AFDC2919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600200"/>
            <a:ext cx="8229600" cy="33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F271C-599F-1327-DE7A-7AC51556191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Designing a serial adder from scratch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187953-7794-0FB4-B3AA-4D29B12A8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481" y="5105400"/>
            <a:ext cx="3039037" cy="130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8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FBB4B-05BB-59D8-D7FE-BBA5362955F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Serial adder from scratch implemented with shift registers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EB06F35-958F-5F50-E309-139379793E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18"/>
          <a:stretch>
            <a:fillRect/>
          </a:stretch>
        </p:blipFill>
        <p:spPr bwMode="auto">
          <a:xfrm>
            <a:off x="500099" y="1905000"/>
            <a:ext cx="8143802" cy="414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409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F30C4-14D5-5AC8-97D3-E57E18DE516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Universal shift register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2D6680F-5575-0873-7772-BDC72BC513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867763" y="1371600"/>
            <a:ext cx="7408474" cy="518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826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DB4F5-7446-5E41-C45C-58C4AA5EE3F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Ring counter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86FA710-36FA-818B-279B-CE34EB57BC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1777713" y="1524000"/>
            <a:ext cx="5588574" cy="493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30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0CC6B-93B0-5DB5-C6AF-7085FF8F4A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Johnson counter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88358-9528-81C9-22C8-3A6074B4FB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>
            <a:fillRect/>
          </a:stretch>
        </p:blipFill>
        <p:spPr bwMode="auto">
          <a:xfrm>
            <a:off x="1740910" y="1447800"/>
            <a:ext cx="5662180" cy="509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099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13483</TotalTime>
  <Words>204</Words>
  <Application>Microsoft Office PowerPoint</Application>
  <PresentationFormat>On-screen Show (4:3)</PresentationFormat>
  <Paragraphs>38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582</cp:revision>
  <dcterms:created xsi:type="dcterms:W3CDTF">2010-01-15T20:22:21Z</dcterms:created>
  <dcterms:modified xsi:type="dcterms:W3CDTF">2026-10-12T09:45:16Z</dcterms:modified>
</cp:coreProperties>
</file>