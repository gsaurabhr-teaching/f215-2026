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337" r:id="rId2"/>
    <p:sldId id="482" r:id="rId3"/>
    <p:sldId id="483" r:id="rId4"/>
    <p:sldId id="484" r:id="rId5"/>
    <p:sldId id="485" r:id="rId6"/>
    <p:sldId id="486" r:id="rId7"/>
    <p:sldId id="487" r:id="rId8"/>
    <p:sldId id="488" r:id="rId9"/>
    <p:sldId id="489" r:id="rId10"/>
    <p:sldId id="490" r:id="rId11"/>
    <p:sldId id="491" r:id="rId12"/>
    <p:sldId id="492" r:id="rId13"/>
    <p:sldId id="493" r:id="rId14"/>
    <p:sldId id="494" r:id="rId15"/>
    <p:sldId id="495" r:id="rId16"/>
    <p:sldId id="496" r:id="rId17"/>
    <p:sldId id="497" r:id="rId18"/>
    <p:sldId id="498" r:id="rId19"/>
    <p:sldId id="500" r:id="rId20"/>
    <p:sldId id="499" r:id="rId21"/>
    <p:sldId id="501" r:id="rId2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4" autoAdjust="0"/>
    <p:restoredTop sz="93578" autoAdjust="0"/>
  </p:normalViewPr>
  <p:slideViewPr>
    <p:cSldViewPr>
      <p:cViewPr varScale="1">
        <p:scale>
          <a:sx n="93" d="100"/>
          <a:sy n="93" d="100"/>
        </p:scale>
        <p:origin x="858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9/25/2026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DAF1-3678-81CF-68D0-2FFF8BF1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4762E-50A2-3FD2-FDF4-C54B9B6A93B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A2326C-C066-820B-DC72-5D515C273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2A3138-AE69-F27D-2EAA-23D2B3BFFE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772D5-DBDE-E801-75E8-5C65995AF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069C2E-6178-3D9A-0D54-C41412046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9347512-759C-4E18-9ECE-7FCE1DFA935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22902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3F7038-E9FE-3435-A99B-628D46289E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276600" y="6596063"/>
            <a:ext cx="5867400" cy="261937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en-US" sz="1100" b="1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sz="1100">
                <a:solidFill>
                  <a:srgbClr val="101141"/>
                </a:solidFill>
                <a:cs typeface="Arial" charset="0"/>
              </a:rPr>
              <a:t>Pilani, Pilani Campus</a:t>
            </a:r>
          </a:p>
        </p:txBody>
      </p:sp>
      <p:grpSp>
        <p:nvGrpSpPr>
          <p:cNvPr id="4" name="Group 11">
            <a:extLst>
              <a:ext uri="{FF2B5EF4-FFF2-40B4-BE49-F238E27FC236}">
                <a16:creationId xmlns:a16="http://schemas.microsoft.com/office/drawing/2014/main" id="{C581210D-00F8-03F9-A285-0EF404A95B28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084388" y="6550025"/>
            <a:ext cx="7059612" cy="49213"/>
            <a:chOff x="2083888" y="6550671"/>
            <a:chExt cx="7060112" cy="4866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981720D-E387-AAA5-1040-9B41570959D0}"/>
                </a:ext>
              </a:extLst>
            </p:cNvPr>
            <p:cNvSpPr/>
            <p:nvPr/>
          </p:nvSpPr>
          <p:spPr>
            <a:xfrm>
              <a:off x="4630418" y="6550671"/>
              <a:ext cx="2329027" cy="48665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1E86A8-1855-7B69-B62C-6E258FDAA754}"/>
                </a:ext>
              </a:extLst>
            </p:cNvPr>
            <p:cNvSpPr/>
            <p:nvPr/>
          </p:nvSpPr>
          <p:spPr>
            <a:xfrm>
              <a:off x="6908642" y="6550671"/>
              <a:ext cx="2235358" cy="45525"/>
            </a:xfrm>
            <a:prstGeom prst="rect">
              <a:avLst/>
            </a:prstGeom>
            <a:solidFill>
              <a:srgbClr val="E31C2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0F5A7EC-8365-09AA-A08B-63472C98828A}"/>
                </a:ext>
              </a:extLst>
            </p:cNvPr>
            <p:cNvSpPr/>
            <p:nvPr/>
          </p:nvSpPr>
          <p:spPr>
            <a:xfrm>
              <a:off x="2083888" y="6550671"/>
              <a:ext cx="2581458" cy="48665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pic>
        <p:nvPicPr>
          <p:cNvPr id="8" name="Picture 11" descr="Picture 7.png">
            <a:extLst>
              <a:ext uri="{FF2B5EF4-FFF2-40B4-BE49-F238E27FC236}">
                <a16:creationId xmlns:a16="http://schemas.microsoft.com/office/drawing/2014/main" id="{055BCDEA-2A80-3C2D-080C-509BDDC90C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oup 18">
            <a:extLst>
              <a:ext uri="{FF2B5EF4-FFF2-40B4-BE49-F238E27FC236}">
                <a16:creationId xmlns:a16="http://schemas.microsoft.com/office/drawing/2014/main" id="{4FE31975-C8A2-731C-B1AA-CCD2DCF57F5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57A10F7-F50B-DAEB-B974-D1288E571504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AECCB2B-C7CF-4843-D0DF-2886453D18BC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7A3C326-F746-6ED4-B21E-4BB970D1C982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3" name="Group 22">
            <a:extLst>
              <a:ext uri="{FF2B5EF4-FFF2-40B4-BE49-F238E27FC236}">
                <a16:creationId xmlns:a16="http://schemas.microsoft.com/office/drawing/2014/main" id="{09821B34-ED59-A848-42D8-7954EFE84254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D3EB44-1837-0D6E-CE9B-DBC9F8518DD2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4180C74-B502-6526-25D1-FD5B018B28F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EECA1A-60B6-C307-32D5-77B6F2589D37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525963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>
                <a:latin typeface="+mn-lt"/>
                <a:cs typeface="Arial" pitchFamily="34" charset="0"/>
              </a:defRPr>
            </a:lvl1pPr>
            <a:lvl2pPr marL="742950" marR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>
                <a:latin typeface="+mn-lt"/>
                <a:cs typeface="Arial" pitchFamily="34" charset="0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  <a:endParaRPr lang="en-US" dirty="0"/>
          </a:p>
        </p:txBody>
      </p:sp>
      <p:sp>
        <p:nvSpPr>
          <p:cNvPr id="27" name="Content Placeholder 18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>
            <a:normAutofit/>
          </a:bodyPr>
          <a:lstStyle>
            <a:lvl1pPr marL="0">
              <a:lnSpc>
                <a:spcPts val="3600"/>
              </a:lnSpc>
              <a:spcBef>
                <a:spcPts val="0"/>
              </a:spcBef>
              <a:buNone/>
              <a:defRPr sz="3600" b="1" spc="-15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6525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  <p:sldLayoutId id="2147484861" r:id="rId13"/>
    <p:sldLayoutId id="2147484862" r:id="rId14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BITS </a:t>
            </a:r>
            <a:r>
              <a:rPr lang="en-US" altLang="en-US" dirty="0" err="1"/>
              <a:t>Pilani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Digital Design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Prof. GSS </a:t>
            </a:r>
            <a:r>
              <a:rPr lang="en-US" dirty="0" err="1"/>
              <a:t>Chalapathi</a:t>
            </a:r>
            <a:r>
              <a:rPr lang="en-US" dirty="0"/>
              <a:t>, 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2BCA91-F7EC-1B6C-7E5C-C7DEECD6F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Flip-flops store only one bit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surely need larger units of storage, for example 32 bit integers or floating point numbers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A register is an extension of a flip flop that can store multiple bits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Registers are commonly used as temporary storage in a processors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2000" dirty="0"/>
              <a:t>Faster and more convenient than main memory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2000" dirty="0"/>
              <a:t>More registers can help speed up complex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EB967-1374-2C45-8FFC-DAD5D64E03B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Registers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702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C2E374-1D2D-5AC7-AB65-99D075A4C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93837"/>
            <a:ext cx="6858000" cy="4525963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Basic registers are easy to build – just put a bunch of flip flops together!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7E38F-1B25-D16D-7C61-13E73DAA51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 basic register</a:t>
            </a:r>
            <a:endParaRPr lang="en-IN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2485144-941D-E7E9-DD4A-D1936686EE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308" t="11250" r="3738" b="61250"/>
          <a:stretch>
            <a:fillRect/>
          </a:stretch>
        </p:blipFill>
        <p:spPr bwMode="auto">
          <a:xfrm>
            <a:off x="7010400" y="2924175"/>
            <a:ext cx="1676400" cy="2305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23FD461-21EE-EF5B-250D-FBDA012D1F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5" t="48750" r="9346"/>
          <a:stretch>
            <a:fillRect/>
          </a:stretch>
        </p:blipFill>
        <p:spPr bwMode="auto">
          <a:xfrm>
            <a:off x="381000" y="2514600"/>
            <a:ext cx="6477000" cy="312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91361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4EEFC-B08D-5644-79CF-A0B4D2AE465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Register with LOAD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767F658-311D-D069-3167-C0B2E19C7E6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47" b="74525"/>
          <a:stretch>
            <a:fillRect/>
          </a:stretch>
        </p:blipFill>
        <p:spPr bwMode="auto">
          <a:xfrm>
            <a:off x="533400" y="1600201"/>
            <a:ext cx="8458200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C3D08884-090C-692E-3233-FA60F9C044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74" b="52536"/>
          <a:stretch>
            <a:fillRect/>
          </a:stretch>
        </p:blipFill>
        <p:spPr bwMode="auto">
          <a:xfrm>
            <a:off x="533400" y="2209801"/>
            <a:ext cx="8458200" cy="1142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5EE364EF-0F4C-602D-72F2-58A152BE91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995" b="1161"/>
          <a:stretch>
            <a:fillRect/>
          </a:stretch>
        </p:blipFill>
        <p:spPr bwMode="auto">
          <a:xfrm>
            <a:off x="533400" y="3429000"/>
            <a:ext cx="8458200" cy="2590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29194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FBF45-30DC-5B43-548B-4873094E4C1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LOAD with ‘clock gating’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06C73B2-19B6-7B1B-4D61-E8B8DF2F901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949"/>
          <a:stretch>
            <a:fillRect/>
          </a:stretch>
        </p:blipFill>
        <p:spPr bwMode="auto">
          <a:xfrm>
            <a:off x="647700" y="3581400"/>
            <a:ext cx="7848600" cy="2880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11C36867-B6BA-66D8-5772-C857A7606C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91" b="52052"/>
          <a:stretch>
            <a:fillRect/>
          </a:stretch>
        </p:blipFill>
        <p:spPr bwMode="auto">
          <a:xfrm>
            <a:off x="647700" y="1447801"/>
            <a:ext cx="7848600" cy="21335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14933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0BE52-697A-4220-0398-02519FEA9BB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The problems with clock gating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1BAC4C3-1C6F-ECE3-D755-F8B5028C33F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68" b="83905"/>
          <a:stretch>
            <a:fillRect/>
          </a:stretch>
        </p:blipFill>
        <p:spPr bwMode="auto">
          <a:xfrm>
            <a:off x="605510" y="1447801"/>
            <a:ext cx="7932979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CFA0ADA3-8FDC-2E48-3C88-4756ED939C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69" b="73250"/>
          <a:stretch>
            <a:fillRect/>
          </a:stretch>
        </p:blipFill>
        <p:spPr bwMode="auto">
          <a:xfrm>
            <a:off x="605509" y="1447800"/>
            <a:ext cx="7932979" cy="9143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B5B4994-E03F-996D-DB9B-F6064C78D1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751" b="51941"/>
          <a:stretch>
            <a:fillRect/>
          </a:stretch>
        </p:blipFill>
        <p:spPr bwMode="auto">
          <a:xfrm>
            <a:off x="605508" y="2362198"/>
            <a:ext cx="7932979" cy="12192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DD8F18FF-4B0C-E1C0-D988-D2A305F0AC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949"/>
          <a:stretch>
            <a:fillRect/>
          </a:stretch>
        </p:blipFill>
        <p:spPr bwMode="auto">
          <a:xfrm>
            <a:off x="647700" y="3581400"/>
            <a:ext cx="7848600" cy="2880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6316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4A307-B4BC-8479-9DBF-D80C8AE2F0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 better implementation of LOAD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6EB2EAB-4D57-20C5-96B3-7D51F9A2E7A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708"/>
          <a:stretch>
            <a:fillRect/>
          </a:stretch>
        </p:blipFill>
        <p:spPr bwMode="auto">
          <a:xfrm>
            <a:off x="415857" y="3048000"/>
            <a:ext cx="8312285" cy="3492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4534DBD5-8C0C-1851-6F69-D623756575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83" b="60292"/>
          <a:stretch>
            <a:fillRect/>
          </a:stretch>
        </p:blipFill>
        <p:spPr bwMode="auto">
          <a:xfrm>
            <a:off x="415857" y="1447801"/>
            <a:ext cx="8312285" cy="160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1470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DEC46-C490-FF55-75D3-D683BEC8FB1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Parallel load without Muxes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33B6234-26A4-4683-A128-3E9B4122E75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51"/>
          <a:stretch>
            <a:fillRect/>
          </a:stretch>
        </p:blipFill>
        <p:spPr bwMode="auto">
          <a:xfrm>
            <a:off x="1951637" y="1371600"/>
            <a:ext cx="5240726" cy="513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99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009BF-5637-6497-7999-FAE1505BC0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Shift registers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CE98A39-670D-046E-38CA-C085F0B590C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7"/>
          <a:stretch>
            <a:fillRect/>
          </a:stretch>
        </p:blipFill>
        <p:spPr bwMode="auto">
          <a:xfrm>
            <a:off x="304800" y="1447800"/>
            <a:ext cx="8534400" cy="50503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71934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2B462-4DDC-5945-F318-64092DB8BBD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Shift direction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D85A935-FA4B-8F75-2B57-3E714103B54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90" b="33225"/>
          <a:stretch>
            <a:fillRect/>
          </a:stretch>
        </p:blipFill>
        <p:spPr bwMode="auto">
          <a:xfrm>
            <a:off x="342900" y="1447800"/>
            <a:ext cx="8458200" cy="312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9985129B-FB55-F850-1C03-37F5AEEFAD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774" b="1040"/>
          <a:stretch>
            <a:fillRect/>
          </a:stretch>
        </p:blipFill>
        <p:spPr bwMode="auto">
          <a:xfrm>
            <a:off x="342900" y="4572000"/>
            <a:ext cx="8458200" cy="1828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9206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F4F4B-ABAE-A688-2FC5-C88DCF95297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Shift registers with parallel load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1221F0A-CA9B-EF4F-B4E7-3055234BDE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68"/>
          <a:stretch>
            <a:fillRect/>
          </a:stretch>
        </p:blipFill>
        <p:spPr bwMode="auto">
          <a:xfrm>
            <a:off x="533400" y="1447800"/>
            <a:ext cx="8077200" cy="5103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4083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C7F58-C8BA-8C78-4B4F-762045FCD7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The use of shift registers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5CA6727-13B9-BE2B-D6ED-661CEB5E92A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772"/>
          <a:stretch>
            <a:fillRect/>
          </a:stretch>
        </p:blipFill>
        <p:spPr bwMode="auto">
          <a:xfrm>
            <a:off x="253366" y="1752600"/>
            <a:ext cx="8637268" cy="36771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60158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34719-23F1-F410-4C35-5A9556B53A3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Receiving serial data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88F5A4B-A9B6-AC77-D4C4-BD9B2BB9B49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26"/>
          <a:stretch>
            <a:fillRect/>
          </a:stretch>
        </p:blipFill>
        <p:spPr bwMode="auto">
          <a:xfrm>
            <a:off x="342900" y="1447800"/>
            <a:ext cx="8458200" cy="4972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18019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B11B4-A2AE-7624-2586-79A497552DB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Sending serial data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E83537A-FEB5-6A3C-0563-536EDF6EF11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53"/>
          <a:stretch>
            <a:fillRect/>
          </a:stretch>
        </p:blipFill>
        <p:spPr bwMode="auto">
          <a:xfrm>
            <a:off x="304800" y="1447800"/>
            <a:ext cx="8534400" cy="5026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540597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3932E-BEBA-2F57-3F33-A1CEAFCE4AC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Serial addition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F4D07FD-51B8-41E5-FE93-035C9516D1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85"/>
          <a:stretch>
            <a:fillRect/>
          </a:stretch>
        </p:blipFill>
        <p:spPr bwMode="auto">
          <a:xfrm>
            <a:off x="571500" y="1524000"/>
            <a:ext cx="8001000" cy="47844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38357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FFFC-B5CD-A7F9-F5DF-CF8F507741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Serial addition – implementation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D807C1A-B1A6-F1F1-1A06-21BF12EA835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452"/>
          <a:stretch>
            <a:fillRect/>
          </a:stretch>
        </p:blipFill>
        <p:spPr bwMode="auto">
          <a:xfrm>
            <a:off x="387485" y="1447800"/>
            <a:ext cx="8369030" cy="51024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33059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7BD38-7AEA-49F3-0A2E-DFFCF34A5FA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How to deal with the carry?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92F28AA-BDB8-DF1F-A173-DDF26052333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69"/>
          <a:stretch>
            <a:fillRect/>
          </a:stretch>
        </p:blipFill>
        <p:spPr bwMode="auto">
          <a:xfrm>
            <a:off x="609600" y="1600200"/>
            <a:ext cx="7924800" cy="42871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6319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66A04-A8A8-A6D1-67C2-4246C4ACD9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Putting together the serial adder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E0ACE64-6875-B6C1-6233-598C8C870B4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68"/>
          <a:stretch>
            <a:fillRect/>
          </a:stretch>
        </p:blipFill>
        <p:spPr bwMode="auto">
          <a:xfrm>
            <a:off x="571500" y="1447800"/>
            <a:ext cx="8001000" cy="5000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14486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A5E891-1057-3DCD-9A30-F7AFDC2919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3392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F271C-599F-1327-DE7A-7AC51556191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Designing a serial adder from scratch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187953-7794-0FB4-B3AA-4D29B12A8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2481" y="5105400"/>
            <a:ext cx="3039037" cy="130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180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FBB4B-05BB-59D8-D7FE-BBA5362955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Serial adder from scratch implemented with shift registers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EB06F35-958F-5F50-E309-139379793E1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18"/>
          <a:stretch>
            <a:fillRect/>
          </a:stretch>
        </p:blipFill>
        <p:spPr bwMode="auto">
          <a:xfrm>
            <a:off x="500099" y="1905000"/>
            <a:ext cx="8143802" cy="4144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6409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F30C4-14D5-5AC8-97D3-E57E18DE516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Universal shift register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2D6680F-5575-0873-7772-BDC72BC5131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34"/>
          <a:stretch>
            <a:fillRect/>
          </a:stretch>
        </p:blipFill>
        <p:spPr bwMode="auto">
          <a:xfrm>
            <a:off x="867763" y="1371600"/>
            <a:ext cx="7408474" cy="5180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4826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13483</TotalTime>
  <Words>178</Words>
  <Application>Microsoft Office PowerPoint</Application>
  <PresentationFormat>On-screen Show (4:3)</PresentationFormat>
  <Paragraphs>30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BITS Pilani  Digital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580</cp:revision>
  <dcterms:created xsi:type="dcterms:W3CDTF">2010-01-15T20:22:21Z</dcterms:created>
  <dcterms:modified xsi:type="dcterms:W3CDTF">2026-09-25T09:32:36Z</dcterms:modified>
</cp:coreProperties>
</file>