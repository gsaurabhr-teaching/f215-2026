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82" r:id="rId2"/>
    <p:sldId id="383" r:id="rId3"/>
    <p:sldId id="384" r:id="rId4"/>
    <p:sldId id="376" r:id="rId5"/>
    <p:sldId id="271" r:id="rId6"/>
    <p:sldId id="270" r:id="rId7"/>
    <p:sldId id="368" r:id="rId8"/>
    <p:sldId id="377" r:id="rId9"/>
    <p:sldId id="37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95" d="100"/>
          <a:sy n="95" d="100"/>
        </p:scale>
        <p:origin x="79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6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What is 1’s complement of 10010101?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What is 2’s complement of 10010101?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Select the correct statements about binary representations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Different interpretations of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the same binary string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35B52D7-0C8B-8A66-B061-310AD0FA0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16" b="35185"/>
          <a:stretch>
            <a:fillRect/>
          </a:stretch>
        </p:blipFill>
        <p:spPr bwMode="auto">
          <a:xfrm>
            <a:off x="4800600" y="3756818"/>
            <a:ext cx="4114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0A7BC-EB71-FD07-9BAA-902F84E5E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Representing information in binary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Operations on binary numbers, Boolean Algebra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Obtaining and simplifying binary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for simplifying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in special cases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E33C-DF1D-6815-DFD6-A20593968E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in Binary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6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B15900-D2B6-B356-B550-61007F4A5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21195" y="1493838"/>
            <a:ext cx="6796809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F06D-3585-67F7-3454-DAA86BCC2C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Operations with binary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00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D482DA6-4DA8-E838-6D2B-0F5BE3977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66" r="38889"/>
          <a:stretch>
            <a:fillRect/>
          </a:stretch>
        </p:blipFill>
        <p:spPr bwMode="auto">
          <a:xfrm>
            <a:off x="457200" y="1752600"/>
            <a:ext cx="5029200" cy="3223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3487-69F0-AF82-FF93-478831E007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Boolean algebra: postulates and theorems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F32B3-C0CB-D63A-C212-FDD7F5B3841E}"/>
              </a:ext>
            </a:extLst>
          </p:cNvPr>
          <p:cNvSpPr txBox="1"/>
          <p:nvPr/>
        </p:nvSpPr>
        <p:spPr>
          <a:xfrm>
            <a:off x="425422" y="5248446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Principle of duality: Interchanging operators and the identity elements result in a valid expression!</a:t>
            </a:r>
            <a:endParaRPr lang="en-IN" dirty="0"/>
          </a:p>
        </p:txBody>
      </p:sp>
      <p:pic>
        <p:nvPicPr>
          <p:cNvPr id="9" name="Content Placeholder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C140A45-1030-89EC-699D-2724ACB0AC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11" t="1466"/>
          <a:stretch>
            <a:fillRect/>
          </a:stretch>
        </p:blipFill>
        <p:spPr bwMode="auto">
          <a:xfrm>
            <a:off x="5486400" y="1752599"/>
            <a:ext cx="3200400" cy="3223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E3F5327-50AC-7673-4D9D-446AA72890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"/>
          <a:stretch>
            <a:fillRect/>
          </a:stretch>
        </p:blipFill>
        <p:spPr bwMode="auto">
          <a:xfrm>
            <a:off x="571500" y="1600200"/>
            <a:ext cx="8001000" cy="4935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0FA9-9EDB-CE86-2EDA-5D35B7DD1E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Operator precedence in Boolean expressions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A6476FD-063E-AAC1-B9C3-050B2BF1B2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9" t="15819" r="36363" b="75930"/>
          <a:stretch>
            <a:fillRect/>
          </a:stretch>
        </p:blipFill>
        <p:spPr bwMode="auto">
          <a:xfrm>
            <a:off x="152400" y="1541585"/>
            <a:ext cx="2286000" cy="3734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58A8-78FD-B73F-9E33-CF427A26EA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Examples of Boolean functions</a:t>
            </a:r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7137ED-9F22-A55C-F6A1-396CA51546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45283" r="31923" b="15149"/>
          <a:stretch>
            <a:fillRect/>
          </a:stretch>
        </p:blipFill>
        <p:spPr bwMode="auto">
          <a:xfrm>
            <a:off x="4648200" y="4495800"/>
            <a:ext cx="2971800" cy="1790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2B867D-D29D-7B54-4EDC-CC5B183320B0}"/>
              </a:ext>
            </a:extLst>
          </p:cNvPr>
          <p:cNvSpPr txBox="1"/>
          <p:nvPr/>
        </p:nvSpPr>
        <p:spPr>
          <a:xfrm>
            <a:off x="4114800" y="1541585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will you implement this using gates?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B52490-A251-7DE8-B0E0-B5378770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28249"/>
            <a:ext cx="4343400" cy="188899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9DCA80-022F-332A-E0DA-B29B3C504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004"/>
              </p:ext>
            </p:extLst>
          </p:nvPr>
        </p:nvGraphicFramePr>
        <p:xfrm>
          <a:off x="164960" y="2945113"/>
          <a:ext cx="3178628" cy="3341514"/>
        </p:xfrm>
        <a:graphic>
          <a:graphicData uri="http://schemas.openxmlformats.org/drawingml/2006/table">
            <a:tbl>
              <a:tblPr/>
              <a:tblGrid>
                <a:gridCol w="794657">
                  <a:extLst>
                    <a:ext uri="{9D8B030D-6E8A-4147-A177-3AD203B41FA5}">
                      <a16:colId xmlns:a16="http://schemas.microsoft.com/office/drawing/2014/main" val="3500286273"/>
                    </a:ext>
                  </a:extLst>
                </a:gridCol>
                <a:gridCol w="794657">
                  <a:extLst>
                    <a:ext uri="{9D8B030D-6E8A-4147-A177-3AD203B41FA5}">
                      <a16:colId xmlns:a16="http://schemas.microsoft.com/office/drawing/2014/main" val="805799488"/>
                    </a:ext>
                  </a:extLst>
                </a:gridCol>
                <a:gridCol w="794657">
                  <a:extLst>
                    <a:ext uri="{9D8B030D-6E8A-4147-A177-3AD203B41FA5}">
                      <a16:colId xmlns:a16="http://schemas.microsoft.com/office/drawing/2014/main" val="3282387006"/>
                    </a:ext>
                  </a:extLst>
                </a:gridCol>
                <a:gridCol w="794657">
                  <a:extLst>
                    <a:ext uri="{9D8B030D-6E8A-4147-A177-3AD203B41FA5}">
                      <a16:colId xmlns:a16="http://schemas.microsoft.com/office/drawing/2014/main" val="419579853"/>
                    </a:ext>
                  </a:extLst>
                </a:gridCol>
              </a:tblGrid>
              <a:tr h="41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025118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916303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455233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495584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282987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68967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467558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572875"/>
                  </a:ext>
                </a:extLst>
              </a:tr>
              <a:tr h="166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9795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6672101-B8E4-E143-FBE2-5C9B11745D5E}"/>
              </a:ext>
            </a:extLst>
          </p:cNvPr>
          <p:cNvSpPr txBox="1"/>
          <p:nvPr/>
        </p:nvSpPr>
        <p:spPr>
          <a:xfrm>
            <a:off x="164960" y="2239850"/>
            <a:ext cx="372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truth table of this function?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2AAB8-9B8B-010A-62D7-5AE314723C29}"/>
              </a:ext>
            </a:extLst>
          </p:cNvPr>
          <p:cNvSpPr txBox="1"/>
          <p:nvPr/>
        </p:nvSpPr>
        <p:spPr>
          <a:xfrm>
            <a:off x="4114800" y="4051669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do you notice about the function?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/>
      <p:bldP spid="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391D-7647-517F-C48C-71882B61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A054D79-F47F-20B3-3ECC-75F492AFDF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9" t="42531" b="8269"/>
          <a:stretch>
            <a:fillRect/>
          </a:stretch>
        </p:blipFill>
        <p:spPr bwMode="auto">
          <a:xfrm>
            <a:off x="270540" y="1600200"/>
            <a:ext cx="6466005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F3A97-C673-2D1F-255B-D92429670C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Examples of Boolean functions</a:t>
            </a:r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4DD56E-329B-0CA9-EFCF-ADA89C841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9" t="22917" r="15643" b="11844"/>
          <a:stretch>
            <a:fillRect/>
          </a:stretch>
        </p:blipFill>
        <p:spPr bwMode="auto">
          <a:xfrm>
            <a:off x="380999" y="2362200"/>
            <a:ext cx="5773783" cy="396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154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EC464F-3625-1EFB-7E07-94FA9D9878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229600" cy="4525963"/>
          </a:xfrm>
        </p:spPr>
        <p:txBody>
          <a:bodyPr/>
          <a:lstStyle/>
          <a:p>
            <a:r>
              <a:rPr lang="en-US" altLang="en-US" sz="2000" dirty="0"/>
              <a:t>F’ is a function that takes the value 0 whenever F takes 1 and vice versa</a:t>
            </a:r>
          </a:p>
          <a:p>
            <a:endParaRPr lang="en-US" altLang="en-US" sz="2000" dirty="0"/>
          </a:p>
          <a:p>
            <a:r>
              <a:rPr lang="en-US" altLang="en-US" sz="2000" dirty="0"/>
              <a:t>How do you get the complement of a function?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/>
              <a:t>Use de Morgan’s laws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/>
              <a:t>Alternately:</a:t>
            </a:r>
          </a:p>
          <a:p>
            <a:pPr marL="857250" lvl="1" indent="-457200">
              <a:buAutoNum type="arabicPeriod"/>
            </a:pPr>
            <a:r>
              <a:rPr lang="en-US" altLang="en-US" sz="1800" dirty="0"/>
              <a:t>Take the dual</a:t>
            </a:r>
          </a:p>
          <a:p>
            <a:pPr marL="857250" lvl="1" indent="-457200">
              <a:buAutoNum type="arabicPeriod"/>
            </a:pPr>
            <a:r>
              <a:rPr lang="en-US" altLang="en-US" sz="1800" dirty="0"/>
              <a:t>Complement each literal</a:t>
            </a:r>
          </a:p>
          <a:p>
            <a:pPr>
              <a:buFontTx/>
              <a:buNone/>
            </a:pPr>
            <a:endParaRPr lang="en-US" altLang="en-US" sz="2000" dirty="0"/>
          </a:p>
          <a:p>
            <a:pPr>
              <a:buFontTx/>
              <a:buNone/>
            </a:pPr>
            <a:r>
              <a:rPr lang="en-US" altLang="en-US" sz="2000" dirty="0"/>
              <a:t>Example:</a:t>
            </a:r>
          </a:p>
          <a:p>
            <a:pPr>
              <a:buFontTx/>
              <a:buChar char="-"/>
            </a:pPr>
            <a:r>
              <a:rPr lang="en-US" altLang="en-US" sz="2000" dirty="0"/>
              <a:t>F = X’YZ’ + X’Y’Z</a:t>
            </a:r>
          </a:p>
          <a:p>
            <a:pPr>
              <a:buFontTx/>
              <a:buChar char="-"/>
            </a:pPr>
            <a:r>
              <a:rPr lang="en-US" altLang="en-US" sz="2000" dirty="0">
                <a:solidFill>
                  <a:srgbClr val="C00000"/>
                </a:solidFill>
              </a:rPr>
              <a:t>Dual of F is</a:t>
            </a:r>
            <a:endParaRPr lang="en-US" altLang="en-US" sz="2000" dirty="0"/>
          </a:p>
          <a:p>
            <a:pPr>
              <a:buFontTx/>
              <a:buChar char="-"/>
            </a:pPr>
            <a:r>
              <a:rPr lang="en-US" altLang="en-US" sz="2000" dirty="0"/>
              <a:t>Complementing each literal gives (X+Y’+Z)(X+Y+Z’) = F’</a:t>
            </a:r>
          </a:p>
          <a:p>
            <a:pPr>
              <a:buFontTx/>
              <a:buChar char="-"/>
            </a:pPr>
            <a:endParaRPr lang="en-US" altLang="en-US" sz="2000" dirty="0"/>
          </a:p>
          <a:p>
            <a:pPr>
              <a:buFontTx/>
              <a:buChar char="-"/>
            </a:pPr>
            <a:r>
              <a:rPr lang="en-US" altLang="en-US" sz="2000" dirty="0"/>
              <a:t>Verify with truth tables!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F8C9D6-9213-9D23-46EF-3B81158EBF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Complement of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8EE2C-8A4B-7C4C-456A-75620C33FBDF}"/>
              </a:ext>
            </a:extLst>
          </p:cNvPr>
          <p:cNvSpPr txBox="1"/>
          <p:nvPr/>
        </p:nvSpPr>
        <p:spPr>
          <a:xfrm>
            <a:off x="1828800" y="5037405"/>
            <a:ext cx="259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/>
              <a:t>(X’+Y+Z’)(X’+Y’+Z)</a:t>
            </a:r>
            <a:endParaRPr lang="en-IN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uiExpand="1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7214</TotalTime>
  <Words>267</Words>
  <Application>Microsoft Office PowerPoint</Application>
  <PresentationFormat>On-screen Show (4:3)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556</cp:revision>
  <dcterms:created xsi:type="dcterms:W3CDTF">2010-01-15T20:22:21Z</dcterms:created>
  <dcterms:modified xsi:type="dcterms:W3CDTF">2026-08-06T06:44:20Z</dcterms:modified>
</cp:coreProperties>
</file>