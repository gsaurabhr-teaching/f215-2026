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</p:sldIdLst>
  <p:sldSz cx="9144000" cy="6858000" type="screen4x3"/>
  <p:notesSz cx="6858000" cy="9144000"/>
  <p:embeddedFontLst>
    <p:embeddedFont>
      <p:font typeface="Roboto Mono" panose="00000009000000000000" pitchFamily="49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3" roundtripDataSignature="AMtx7miS3Vgiy3E981MsGQ6mAni8saaJ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1ECA3F-3021-40E8-AC7F-E369226E83D0}">
  <a:tblStyle styleId="{D51ECA3F-3021-40E8-AC7F-E369226E83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798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73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9abf918e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f9abf918e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g3f9abf918e0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409bc430739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409bc430739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g409bc430739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409bc43073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409bc43073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g409bc430739_0_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409bc43073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409bc43073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g409bc430739_0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409bc430739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409bc430739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g409bc430739_0_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409bc430739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409bc430739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g409bc430739_0_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409bc43073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409bc430739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g409bc430739_0_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409bc430739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409bc430739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g409bc430739_0_1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409bc430739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409bc430739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g409bc430739_0_1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409bc430739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409bc430739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g409bc430739_0_1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f9abf918e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f9abf918e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g3f9abf918e0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409bc430739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409bc430739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g409bc430739_0_1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409bc430739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409bc430739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g409bc430739_0_1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409bc4307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409bc4307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g409bc43073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409bc43073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409bc43073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g409bc430739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409bc430739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409bc430739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g409bc430739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409bc430739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409bc430739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g409bc430739_0_1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409bc430739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409bc430739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g409bc430739_0_1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409bc430739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409bc430739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g409bc430739_0_1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409bc430739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409bc430739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g409bc430739_0_2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409bc430739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409bc430739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g409bc430739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409bc430739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409bc430739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g409bc430739_0_2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409bc430739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409bc430739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g409bc430739_0_2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409bc430739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409bc430739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g409bc430739_0_2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409bc430739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409bc430739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g409bc430739_0_2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409bc430739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409bc430739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g409bc430739_0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f9abf918e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f9abf918e0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g3f9abf918e0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9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9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9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9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9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20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28" name="Google Shape;28;p2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" name="Google Shape;31;p20" descr="Picture 7.png"/>
          <p:cNvPicPr preferRelativeResize="0"/>
          <p:nvPr/>
        </p:nvPicPr>
        <p:blipFill rotWithShape="1">
          <a:blip r:embed="rId2">
            <a:alphaModFix/>
          </a:blip>
          <a:srcRect l="1923" b="5336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2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33" name="Google Shape;33;p2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" name="Google Shape;36;p2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7" name="Google Shape;37;p2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" name="Google Shape;40;p20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2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2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2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32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32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"/>
          <p:cNvSpPr txBox="1">
            <a:spLocks noGrp="1"/>
          </p:cNvSpPr>
          <p:nvPr>
            <p:ph type="title"/>
          </p:nvPr>
        </p:nvSpPr>
        <p:spPr>
          <a:xfrm>
            <a:off x="1949150" y="3429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Dataflow &amp; Behavioral Modeling </a:t>
            </a:r>
            <a:endParaRPr dirty="0"/>
          </a:p>
        </p:txBody>
      </p:sp>
      <p:sp>
        <p:nvSpPr>
          <p:cNvPr id="124" name="Google Shape;124;p1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Prof. GSS Chalapathi,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Prof. Saurabh Gandhi,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Prof. Ramesh Sambangi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9abf918e0_0_31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300" b="1"/>
              <a:t>Nets:</a:t>
            </a:r>
            <a:endParaRPr sz="2300" b="1"/>
          </a:p>
          <a:p>
            <a:pPr marL="457200" lvl="0" indent="-374650" algn="l" rtl="0">
              <a:spcBef>
                <a:spcPts val="480"/>
              </a:spcBef>
              <a:spcAft>
                <a:spcPts val="0"/>
              </a:spcAft>
              <a:buSzPts val="2300"/>
              <a:buChar char="❖"/>
            </a:pPr>
            <a:r>
              <a:rPr lang="en-US" sz="2300"/>
              <a:t>Nets represents a physical connection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US" sz="2300"/>
              <a:t>Does not store a value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US" sz="2300"/>
              <a:t>Driven continuously by a source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US" sz="2300"/>
              <a:t>Declared using keyword </a:t>
            </a: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wire.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300" b="1"/>
              <a:t>Registers:</a:t>
            </a:r>
            <a:endParaRPr sz="2300" b="1"/>
          </a:p>
          <a:p>
            <a:pPr marL="457200" lvl="0" indent="-374650" algn="l" rtl="0">
              <a:spcBef>
                <a:spcPts val="480"/>
              </a:spcBef>
              <a:spcAft>
                <a:spcPts val="0"/>
              </a:spcAft>
              <a:buSzPts val="2300"/>
              <a:buChar char="❖"/>
            </a:pPr>
            <a:r>
              <a:rPr lang="en-US" sz="2300"/>
              <a:t>Can hold a value until it is assigned again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US" sz="2300"/>
              <a:t>Declared using keyword </a:t>
            </a: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reg</a:t>
            </a:r>
            <a:r>
              <a:rPr lang="en-US" sz="2300"/>
              <a:t>.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US" sz="2300"/>
              <a:t>Used for signals assigned inside initial or always blocks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reg</a:t>
            </a:r>
            <a:r>
              <a:rPr lang="en-US" sz="2300"/>
              <a:t> does not necessarily mean a hardware register</a:t>
            </a:r>
            <a:endParaRPr sz="23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integer</a:t>
            </a:r>
            <a:r>
              <a:rPr lang="en-US" sz="2300"/>
              <a:t> → signed 32-bit integer, commonly used in testbenches</a:t>
            </a:r>
            <a:endParaRPr sz="23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en-US" sz="2300"/>
              <a:t> → stores simulation time</a:t>
            </a:r>
            <a:endParaRPr sz="23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real </a:t>
            </a:r>
            <a:r>
              <a:rPr lang="en-US" sz="2300"/>
              <a:t>→ floating-point value, mainly for simulation</a:t>
            </a:r>
            <a:endParaRPr sz="2300"/>
          </a:p>
        </p:txBody>
      </p:sp>
      <p:sp>
        <p:nvSpPr>
          <p:cNvPr id="441" name="Google Shape;441;g3f9abf918e0_0_3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Types in Verilog HDL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409bc430739_0_35"/>
          <p:cNvSpPr txBox="1">
            <a:spLocks noGrp="1"/>
          </p:cNvSpPr>
          <p:nvPr>
            <p:ph type="body" idx="1"/>
          </p:nvPr>
        </p:nvSpPr>
        <p:spPr>
          <a:xfrm>
            <a:off x="304800" y="1246187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300" b="1">
                <a:latin typeface="Courier New"/>
                <a:ea typeface="Courier New"/>
                <a:cs typeface="Courier New"/>
                <a:sym typeface="Courier New"/>
              </a:rPr>
              <a:t>integer</a:t>
            </a:r>
            <a:r>
              <a:rPr lang="en-US" sz="2300"/>
              <a:t> → signed 32-bit integer, commonly used in testbenches</a:t>
            </a:r>
            <a:endParaRPr sz="23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Ex: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	integer count;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initial begin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		count = 10;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300" b="1"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en-US" sz="2300"/>
              <a:t> → stores simulation time</a:t>
            </a:r>
            <a:endParaRPr sz="2300"/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time t;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initial begin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		#10 t = $time;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		$display("Time = %t", t);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23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300" b="1">
                <a:latin typeface="Courier New"/>
                <a:ea typeface="Courier New"/>
                <a:cs typeface="Courier New"/>
                <a:sym typeface="Courier New"/>
              </a:rPr>
              <a:t>real</a:t>
            </a: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300"/>
              <a:t>→ floating-point value, mainly for simulation</a:t>
            </a:r>
            <a:endParaRPr sz="2300"/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700">
                <a:latin typeface="Courier New"/>
                <a:ea typeface="Courier New"/>
                <a:cs typeface="Courier New"/>
                <a:sym typeface="Courier New"/>
              </a:rPr>
              <a:t>real voltage;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700">
                <a:latin typeface="Courier New"/>
                <a:ea typeface="Courier New"/>
                <a:cs typeface="Courier New"/>
                <a:sym typeface="Courier New"/>
              </a:rPr>
              <a:t>initial begin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700">
                <a:latin typeface="Courier New"/>
                <a:ea typeface="Courier New"/>
                <a:cs typeface="Courier New"/>
                <a:sym typeface="Courier New"/>
              </a:rPr>
              <a:t>    		voltage = 1.25;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700"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448" name="Google Shape;448;g409bc430739_0_3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types contd..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409bc430739_0_5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types contd..</a:t>
            </a:r>
            <a:endParaRPr/>
          </a:p>
        </p:txBody>
      </p:sp>
      <p:sp>
        <p:nvSpPr>
          <p:cNvPr id="455" name="Google Shape;455;g409bc430739_0_50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b="1" dirty="0"/>
              <a:t>Vectors: </a:t>
            </a:r>
            <a:r>
              <a:rPr lang="en-US" dirty="0"/>
              <a:t>A vector represents multiple bits as a single signal.</a:t>
            </a:r>
            <a:endParaRPr dirty="0"/>
          </a:p>
          <a:p>
            <a:pPr marL="13716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wire [3:0] A;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b="1" dirty="0"/>
              <a:t>Arrays: </a:t>
            </a:r>
            <a:r>
              <a:rPr lang="en-US" dirty="0"/>
              <a:t>An array is a collection of elements.</a:t>
            </a:r>
            <a:endParaRPr dirty="0"/>
          </a:p>
          <a:p>
            <a:pPr marL="13716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reg [7:0] data [0:3];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23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Memory: </a:t>
            </a:r>
            <a:r>
              <a:rPr lang="en-US" dirty="0"/>
              <a:t>A memory can be represented as an </a:t>
            </a:r>
            <a:r>
              <a:rPr lang="en-US" b="1" dirty="0"/>
              <a:t>array of vectors</a:t>
            </a:r>
            <a:r>
              <a:rPr lang="en-US" dirty="0"/>
              <a:t>. useful for representing RAM, ROM, register files, lookup tables, instruction memory, and data memory.</a:t>
            </a:r>
            <a:endParaRPr dirty="0"/>
          </a:p>
          <a:p>
            <a:pPr marL="1371600" lvl="0" indent="45720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reg [7:0] memory [0:15];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56" name="Google Shape;456;g409bc430739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525" y="3061550"/>
            <a:ext cx="712470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409bc430739_0_64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latin typeface="Arial"/>
                <a:ea typeface="Arial"/>
                <a:cs typeface="Arial"/>
                <a:sym typeface="Arial"/>
              </a:rPr>
              <a:t>Parameters: </a:t>
            </a:r>
            <a:r>
              <a:rPr lang="en-US"/>
              <a:t>A parameter represents a constant that can be used to make a design configurable.</a:t>
            </a:r>
            <a:endParaRPr/>
          </a:p>
          <a:p>
            <a:pPr marL="914400" lvl="0" indent="4572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parameter WIDTH = 8;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wire [WIDTH-1:0] A;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b="1"/>
              <a:t>localparam</a:t>
            </a:r>
            <a:r>
              <a:rPr lang="en-US"/>
              <a:t>: is also a constant, but it cannot normally be overridden during module</a:t>
            </a:r>
            <a:endParaRPr/>
          </a:p>
          <a:p>
            <a:pPr marL="457200" lvl="0" indent="45720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localparam IDLE = 2'b00;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localparam RUN  = 2'b01;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localparam DONE = 2'b10;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g409bc430739_0_6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types contd..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409bc430739_0_75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b="1"/>
              <a:t>String: </a:t>
            </a:r>
            <a:r>
              <a:rPr lang="en-US"/>
              <a:t>Verilog does not have a separate string data type in traditional Verilog. A string can be stored in a register/vector.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reg [11*5-1:0] var_name;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initial begin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	var_name = "BITS PILANI";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0" name="Google Shape;470;g409bc430739_0_7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types contd..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409bc430739_0_8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Tasks</a:t>
            </a:r>
            <a:endParaRPr/>
          </a:p>
        </p:txBody>
      </p:sp>
      <p:graphicFrame>
        <p:nvGraphicFramePr>
          <p:cNvPr id="477" name="Google Shape;477;g409bc430739_0_86"/>
          <p:cNvGraphicFramePr/>
          <p:nvPr/>
        </p:nvGraphicFramePr>
        <p:xfrm>
          <a:off x="628650" y="2114925"/>
          <a:ext cx="7239000" cy="4311821"/>
        </p:xfrm>
        <a:graphic>
          <a:graphicData uri="http://schemas.openxmlformats.org/drawingml/2006/table">
            <a:tbl>
              <a:tblPr>
                <a:noFill/>
                <a:tableStyleId>{D51ECA3F-3021-40E8-AC7F-E369226E83D0}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Task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Function</a:t>
                      </a:r>
                      <a:endParaRPr sz="1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Example</a:t>
                      </a:r>
                      <a:endParaRPr sz="18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$display</a:t>
                      </a:r>
                      <a:endParaRPr sz="1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Display once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$display("A=%b",A);</a:t>
                      </a:r>
                      <a:endParaRPr sz="1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$write</a:t>
                      </a:r>
                      <a:endParaRPr sz="1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Display without newline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$write("A=%b",A);</a:t>
                      </a:r>
                      <a:endParaRPr sz="1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$monitor</a:t>
                      </a:r>
                      <a:endParaRPr sz="1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Continuously monitor changes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$monitor("A=%b",A);</a:t>
                      </a:r>
                      <a:endParaRPr sz="1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$time</a:t>
                      </a:r>
                      <a:endParaRPr sz="1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Current simulation time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$time</a:t>
                      </a:r>
                      <a:endParaRPr sz="1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$stop</a:t>
                      </a:r>
                      <a:endParaRPr sz="1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Suspend simulation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$stop;</a:t>
                      </a:r>
                      <a:endParaRPr sz="1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$finish</a:t>
                      </a:r>
                      <a:endParaRPr sz="1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End simulation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$finish;</a:t>
                      </a:r>
                      <a:endParaRPr sz="1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8" name="Google Shape;478;g409bc430739_0_86"/>
          <p:cNvSpPr txBox="1"/>
          <p:nvPr/>
        </p:nvSpPr>
        <p:spPr>
          <a:xfrm>
            <a:off x="552450" y="1238250"/>
            <a:ext cx="8260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System tasks are </a:t>
            </a:r>
            <a:r>
              <a:rPr lang="en-US" sz="2400" b="1">
                <a:solidFill>
                  <a:schemeClr val="dk1"/>
                </a:solidFill>
              </a:rPr>
              <a:t>built-in Verilog commands</a:t>
            </a:r>
            <a:r>
              <a:rPr lang="en-US" sz="2400">
                <a:solidFill>
                  <a:schemeClr val="dk1"/>
                </a:solidFill>
              </a:rPr>
              <a:t> provided by the simulator. 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409bc430739_0_9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Used to print values and messages during simulation. 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Prints only when the statement is executed. 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reg a, b;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reg [3:0] sum;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initial begin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a = 1;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#10 b = 0;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sum = 4'b1010;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$display("a = %b, b = %b, sum = %b", a, b, sum);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output: 	</a:t>
            </a:r>
            <a:endParaRPr sz="1800"/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a = 1, b = 0, sum = 1010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5" name="Google Shape;485;g409bc430739_0_9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$display statement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409bc430739_0_11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String format </a:t>
            </a:r>
            <a:endParaRPr/>
          </a:p>
        </p:txBody>
      </p:sp>
      <p:pic>
        <p:nvPicPr>
          <p:cNvPr id="492" name="Google Shape;492;g409bc430739_0_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775" y="1514475"/>
            <a:ext cx="7410450" cy="43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409bc430739_0_118"/>
          <p:cNvSpPr txBox="1">
            <a:spLocks noGrp="1"/>
          </p:cNvSpPr>
          <p:nvPr>
            <p:ph type="body" idx="1"/>
          </p:nvPr>
        </p:nvSpPr>
        <p:spPr>
          <a:xfrm>
            <a:off x="304800" y="1243114"/>
            <a:ext cx="8672052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keeps watching signals and prints whenever their values change. </a:t>
            </a:r>
            <a:endParaRPr dirty="0"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dirty="0"/>
              <a:t>Ex:</a:t>
            </a:r>
            <a:endParaRPr dirty="0"/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reg a, b;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initial begin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   		 $monitor("Time=%0t : a=%b b=%b", $time, a, b);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        a = 0;</a:t>
            </a: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 	 b = 0;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    	 #10 a = 1;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    	 #10 b = 1;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End</a:t>
            </a: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dirty="0"/>
              <a:t>Output:     	</a:t>
            </a: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Time=0  : a=0 b=0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 	Time=10 : a=1 b=0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lvl="0" indent="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Time=20 : a=1 b=1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499" name="Google Shape;499;g409bc430739_0_11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$monitor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409bc430739_0_129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When the simulator encounters $stop:</a:t>
            </a:r>
            <a:endParaRPr/>
          </a:p>
          <a:p>
            <a:pPr marL="9144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The simulation is paused.</a:t>
            </a:r>
            <a:endParaRPr/>
          </a:p>
          <a:p>
            <a:pPr marL="9144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The simulator enters a debug/interactive mode.</a:t>
            </a:r>
            <a:endParaRPr/>
          </a:p>
          <a:p>
            <a:pPr marL="9144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You can inspect signal values, waveforms, and variables.</a:t>
            </a:r>
            <a:endParaRPr/>
          </a:p>
          <a:p>
            <a:pPr marL="9144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The simulation can generally be resumed from that point.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When the simulator encounters $finish:</a:t>
            </a:r>
            <a:endParaRPr/>
          </a:p>
          <a:p>
            <a:pPr marL="9144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The current simulation is terminated.</a:t>
            </a:r>
            <a:endParaRPr/>
          </a:p>
          <a:p>
            <a:pPr marL="9144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The simulator exits the simulation run.</a:t>
            </a:r>
            <a:endParaRPr/>
          </a:p>
          <a:p>
            <a:pPr marL="9144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No further Verilog statements are executed.</a:t>
            </a:r>
            <a:endParaRPr/>
          </a:p>
          <a:p>
            <a:pPr marL="9144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It is commonly used at the end of a testbench after all test cases are completed.</a:t>
            </a:r>
            <a:endParaRPr/>
          </a:p>
        </p:txBody>
      </p:sp>
      <p:sp>
        <p:nvSpPr>
          <p:cNvPr id="506" name="Google Shape;506;g409bc430739_0_12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/>
              <a:t>$stop &amp; $finish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g3f9abf918e0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7708"/>
            <a:ext cx="9144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409bc430739_0_137"/>
          <p:cNvSpPr txBox="1">
            <a:spLocks noGrp="1"/>
          </p:cNvSpPr>
          <p:nvPr>
            <p:ph type="body" idx="2"/>
          </p:nvPr>
        </p:nvSpPr>
        <p:spPr>
          <a:xfrm rot="5400000" flipH="1">
            <a:off x="-1103325" y="3160700"/>
            <a:ext cx="34449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Operator types</a:t>
            </a:r>
            <a:endParaRPr/>
          </a:p>
        </p:txBody>
      </p:sp>
      <p:pic>
        <p:nvPicPr>
          <p:cNvPr id="519" name="Google Shape;519;g409bc430739_0_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697" y="0"/>
            <a:ext cx="804630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409bc430739_0_144"/>
          <p:cNvSpPr txBox="1">
            <a:spLocks noGrp="1"/>
          </p:cNvSpPr>
          <p:nvPr>
            <p:ph type="body" idx="1"/>
          </p:nvPr>
        </p:nvSpPr>
        <p:spPr>
          <a:xfrm>
            <a:off x="304800" y="1379525"/>
            <a:ext cx="88392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Operator precedence determines which operator is evaluated first when an expression contains multiple operators.</a:t>
            </a:r>
            <a:endParaRPr sz="18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1800"/>
              <a:t>Parentheses have the highest priority. The expression inside parentheses is evaluated first. </a:t>
            </a:r>
            <a:endParaRPr sz="2000"/>
          </a:p>
        </p:txBody>
      </p:sp>
      <p:sp>
        <p:nvSpPr>
          <p:cNvPr id="526" name="Google Shape;526;g409bc430739_0_14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Operator Precedence</a:t>
            </a:r>
            <a:endParaRPr/>
          </a:p>
        </p:txBody>
      </p:sp>
      <p:graphicFrame>
        <p:nvGraphicFramePr>
          <p:cNvPr id="527" name="Google Shape;527;g409bc430739_0_144"/>
          <p:cNvGraphicFramePr/>
          <p:nvPr/>
        </p:nvGraphicFramePr>
        <p:xfrm>
          <a:off x="1609725" y="2389175"/>
          <a:ext cx="7239000" cy="4173010"/>
        </p:xfrm>
        <a:graphic>
          <a:graphicData uri="http://schemas.openxmlformats.org/drawingml/2006/table">
            <a:tbl>
              <a:tblPr>
                <a:noFill/>
                <a:tableStyleId>{D51ECA3F-3021-40E8-AC7F-E369226E83D0}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Operator</a:t>
                      </a:r>
                      <a:endParaRPr sz="16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Symbols</a:t>
                      </a:r>
                      <a:endParaRPr sz="16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Precedence</a:t>
                      </a:r>
                      <a:endParaRPr sz="16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Unary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+ - ! ~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Highest</a:t>
                      </a:r>
                      <a:endParaRPr sz="1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Multiply/Divide/Modulus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* / %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↓</a:t>
                      </a:r>
                      <a:endParaRPr sz="1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Add / Subtract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+ -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↓</a:t>
                      </a:r>
                      <a:endParaRPr sz="1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Shift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&lt;&lt; &gt;&gt;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↓</a:t>
                      </a:r>
                      <a:endParaRPr sz="1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Relational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&lt; &lt;= &gt; &gt;=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↓</a:t>
                      </a:r>
                      <a:endParaRPr sz="1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Equality</a:t>
                      </a:r>
                      <a:endParaRPr sz="1600"/>
                    </a:p>
                  </a:txBody>
                  <a:tcPr marL="91425" marR="91425" marT="91425" marB="91425">
                    <a:lnB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== != === !==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B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↓</a:t>
                      </a:r>
                      <a:endParaRPr/>
                    </a:p>
                  </a:txBody>
                  <a:tcPr marL="91425" marR="91425" marT="91425" marB="91425">
                    <a:lnB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Reduction</a:t>
                      </a:r>
                      <a:endParaRPr sz="1600"/>
                    </a:p>
                  </a:txBody>
                  <a:tcPr marL="114300" marR="114300" marT="76200" marB="76200">
                    <a:lnL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88038"/>
                          </a:solidFill>
                        </a:rPr>
                        <a:t>&amp;, ~&amp; ^  ^~ |, ~|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76200" marB="76200">
                    <a:lnL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↓</a:t>
                      </a:r>
                      <a:endParaRPr sz="1600"/>
                    </a:p>
                  </a:txBody>
                  <a:tcPr marL="114300" marR="114300" marT="76200" marB="76200">
                    <a:lnL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Logical</a:t>
                      </a:r>
                      <a:endParaRPr sz="1600"/>
                    </a:p>
                  </a:txBody>
                  <a:tcPr marL="114300" marR="114300" marT="76200" marB="76200">
                    <a:lnL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88038"/>
                          </a:solidFill>
                        </a:rPr>
                        <a:t>&amp;&amp;    ||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76200" marB="76200">
                    <a:lnL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↓</a:t>
                      </a:r>
                      <a:endParaRPr sz="1600"/>
                    </a:p>
                  </a:txBody>
                  <a:tcPr marL="114300" marR="114300" marT="76200" marB="76200">
                    <a:lnL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Conditional</a:t>
                      </a:r>
                      <a:endParaRPr sz="1600"/>
                    </a:p>
                  </a:txBody>
                  <a:tcPr marL="114300" marR="114300" marT="76200" marB="76200">
                    <a:lnL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88038"/>
                          </a:solidFill>
                        </a:rPr>
                        <a:t>? :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76200" marB="76200">
                    <a:lnL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Lowest precedence</a:t>
                      </a:r>
                      <a:endParaRPr sz="1600"/>
                    </a:p>
                  </a:txBody>
                  <a:tcPr marL="114300" marR="114300" marT="76200" marB="76200">
                    <a:lnL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409bc430739_0_0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The output of a continuous assignment should be a net, typically wire.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The operands on the right-hand side can be registers or nets or function calls. Registers or nets can be scalars or vectors.</a:t>
            </a:r>
            <a:endParaRPr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g409bc430739_0_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Dataflow modelling rules</a:t>
            </a:r>
            <a:endParaRPr/>
          </a:p>
        </p:txBody>
      </p:sp>
      <p:pic>
        <p:nvPicPr>
          <p:cNvPr id="535" name="Google Shape;535;g409bc43073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675" y="3224213"/>
            <a:ext cx="8048625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409bc430739_0_8"/>
          <p:cNvSpPr txBox="1">
            <a:spLocks noGrp="1"/>
          </p:cNvSpPr>
          <p:nvPr>
            <p:ph type="body" idx="1"/>
          </p:nvPr>
        </p:nvSpPr>
        <p:spPr>
          <a:xfrm>
            <a:off x="304800" y="1236662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Implicit Continuous Assignment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Delays: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wire out;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assign #10 out = in1 &amp; in2;</a:t>
            </a:r>
            <a:r>
              <a:rPr lang="en-US" sz="2000"/>
              <a:t> // continuous assign delay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Implicit continuous assignment delay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wire #10 out = inl &amp; in2; </a:t>
            </a:r>
            <a:r>
              <a:rPr lang="en-US" sz="2000"/>
              <a:t>  </a:t>
            </a:r>
            <a:endParaRPr sz="20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542" name="Google Shape;542;g409bc430739_0_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Dataflow modelling contd..</a:t>
            </a:r>
            <a:endParaRPr/>
          </a:p>
        </p:txBody>
      </p:sp>
      <p:pic>
        <p:nvPicPr>
          <p:cNvPr id="543" name="Google Shape;543;g409bc430739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225" y="1752600"/>
            <a:ext cx="77343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g409bc430739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7200" y="4273800"/>
            <a:ext cx="4836801" cy="220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409bc430739_0_29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Using regular boolean expression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Using conditional operator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g409bc430739_0_2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Multiplexer example</a:t>
            </a:r>
            <a:endParaRPr/>
          </a:p>
        </p:txBody>
      </p:sp>
      <p:pic>
        <p:nvPicPr>
          <p:cNvPr id="552" name="Google Shape;552;g409bc430739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225" y="2024071"/>
            <a:ext cx="4622801" cy="150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g409bc430739_0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225" y="4254524"/>
            <a:ext cx="3258450" cy="139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g409bc430739_0_29"/>
          <p:cNvPicPr preferRelativeResize="0"/>
          <p:nvPr/>
        </p:nvPicPr>
        <p:blipFill rotWithShape="1">
          <a:blip r:embed="rId5">
            <a:alphaModFix/>
          </a:blip>
          <a:srcRect l="67735" t="34449" b="24917"/>
          <a:stretch/>
        </p:blipFill>
        <p:spPr>
          <a:xfrm>
            <a:off x="7177175" y="1393950"/>
            <a:ext cx="1582749" cy="150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g409bc430739_0_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34200" y="2895737"/>
            <a:ext cx="2068693" cy="533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409bc430739_0_16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RTL code specifies WHAT operation is required; synthesis determines HOW the operation is implemented in hardware.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 The synthesis tool decides the actual hardware implementation based on the target technology, constraints, and synthesis settings.</a:t>
            </a:r>
            <a:endParaRPr/>
          </a:p>
        </p:txBody>
      </p:sp>
      <p:sp>
        <p:nvSpPr>
          <p:cNvPr id="562" name="Google Shape;562;g409bc430739_0_16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Adder example</a:t>
            </a:r>
            <a:endParaRPr/>
          </a:p>
        </p:txBody>
      </p:sp>
      <p:pic>
        <p:nvPicPr>
          <p:cNvPr id="563" name="Google Shape;563;g409bc430739_0_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5" y="3674408"/>
            <a:ext cx="4581225" cy="227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g409bc430739_0_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5975" y="3719537"/>
            <a:ext cx="4522775" cy="148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409bc430739_0_17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/>
              <a:t>Why do we need behavioral modeling?</a:t>
            </a:r>
            <a:endParaRPr sz="2000"/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Higher level of abstraction – focus on functionality rather than hardware structure.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Less code – complex circuits can be described with a few statements.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Easy to modify – changes in functionality are easier to implement.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Suitable for complex digital systems – counters, controllers, processors, etc.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Synthesizable behavioral code can be converted into hardware by synthesis tools.</a:t>
            </a:r>
            <a:endParaRPr sz="2000"/>
          </a:p>
        </p:txBody>
      </p:sp>
      <p:sp>
        <p:nvSpPr>
          <p:cNvPr id="571" name="Google Shape;571;g409bc430739_0_17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Behavioral Modeling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409bc430739_0_185"/>
          <p:cNvSpPr txBox="1">
            <a:spLocks noGrp="1"/>
          </p:cNvSpPr>
          <p:nvPr>
            <p:ph type="body" idx="1"/>
          </p:nvPr>
        </p:nvSpPr>
        <p:spPr>
          <a:xfrm>
            <a:off x="304800" y="1493823"/>
            <a:ext cx="8229600" cy="5094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Behavioral modeling mainly uses procedural blocks: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always </a:t>
            </a:r>
            <a:r>
              <a:rPr lang="en-US"/>
              <a:t>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initial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/>
              <a:t>Other behavioral statements appear only inside these statements. 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Each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always </a:t>
            </a:r>
            <a:r>
              <a:rPr lang="en-US"/>
              <a:t>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initial </a:t>
            </a:r>
            <a:r>
              <a:rPr lang="en-US"/>
              <a:t>statements represent separate activity flow in verilog.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always </a:t>
            </a:r>
            <a:r>
              <a:rPr lang="en-US"/>
              <a:t>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initial </a:t>
            </a:r>
            <a:r>
              <a:rPr lang="en-US"/>
              <a:t>blocks cannot be nested.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g409bc430739_0_18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Procedural Statements </a:t>
            </a:r>
            <a:endParaRPr/>
          </a:p>
        </p:txBody>
      </p:sp>
      <p:graphicFrame>
        <p:nvGraphicFramePr>
          <p:cNvPr id="579" name="Google Shape;579;g409bc430739_0_185"/>
          <p:cNvGraphicFramePr/>
          <p:nvPr/>
        </p:nvGraphicFramePr>
        <p:xfrm>
          <a:off x="647700" y="4610100"/>
          <a:ext cx="7239000" cy="1942756"/>
        </p:xfrm>
        <a:graphic>
          <a:graphicData uri="http://schemas.openxmlformats.org/drawingml/2006/table">
            <a:tbl>
              <a:tblPr>
                <a:noFill/>
                <a:tableStyleId>{D51ECA3F-3021-40E8-AC7F-E369226E83D0}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Procedural block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initial</a:t>
                      </a:r>
                      <a:endParaRPr sz="1800">
                        <a:solidFill>
                          <a:srgbClr val="18803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Executes once at the beginning of simulation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always</a:t>
                      </a:r>
                      <a:endParaRPr sz="1800">
                        <a:solidFill>
                          <a:srgbClr val="18803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Executes repeatedly whenever its sensitivity condition is satisfied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409bc430739_0_24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initial </a:t>
            </a:r>
            <a:r>
              <a:rPr lang="en-US"/>
              <a:t>block starts at time 0, executes exactly once during a simulation.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if multiple </a:t>
            </a:r>
            <a:r>
              <a:rPr lang="en-US" b="1"/>
              <a:t>initial</a:t>
            </a:r>
            <a:r>
              <a:rPr lang="en-US"/>
              <a:t> blocks present each block  execute parallely at 0.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Useful for initialization</a:t>
            </a:r>
            <a:endParaRPr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monitoring</a:t>
            </a:r>
            <a:endParaRPr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g409bc430739_0_24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initial statement </a:t>
            </a:r>
            <a:endParaRPr/>
          </a:p>
        </p:txBody>
      </p:sp>
      <p:pic>
        <p:nvPicPr>
          <p:cNvPr id="587" name="Google Shape;587;g409bc430739_0_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7625" y="2844795"/>
            <a:ext cx="1837500" cy="347505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g409bc430739_0_248"/>
          <p:cNvSpPr txBox="1"/>
          <p:nvPr/>
        </p:nvSpPr>
        <p:spPr>
          <a:xfrm>
            <a:off x="6175375" y="3130550"/>
            <a:ext cx="3076500" cy="27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   statement executed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        m = 1'b0;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         a = 1'b1;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       x = 1'b0;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      b = 1'b0;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       y = 1'b1;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       $finish;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409bc430739_0_195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The always block is a procedural block used to describe circuit behavior.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The block is executed repeatedly during simulation.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Execution is controlled by a sensitivity list. The sensitivity list specifies which signal changes can trigger the always block.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Commonly used for describing combinational and sequential circuits.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An always block does not mean that the statements execute continuously. It repeatedly waits for an event and then executes.</a:t>
            </a:r>
            <a:endParaRPr/>
          </a:p>
        </p:txBody>
      </p:sp>
      <p:sp>
        <p:nvSpPr>
          <p:cNvPr id="595" name="Google Shape;595;g409bc430739_0_19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always statement </a:t>
            </a:r>
            <a:endParaRPr/>
          </a:p>
        </p:txBody>
      </p:sp>
      <p:pic>
        <p:nvPicPr>
          <p:cNvPr id="596" name="Google Shape;596;g409bc430739_0_1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7601" y="5514975"/>
            <a:ext cx="5503850" cy="10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409bc430739_0_21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Adder example</a:t>
            </a:r>
            <a:endParaRPr/>
          </a:p>
        </p:txBody>
      </p:sp>
      <p:pic>
        <p:nvPicPr>
          <p:cNvPr id="603" name="Google Shape;603;g409bc430739_0_2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748" y="2190750"/>
            <a:ext cx="5637200" cy="347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409bc430739_0_222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Procedural assignments update the values of </a:t>
            </a:r>
            <a:r>
              <a:rPr lang="en-US" b="1" i="1"/>
              <a:t>reg, integer, real, </a:t>
            </a:r>
            <a:r>
              <a:rPr lang="en-US"/>
              <a:t>or</a:t>
            </a:r>
            <a:r>
              <a:rPr lang="en-US" b="1" i="1"/>
              <a:t> time</a:t>
            </a:r>
            <a:r>
              <a:rPr lang="en-US"/>
              <a:t> variables.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The value assigned to the variable remain unchanged until another procedural update. 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Two types: blocking and nonblocking assignments</a:t>
            </a:r>
            <a:endParaRPr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b="1"/>
              <a:t>Blocking Assignments: </a:t>
            </a:r>
            <a:r>
              <a:rPr lang="en-US"/>
              <a:t>A blocking assignment is a procedural assignment is completed before execution proceeds to the next statement. operator used ‘=’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b="1"/>
              <a:t>Nonblocking: </a:t>
            </a:r>
            <a:endParaRPr b="1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g409bc430739_0_22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Procedural Assignments </a:t>
            </a:r>
            <a:endParaRPr/>
          </a:p>
        </p:txBody>
      </p:sp>
      <p:pic>
        <p:nvPicPr>
          <p:cNvPr id="611" name="Google Shape;611;g409bc430739_0_2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0250" y="4693549"/>
            <a:ext cx="2006600" cy="8189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g409bc430739_0_222"/>
          <p:cNvSpPr txBox="1"/>
          <p:nvPr/>
        </p:nvSpPr>
        <p:spPr>
          <a:xfrm>
            <a:off x="2157450" y="4930775"/>
            <a:ext cx="4846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to schedule an update of a variable. operator used ‘&lt;=’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409bc430739_0_23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</a:t>
            </a:r>
            <a:endParaRPr/>
          </a:p>
        </p:txBody>
      </p:sp>
      <p:pic>
        <p:nvPicPr>
          <p:cNvPr id="619" name="Google Shape;619;g409bc430739_0_2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275" y="1609725"/>
            <a:ext cx="8839202" cy="227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g409bc430739_0_2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4132125"/>
            <a:ext cx="7346951" cy="241137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g409bc430739_0_232"/>
          <p:cNvSpPr txBox="1"/>
          <p:nvPr/>
        </p:nvSpPr>
        <p:spPr>
          <a:xfrm>
            <a:off x="4641850" y="1539875"/>
            <a:ext cx="3676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Blocking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g409bc430739_0_232"/>
          <p:cNvSpPr txBox="1"/>
          <p:nvPr/>
        </p:nvSpPr>
        <p:spPr>
          <a:xfrm>
            <a:off x="4765675" y="3816350"/>
            <a:ext cx="3676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Nonblocking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g409bc430739_0_2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25" y="5720598"/>
            <a:ext cx="5918201" cy="8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g409bc430739_0_25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Conditional statements</a:t>
            </a:r>
            <a:endParaRPr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Multiway branching: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case </a:t>
            </a:r>
            <a:r>
              <a:rPr lang="en-US"/>
              <a:t>statement</a:t>
            </a:r>
            <a:endParaRPr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loops: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US"/>
              <a:t>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while </a:t>
            </a:r>
            <a:r>
              <a:rPr lang="en-US"/>
              <a:t>  </a:t>
            </a:r>
            <a:endParaRPr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g409bc430739_0_25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statements </a:t>
            </a:r>
            <a:endParaRPr/>
          </a:p>
        </p:txBody>
      </p:sp>
      <p:pic>
        <p:nvPicPr>
          <p:cNvPr id="631" name="Google Shape;631;g409bc430739_0_2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7200" y="2038350"/>
            <a:ext cx="1974850" cy="104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g409bc430739_0_258"/>
          <p:cNvPicPr preferRelativeResize="0"/>
          <p:nvPr/>
        </p:nvPicPr>
        <p:blipFill rotWithShape="1">
          <a:blip r:embed="rId5">
            <a:alphaModFix/>
          </a:blip>
          <a:srcRect r="13300" b="13300"/>
          <a:stretch/>
        </p:blipFill>
        <p:spPr>
          <a:xfrm>
            <a:off x="1333500" y="3776669"/>
            <a:ext cx="2543175" cy="1190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g409bc430739_0_2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0500" y="4633825"/>
            <a:ext cx="3099725" cy="67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409bc430739_0_26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640" name="Google Shape;640;g409bc430739_0_2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197" y="1435100"/>
            <a:ext cx="3945749" cy="495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g409bc430739_0_2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4223" y="1340637"/>
            <a:ext cx="4399782" cy="514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g3f9abf918e0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30213"/>
            <a:ext cx="9144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1368</Words>
  <Application>Microsoft Office PowerPoint</Application>
  <PresentationFormat>On-screen Show (4:3)</PresentationFormat>
  <Paragraphs>274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Roboto Mono</vt:lpstr>
      <vt:lpstr>Calibri</vt:lpstr>
      <vt:lpstr>Courier New</vt:lpstr>
      <vt:lpstr>Arial</vt:lpstr>
      <vt:lpstr>Office Theme</vt:lpstr>
      <vt:lpstr>Dataflow &amp; Behavioral Modeling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Dataflow &amp; Behavioral Modeling </dc:title>
  <dc:creator>a</dc:creator>
  <cp:lastModifiedBy>Saurabh Gandhi</cp:lastModifiedBy>
  <cp:revision>3</cp:revision>
  <dcterms:created xsi:type="dcterms:W3CDTF">2010-01-15T20:22:21Z</dcterms:created>
  <dcterms:modified xsi:type="dcterms:W3CDTF">2026-09-09T06:48:40Z</dcterms:modified>
</cp:coreProperties>
</file>