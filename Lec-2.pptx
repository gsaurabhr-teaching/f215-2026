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80" r:id="rId2"/>
    <p:sldId id="381" r:id="rId3"/>
    <p:sldId id="383" r:id="rId4"/>
    <p:sldId id="361" r:id="rId5"/>
    <p:sldId id="362" r:id="rId6"/>
    <p:sldId id="373" r:id="rId7"/>
    <p:sldId id="363" r:id="rId8"/>
    <p:sldId id="382" r:id="rId9"/>
    <p:sldId id="276" r:id="rId10"/>
    <p:sldId id="374" r:id="rId11"/>
    <p:sldId id="364" r:id="rId12"/>
    <p:sldId id="376" r:id="rId13"/>
    <p:sldId id="377" r:id="rId14"/>
    <p:sldId id="375" r:id="rId15"/>
    <p:sldId id="379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2" d="100"/>
          <a:sy n="92" d="100"/>
        </p:scale>
        <p:origin x="88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binary numbers, r = 2 and r - 1 = 1, so the 1’s complement of N is (2n - 1) - N. Again, 2n is represented by a binary number that consists of a 1 followed by n 0’s. 2n - 1 is a binary number represented by n 1’s. For example, if n = 4, we have 24 = (10000)2  and 24 - 1 = (1111)2. Thus, the 1’s complement of a binary number is obtained by subtracting each digit from 1. However, when subtracting binary digits from 1, we can have either 1 - 0 = 1 or 1 - 1 = 0, which causes the bit to change from 0 to 1 or from 1 to 0, respectively. Therefore, the 1’s complement of a binary number is formed by changing 1’s to 0’s and 0’s to 1’s.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68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Excess‐3 is an unweighted code in which each coded combination is obtained from the corresponding binary value plus 3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00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different ways to represent -9 with eight bits: </a:t>
            </a:r>
          </a:p>
          <a:p>
            <a:pPr marL="171450" indent="-171450">
              <a:buFontTx/>
              <a:buChar char="-"/>
            </a:pPr>
            <a:r>
              <a:rPr lang="en-US" dirty="0"/>
              <a:t>signed‐magnitude representation: 10001001</a:t>
            </a:r>
          </a:p>
          <a:p>
            <a:pPr marL="171450" indent="-171450">
              <a:buFontTx/>
              <a:buChar char="-"/>
            </a:pPr>
            <a:r>
              <a:rPr lang="en-US" dirty="0"/>
              <a:t>signed‐1’s‐complement representation: 11110110</a:t>
            </a:r>
          </a:p>
          <a:p>
            <a:pPr marL="171450" indent="-171450">
              <a:buFontTx/>
              <a:buChar char="-"/>
            </a:pPr>
            <a:r>
              <a:rPr lang="en-US" dirty="0"/>
              <a:t>signed‐2’s‐complement representation: 11110111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B320-F13B-41AF-BB84-306DCE92248C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243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7365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0" r:id="rId13"/>
    <p:sldLayoutId id="2147484861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E2264-D5C2-5A5B-7B60-1CB8BDAC8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+mj-lt"/>
              </a:rPr>
              <a:t>Which of the following can you ask a make-up for?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+mj-lt"/>
              </a:rPr>
              <a:t>Which of the following should you strictly avoid?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+mj-lt"/>
              </a:rPr>
              <a:t>Select all that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4AF8-CE48-9E57-9398-AC2A50E42B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69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90A7BC-EB71-FD07-9BAA-902F84E5E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Representing information in binary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Operations on binary numbers, Boolean Algebra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Simplifying binary expressions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K-maps for simplifying expressions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K-maps in special cases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E33C-DF1D-6815-DFD6-A20593968E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in Binary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6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983AA-AAC4-E99E-78A1-DCC3BAD305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decimal positional system</a:t>
            </a:r>
          </a:p>
          <a:p>
            <a:r>
              <a:rPr lang="en-US" dirty="0"/>
              <a:t>(base 10 or radix 10)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FEC1DDA-42F0-E5CA-B6E9-F83C3D241D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1676400"/>
            <a:ext cx="6324600" cy="404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CAD90-DB94-0E96-D1E5-256ABC46B1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binary positional system</a:t>
            </a:r>
          </a:p>
          <a:p>
            <a:r>
              <a:rPr lang="en-US" dirty="0"/>
              <a:t>(base 2 or radix 2)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CB8B18B-D0EA-F5BA-4CEB-5A6F510A3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1600200"/>
            <a:ext cx="6324600" cy="417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BB1004-58A3-E4A2-D129-D87D2342ACE0}"/>
              </a:ext>
            </a:extLst>
          </p:cNvPr>
          <p:cNvSpPr txBox="1"/>
          <p:nvPr/>
        </p:nvSpPr>
        <p:spPr>
          <a:xfrm>
            <a:off x="533400" y="5770266"/>
            <a:ext cx="7162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  <a:latin typeface="+mn-lt"/>
              </a:rPr>
              <a:t>What is (0010110)</a:t>
            </a:r>
            <a:r>
              <a:rPr lang="en-US" altLang="en-US" sz="2400" baseline="-25000" dirty="0">
                <a:solidFill>
                  <a:srgbClr val="C00000"/>
                </a:solidFill>
              </a:rPr>
              <a:t>2</a:t>
            </a:r>
            <a:r>
              <a:rPr lang="en-US" altLang="en-US" sz="2400" dirty="0">
                <a:solidFill>
                  <a:srgbClr val="C00000"/>
                </a:solidFill>
                <a:latin typeface="+mn-lt"/>
              </a:rPr>
              <a:t> in decimal? </a:t>
            </a:r>
            <a:endParaRPr lang="en-IN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0364-3130-CD09-03FB-59A3C54F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E3CAA-59A8-DE70-A242-E36AA1B02B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Converting between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8DC34-9174-594A-F46E-76563AB6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31947"/>
            <a:ext cx="5486401" cy="2420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4918AC-4D0F-A08E-3E3E-5A7AC28F0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5029200"/>
            <a:ext cx="5395695" cy="14974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92EA8F-CED7-316B-9A38-E0B291470D86}"/>
              </a:ext>
            </a:extLst>
          </p:cNvPr>
          <p:cNvSpPr txBox="1"/>
          <p:nvPr/>
        </p:nvSpPr>
        <p:spPr>
          <a:xfrm>
            <a:off x="152398" y="1382841"/>
            <a:ext cx="71628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  <a:latin typeface="+mn-lt"/>
              </a:rPr>
              <a:t>Give the binary representation of (41)</a:t>
            </a:r>
            <a:r>
              <a:rPr lang="en-US" altLang="en-US" sz="2400" baseline="-25000" dirty="0">
                <a:solidFill>
                  <a:srgbClr val="C00000"/>
                </a:solidFill>
                <a:latin typeface="+mn-lt"/>
              </a:rPr>
              <a:t>10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96270-AF0E-B8F3-0A2F-B254EB432A47}"/>
              </a:ext>
            </a:extLst>
          </p:cNvPr>
          <p:cNvSpPr txBox="1"/>
          <p:nvPr/>
        </p:nvSpPr>
        <p:spPr>
          <a:xfrm>
            <a:off x="2057400" y="4542305"/>
            <a:ext cx="571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  <a:latin typeface="+mn-lt"/>
              </a:rPr>
              <a:t>Give the binary representation of (0.6875)</a:t>
            </a:r>
            <a:r>
              <a:rPr lang="en-US" altLang="en-US" sz="2400" baseline="-25000" dirty="0">
                <a:solidFill>
                  <a:srgbClr val="C00000"/>
                </a:solidFill>
                <a:latin typeface="+mn-lt"/>
              </a:rPr>
              <a:t>10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ADEFF-B28C-8307-D638-8EC15165A58F}"/>
              </a:ext>
            </a:extLst>
          </p:cNvPr>
          <p:cNvSpPr txBox="1"/>
          <p:nvPr/>
        </p:nvSpPr>
        <p:spPr>
          <a:xfrm>
            <a:off x="5257800" y="1382070"/>
            <a:ext cx="1905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+mn-lt"/>
              </a:rPr>
              <a:t>= (101001)</a:t>
            </a:r>
            <a:r>
              <a:rPr lang="en-US" altLang="en-US" sz="2400" baseline="-25000" dirty="0">
                <a:latin typeface="+mn-lt"/>
              </a:rPr>
              <a:t>2</a:t>
            </a:r>
            <a:endParaRPr lang="en-IN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26B98-BABB-8A8C-5040-B23CAD130C3A}"/>
              </a:ext>
            </a:extLst>
          </p:cNvPr>
          <p:cNvSpPr txBox="1"/>
          <p:nvPr/>
        </p:nvSpPr>
        <p:spPr>
          <a:xfrm>
            <a:off x="7543800" y="4517075"/>
            <a:ext cx="160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+mn-lt"/>
              </a:rPr>
              <a:t>= (0.1011)</a:t>
            </a:r>
            <a:r>
              <a:rPr lang="en-US" altLang="en-US" sz="2400" baseline="-25000" dirty="0">
                <a:latin typeface="+mn-lt"/>
              </a:rPr>
              <a:t>2</a:t>
            </a:r>
            <a:endParaRPr lang="en-IN" baseline="-25000" dirty="0"/>
          </a:p>
        </p:txBody>
      </p:sp>
    </p:spTree>
    <p:extLst>
      <p:ext uri="{BB962C8B-B14F-4D97-AF65-F5344CB8AC3E}">
        <p14:creationId xmlns:p14="http://schemas.microsoft.com/office/powerpoint/2010/main" val="110080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C12B-9887-702E-300F-88A054EBB93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Other common systems you will see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28DFC-63D5-0CCA-3BC3-81C6671FD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81200"/>
            <a:ext cx="762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011E5-1ECA-B6F8-0758-870BDEEF30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Often easier to convert through base 2</a:t>
            </a:r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DABCD6F-D35E-36E0-6D2D-4051F1E259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15" y="0"/>
            <a:ext cx="374638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502F44-A18C-0449-9FAF-C04BCDE31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738"/>
          <a:stretch>
            <a:fillRect/>
          </a:stretch>
        </p:blipFill>
        <p:spPr>
          <a:xfrm>
            <a:off x="990600" y="1562703"/>
            <a:ext cx="7162800" cy="875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E70B73-2EB7-36E3-BD80-616FB0069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65848"/>
          <a:stretch>
            <a:fillRect/>
          </a:stretch>
        </p:blipFill>
        <p:spPr>
          <a:xfrm>
            <a:off x="990600" y="1562702"/>
            <a:ext cx="7162800" cy="1637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3A01AB-BEBF-F12E-68C4-E26D04A6A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53099"/>
          <a:stretch>
            <a:fillRect/>
          </a:stretch>
        </p:blipFill>
        <p:spPr>
          <a:xfrm>
            <a:off x="990600" y="1560970"/>
            <a:ext cx="7162800" cy="2249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F7127E-6BCC-23C9-9B60-5EDCAD18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894"/>
          <a:stretch>
            <a:fillRect/>
          </a:stretch>
        </p:blipFill>
        <p:spPr>
          <a:xfrm>
            <a:off x="990600" y="1562702"/>
            <a:ext cx="7162800" cy="483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8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4F54FF20-303C-A103-6F8A-52523933CF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493837"/>
            <a:ext cx="4572000" cy="4525963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Diminished Radix Complement</a:t>
            </a:r>
            <a:br>
              <a:rPr lang="en-US" altLang="en-US" sz="2000" dirty="0">
                <a:latin typeface="+mn-lt"/>
              </a:rPr>
            </a:br>
            <a:r>
              <a:rPr lang="en-US" altLang="en-US" sz="2000" dirty="0">
                <a:latin typeface="+mn-lt"/>
              </a:rPr>
              <a:t>Number </a:t>
            </a:r>
            <a:r>
              <a:rPr lang="en-US" altLang="en-US" sz="2000" i="1" dirty="0">
                <a:latin typeface="+mn-lt"/>
              </a:rPr>
              <a:t>N</a:t>
            </a:r>
            <a:r>
              <a:rPr lang="en-US" altLang="en-US" sz="2000" dirty="0">
                <a:latin typeface="+mn-lt"/>
              </a:rPr>
              <a:t> in base </a:t>
            </a:r>
            <a:r>
              <a:rPr lang="en-US" altLang="en-US" sz="2000" i="1" dirty="0">
                <a:latin typeface="+mn-lt"/>
              </a:rPr>
              <a:t>r</a:t>
            </a:r>
            <a:r>
              <a:rPr lang="en-US" altLang="en-US" sz="2000" dirty="0">
                <a:latin typeface="+mn-lt"/>
              </a:rPr>
              <a:t> having </a:t>
            </a:r>
            <a:r>
              <a:rPr lang="en-US" altLang="en-US" sz="2000" i="1" dirty="0">
                <a:latin typeface="+mn-lt"/>
              </a:rPr>
              <a:t>n</a:t>
            </a:r>
            <a:r>
              <a:rPr lang="en-US" altLang="en-US" sz="2000" dirty="0">
                <a:latin typeface="+mn-lt"/>
              </a:rPr>
              <a:t> digits:</a:t>
            </a:r>
            <a:br>
              <a:rPr lang="en-US" altLang="en-US" sz="2000" dirty="0">
                <a:latin typeface="+mn-lt"/>
              </a:rPr>
            </a:br>
            <a:r>
              <a:rPr lang="en-US" altLang="en-US" sz="2000" i="1" dirty="0">
                <a:latin typeface="+mn-lt"/>
              </a:rPr>
              <a:t>(r-1)’s </a:t>
            </a:r>
            <a:r>
              <a:rPr lang="en-US" altLang="en-US" sz="2000" dirty="0">
                <a:latin typeface="+mn-lt"/>
              </a:rPr>
              <a:t>complement = </a:t>
            </a:r>
            <a:r>
              <a:rPr lang="en-US" altLang="en-US" sz="2000" i="1" dirty="0">
                <a:latin typeface="+mn-lt"/>
              </a:rPr>
              <a:t>(</a:t>
            </a:r>
            <a:r>
              <a:rPr lang="en-US" altLang="en-US" sz="2000" i="1" dirty="0" err="1">
                <a:latin typeface="+mn-lt"/>
              </a:rPr>
              <a:t>r</a:t>
            </a:r>
            <a:r>
              <a:rPr lang="en-US" altLang="en-US" sz="2000" i="1" baseline="30000" dirty="0" err="1">
                <a:latin typeface="+mn-lt"/>
              </a:rPr>
              <a:t>n</a:t>
            </a:r>
            <a:r>
              <a:rPr lang="en-US" altLang="en-US" sz="2000" i="1" dirty="0">
                <a:latin typeface="+mn-lt"/>
              </a:rPr>
              <a:t> -1) – N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en-US" sz="1800" dirty="0">
                <a:latin typeface="+mn-lt"/>
              </a:rPr>
              <a:t>Obtained by subtracting each digit from </a:t>
            </a:r>
            <a:r>
              <a:rPr lang="en-US" altLang="en-US" sz="1800" i="1" dirty="0">
                <a:latin typeface="+mn-lt"/>
              </a:rPr>
              <a:t>(r - 1)</a:t>
            </a:r>
          </a:p>
          <a:p>
            <a:pPr>
              <a:lnSpc>
                <a:spcPct val="150000"/>
              </a:lnSpc>
              <a:buFontTx/>
              <a:buNone/>
            </a:pPr>
            <a:endParaRPr lang="en-US" altLang="en-US" dirty="0">
              <a:latin typeface="+mn-lt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Radix Complement</a:t>
            </a:r>
            <a:br>
              <a:rPr lang="en-US" altLang="en-US" sz="2000" dirty="0">
                <a:latin typeface="+mn-lt"/>
              </a:rPr>
            </a:br>
            <a:r>
              <a:rPr lang="en-US" altLang="en-US" sz="2000" dirty="0">
                <a:latin typeface="+mn-lt"/>
              </a:rPr>
              <a:t>Number </a:t>
            </a:r>
            <a:r>
              <a:rPr lang="en-US" altLang="en-US" sz="2000" i="1" dirty="0">
                <a:latin typeface="+mn-lt"/>
              </a:rPr>
              <a:t>N</a:t>
            </a:r>
            <a:r>
              <a:rPr lang="en-US" altLang="en-US" sz="2000" dirty="0">
                <a:latin typeface="+mn-lt"/>
              </a:rPr>
              <a:t> in base </a:t>
            </a:r>
            <a:r>
              <a:rPr lang="en-US" altLang="en-US" sz="2000" i="1" dirty="0">
                <a:latin typeface="+mn-lt"/>
              </a:rPr>
              <a:t>r</a:t>
            </a:r>
            <a:r>
              <a:rPr lang="en-US" altLang="en-US" sz="2000" dirty="0">
                <a:latin typeface="+mn-lt"/>
              </a:rPr>
              <a:t> having </a:t>
            </a:r>
            <a:r>
              <a:rPr lang="en-US" altLang="en-US" sz="2000" i="1" dirty="0">
                <a:latin typeface="+mn-lt"/>
              </a:rPr>
              <a:t>n</a:t>
            </a:r>
            <a:r>
              <a:rPr lang="en-US" altLang="en-US" sz="2000" dirty="0">
                <a:latin typeface="+mn-lt"/>
              </a:rPr>
              <a:t> digits:</a:t>
            </a:r>
            <a:br>
              <a:rPr lang="en-US" altLang="en-US" sz="2000" dirty="0">
                <a:latin typeface="+mn-lt"/>
              </a:rPr>
            </a:br>
            <a:r>
              <a:rPr lang="en-US" altLang="en-US" sz="2000" i="1" dirty="0">
                <a:latin typeface="+mn-lt"/>
              </a:rPr>
              <a:t>(r)’s </a:t>
            </a:r>
            <a:r>
              <a:rPr lang="en-US" altLang="en-US" sz="2000" dirty="0">
                <a:latin typeface="+mn-lt"/>
              </a:rPr>
              <a:t>complement = </a:t>
            </a:r>
            <a:r>
              <a:rPr lang="en-US" altLang="en-US" sz="2000" i="1" dirty="0">
                <a:latin typeface="+mn-lt"/>
              </a:rPr>
              <a:t>(</a:t>
            </a:r>
            <a:r>
              <a:rPr lang="en-US" altLang="en-US" sz="2000" i="1" dirty="0" err="1">
                <a:latin typeface="+mn-lt"/>
              </a:rPr>
              <a:t>r</a:t>
            </a:r>
            <a:r>
              <a:rPr lang="en-US" altLang="en-US" sz="2000" i="1" baseline="30000" dirty="0" err="1">
                <a:latin typeface="+mn-lt"/>
              </a:rPr>
              <a:t>n</a:t>
            </a:r>
            <a:r>
              <a:rPr lang="en-US" altLang="en-US" sz="2000" i="1" dirty="0">
                <a:latin typeface="+mn-lt"/>
              </a:rPr>
              <a:t> – N 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>
              <a:solidFill>
                <a:srgbClr val="FFFF00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>
              <a:solidFill>
                <a:srgbClr val="FFFF00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>
              <a:solidFill>
                <a:srgbClr val="FFFF00"/>
              </a:solidFill>
              <a:latin typeface="+mn-lt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161F62-622D-EDBA-3BB4-BBFECF449F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Radix complements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0F51629-8A49-ACF7-C49A-C59D1F220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479982"/>
            <a:ext cx="3657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altLang="en-US" sz="1800" dirty="0">
                <a:latin typeface="+mn-lt"/>
              </a:rPr>
              <a:t>Examples:</a:t>
            </a:r>
          </a:p>
          <a:p>
            <a:pPr marL="0" indent="0"/>
            <a:endParaRPr lang="en-US" altLang="en-US" sz="1800" dirty="0">
              <a:latin typeface="+mn-lt"/>
            </a:endParaRPr>
          </a:p>
          <a:p>
            <a:pPr marL="457200" indent="-457200">
              <a:buAutoNum type="arabicPeriod"/>
            </a:pPr>
            <a:r>
              <a:rPr lang="en-US" altLang="en-US" sz="1800" dirty="0">
                <a:latin typeface="+mn-lt"/>
              </a:rPr>
              <a:t>What is 1’s complement of a binary number, 1011000</a:t>
            </a:r>
          </a:p>
          <a:p>
            <a:pPr marL="457200" indent="-457200">
              <a:buAutoNum type="arabicPeriod"/>
            </a:pPr>
            <a:endParaRPr lang="en-US" altLang="en-US" sz="1800" dirty="0">
              <a:latin typeface="+mn-lt"/>
            </a:endParaRPr>
          </a:p>
          <a:p>
            <a:pPr marL="0" indent="0"/>
            <a:r>
              <a:rPr lang="en-US" altLang="en-US" sz="1800" dirty="0">
                <a:latin typeface="+mn-lt"/>
              </a:rPr>
              <a:t>“The 1’s complement of a binary number is formed by changing 1’s to 0’s and 0’s to 1’s”</a:t>
            </a:r>
          </a:p>
          <a:p>
            <a:pPr marL="0" indent="0"/>
            <a:endParaRPr lang="en-US" altLang="en-US" sz="1800" dirty="0">
              <a:latin typeface="+mn-lt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altLang="en-US" sz="1800" dirty="0">
                <a:latin typeface="+mn-lt"/>
              </a:rPr>
              <a:t>What is the 2’s complement of 1101100?</a:t>
            </a:r>
          </a:p>
          <a:p>
            <a:pPr marL="457200" indent="-457200">
              <a:buFont typeface="+mj-lt"/>
              <a:buAutoNum type="arabicPeriod" startAt="2"/>
            </a:pPr>
            <a:endParaRPr lang="en-US" altLang="en-US" sz="1800" dirty="0">
              <a:latin typeface="+mn-lt"/>
            </a:endParaRPr>
          </a:p>
          <a:p>
            <a:pPr marL="0" indent="0"/>
            <a:r>
              <a:rPr lang="en-US" altLang="en-US" sz="1800" dirty="0">
                <a:latin typeface="+mn-lt"/>
              </a:rPr>
              <a:t>“The 2’s complement is obtained by leaving the least significant 1 unchanged and complementing all other digits”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EDEB6-6C43-E6C8-4318-6BD300DC15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Subtracting numbers with complements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F905A-324D-F54B-66BC-50914C2C5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68220"/>
            <a:ext cx="8534400" cy="272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76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8A615-822B-798C-B7B8-0A090E581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52400" y="1676400"/>
            <a:ext cx="5813156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D9DC6-A20E-5D5D-0558-3350B2AB25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Binary Coding: Representing decimal digits in binary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B80B7-F372-8E7E-DB55-DEF2CCC1F6C2}"/>
              </a:ext>
            </a:extLst>
          </p:cNvPr>
          <p:cNvSpPr txBox="1"/>
          <p:nvPr/>
        </p:nvSpPr>
        <p:spPr>
          <a:xfrm>
            <a:off x="6172200" y="1678132"/>
            <a:ext cx="2819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latin typeface="+mn-lt"/>
              </a:rPr>
              <a:t>What is the difference between base 2 and binary coded numbers?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j-lt"/>
              </a:rPr>
              <a:t>Remember,</a:t>
            </a:r>
          </a:p>
          <a:p>
            <a:r>
              <a:rPr lang="en-US" dirty="0">
                <a:latin typeface="+mj-lt"/>
              </a:rPr>
              <a:t>(41)</a:t>
            </a:r>
            <a:r>
              <a:rPr lang="en-US" baseline="-25000" dirty="0">
                <a:latin typeface="+mj-lt"/>
              </a:rPr>
              <a:t>10</a:t>
            </a:r>
            <a:r>
              <a:rPr lang="en-US" dirty="0">
                <a:latin typeface="+mj-lt"/>
              </a:rPr>
              <a:t>= (101001)</a:t>
            </a:r>
            <a:r>
              <a:rPr lang="en-US" baseline="-25000" dirty="0">
                <a:latin typeface="+mj-lt"/>
              </a:rPr>
              <a:t>2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dirty="0">
                <a:solidFill>
                  <a:srgbClr val="C00000"/>
                </a:solidFill>
                <a:latin typeface="+mj-lt"/>
              </a:rPr>
              <a:t>How would you represent </a:t>
            </a:r>
            <a:r>
              <a:rPr lang="en-US" dirty="0">
                <a:solidFill>
                  <a:srgbClr val="C00000"/>
                </a:solidFill>
              </a:rPr>
              <a:t>(41)</a:t>
            </a:r>
            <a:r>
              <a:rPr lang="en-US" baseline="-25000" dirty="0">
                <a:solidFill>
                  <a:srgbClr val="C00000"/>
                </a:solidFill>
              </a:rPr>
              <a:t>10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 in BCD?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0100 0001!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2421 code: 0100 0001</a:t>
            </a:r>
          </a:p>
          <a:p>
            <a:r>
              <a:rPr lang="en-US" dirty="0">
                <a:latin typeface="+mj-lt"/>
              </a:rPr>
              <a:t>Excess-3:     0111 0100</a:t>
            </a:r>
          </a:p>
          <a:p>
            <a:r>
              <a:rPr lang="en-US" dirty="0">
                <a:latin typeface="+mj-lt"/>
              </a:rPr>
              <a:t>8,4,-2,-1:     0100 0111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96A83F-0727-6795-D513-0A45E5ABE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93837"/>
            <a:ext cx="5638800" cy="4525963"/>
          </a:xfrm>
        </p:spPr>
        <p:txBody>
          <a:bodyPr/>
          <a:lstStyle/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/>
              <a:t>BCD requires adding 6 to the result if it is greater than 9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/>
              <a:t>The 2421 and the excess‐3 codes are self‐complementing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/>
              <a:t>9’s complement of a decimal number is obtained directly by changing 1’s to 0’s and 0’s to 1’s</a:t>
            </a:r>
          </a:p>
          <a:p>
            <a:pPr>
              <a:spcBef>
                <a:spcPts val="900"/>
              </a:spcBef>
              <a:buFontTx/>
              <a:buChar char="-"/>
            </a:pPr>
            <a:endParaRPr lang="en-US" sz="2200" dirty="0"/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/>
              <a:t>Making a robust (error-tolerant) code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/>
              <a:t>Purpose? Transmitting a discretized version of a continuous signal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/>
              <a:t>What can go wrong?</a:t>
            </a:r>
            <a:endParaRPr lang="en-IN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00985-0278-DD93-813D-4CCB41969D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Why all the different codes?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C9204-A15C-048F-7541-4F5459E7F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493837"/>
            <a:ext cx="3238463" cy="467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5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968E6-955F-BD7E-A7F4-57253A5E0B6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to generate the Gray code? Mirroring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08E861-9E35-DFD5-17AA-686EC4AEF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061" r="51365" b="50340"/>
          <a:stretch>
            <a:fillRect/>
          </a:stretch>
        </p:blipFill>
        <p:spPr bwMode="auto">
          <a:xfrm>
            <a:off x="3124200" y="1524001"/>
            <a:ext cx="1371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3A40DC35-E937-735D-9646-2EA60F53DE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55" r="51365" b="680"/>
          <a:stretch>
            <a:fillRect/>
          </a:stretch>
        </p:blipFill>
        <p:spPr bwMode="auto">
          <a:xfrm>
            <a:off x="2819400" y="1524000"/>
            <a:ext cx="1678912" cy="487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B280A55E-4A3C-EEF6-5007-06C3F88485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59" r="51366" b="680"/>
          <a:stretch>
            <a:fillRect/>
          </a:stretch>
        </p:blipFill>
        <p:spPr bwMode="auto">
          <a:xfrm>
            <a:off x="1752600" y="1524000"/>
            <a:ext cx="2745712" cy="487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F5D9AA54-C6F6-2F5D-C410-0403AC2EA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60" r="-467" b="680"/>
          <a:stretch>
            <a:fillRect/>
          </a:stretch>
        </p:blipFill>
        <p:spPr bwMode="auto">
          <a:xfrm>
            <a:off x="1752600" y="1524000"/>
            <a:ext cx="5638800" cy="487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170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38B3E2-E5DA-3843-9BFF-FB4702B64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93837"/>
            <a:ext cx="8839200" cy="4983163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>
                <a:latin typeface="+mj-lt"/>
              </a:rPr>
              <a:t>Can we put a minus sign in a computer?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>
                <a:latin typeface="+mj-lt"/>
              </a:rPr>
              <a:t>Both signed and unsigned binary numbers consist of a string of bits when represented in a computer!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>
                <a:latin typeface="+mj-lt"/>
              </a:rPr>
              <a:t>The user determines whether the number is signed or unsigned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>
                <a:latin typeface="+mj-lt"/>
              </a:rPr>
              <a:t>The signed magnitude system: left-most symbol indicates the sign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>
                <a:latin typeface="+mj-lt"/>
              </a:rPr>
              <a:t>The complement </a:t>
            </a:r>
            <a:r>
              <a:rPr lang="en-US" sz="2200" dirty="0">
                <a:latin typeface="+mj-lt"/>
              </a:rPr>
              <a:t>system: negative number is stored as its complement, with left-most bit indicating the sign</a:t>
            </a:r>
          </a:p>
          <a:p>
            <a:pPr>
              <a:spcBef>
                <a:spcPts val="900"/>
              </a:spcBef>
              <a:buFontTx/>
              <a:buChar char="-"/>
            </a:pPr>
            <a:endParaRPr lang="en-US" sz="2200" dirty="0">
              <a:latin typeface="+mj-lt"/>
            </a:endParaRP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>
                <a:latin typeface="+mj-lt"/>
              </a:rPr>
              <a:t>2’s complement most common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dirty="0">
                <a:latin typeface="+mj-lt"/>
              </a:rPr>
              <a:t>Why do all of this?</a:t>
            </a:r>
          </a:p>
          <a:p>
            <a:pPr>
              <a:spcBef>
                <a:spcPts val="900"/>
              </a:spcBef>
              <a:buFontTx/>
              <a:buChar char="-"/>
            </a:pPr>
            <a:r>
              <a:rPr lang="en-US" sz="2200" b="1" dirty="0">
                <a:latin typeface="+mj-lt"/>
              </a:rPr>
              <a:t>It makes addition and subtraction easy for computers (see tutorial 1)!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379EE-CE79-B841-2655-FE4FACA59A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Representing negative numbers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83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4C339D-732B-C90E-C6E4-91A84288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089F9-79CD-CA2B-43D2-A240373C25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Binary to Gray conversion</a:t>
            </a:r>
            <a:endParaRPr lang="en-IN" dirty="0"/>
          </a:p>
        </p:txBody>
      </p:sp>
      <p:pic>
        <p:nvPicPr>
          <p:cNvPr id="1028" name="Picture 4" descr="Lightbox">
            <a:extLst>
              <a:ext uri="{FF2B5EF4-FFF2-40B4-BE49-F238E27FC236}">
                <a16:creationId xmlns:a16="http://schemas.microsoft.com/office/drawing/2014/main" id="{334BF570-E626-1D31-E85A-EF94DCC98C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4667748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ghtbox">
            <a:extLst>
              <a:ext uri="{FF2B5EF4-FFF2-40B4-BE49-F238E27FC236}">
                <a16:creationId xmlns:a16="http://schemas.microsoft.com/office/drawing/2014/main" id="{25F9C59F-3D94-57D8-D01F-75F225436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429000"/>
            <a:ext cx="4475018" cy="307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781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8567</TotalTime>
  <Words>713</Words>
  <Application>Microsoft Office PowerPoint</Application>
  <PresentationFormat>On-screen Show (4:3)</PresentationFormat>
  <Paragraphs>88</Paragraphs>
  <Slides>15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559</cp:revision>
  <dcterms:created xsi:type="dcterms:W3CDTF">2010-01-15T20:22:21Z</dcterms:created>
  <dcterms:modified xsi:type="dcterms:W3CDTF">2026-08-11T08:45:13Z</dcterms:modified>
</cp:coreProperties>
</file>