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382" r:id="rId2"/>
    <p:sldId id="384" r:id="rId3"/>
    <p:sldId id="299" r:id="rId4"/>
    <p:sldId id="307" r:id="rId5"/>
    <p:sldId id="385" r:id="rId6"/>
    <p:sldId id="383" r:id="rId7"/>
    <p:sldId id="339" r:id="rId8"/>
    <p:sldId id="340" r:id="rId9"/>
    <p:sldId id="338" r:id="rId10"/>
    <p:sldId id="341" r:id="rId11"/>
    <p:sldId id="342" r:id="rId12"/>
    <p:sldId id="386" r:id="rId13"/>
    <p:sldId id="343" r:id="rId14"/>
    <p:sldId id="345" r:id="rId15"/>
    <p:sldId id="344" r:id="rId16"/>
    <p:sldId id="346" r:id="rId17"/>
    <p:sldId id="347" r:id="rId18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92" d="100"/>
          <a:sy n="92" d="100"/>
        </p:scale>
        <p:origin x="888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8/16/2026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AF1-3678-81CF-68D0-2FFF8BF1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4762E-50A2-3FD2-FDF4-C54B9B6A93B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A2326C-C066-820B-DC72-5D515C273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A3138-AE69-F27D-2EAA-23D2B3BFFE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772D5-DBDE-E801-75E8-5C65995AF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69C2E-6178-3D9A-0D54-C41412046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9347512-759C-4E18-9ECE-7FCE1DFA935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2902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3F7038-E9FE-3435-A99B-628D46289E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276600" y="6596063"/>
            <a:ext cx="5867400" cy="26193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en-US" sz="1100" b="1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sz="1100">
                <a:solidFill>
                  <a:srgbClr val="101141"/>
                </a:solidFill>
                <a:cs typeface="Arial" charset="0"/>
              </a:rPr>
              <a:t>Pilani, Pilani Campus</a:t>
            </a:r>
          </a:p>
        </p:txBody>
      </p:sp>
      <p:grpSp>
        <p:nvGrpSpPr>
          <p:cNvPr id="4" name="Group 11">
            <a:extLst>
              <a:ext uri="{FF2B5EF4-FFF2-40B4-BE49-F238E27FC236}">
                <a16:creationId xmlns:a16="http://schemas.microsoft.com/office/drawing/2014/main" id="{C581210D-00F8-03F9-A285-0EF404A95B28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084388" y="6550025"/>
            <a:ext cx="7059612" cy="49213"/>
            <a:chOff x="2083888" y="6550671"/>
            <a:chExt cx="7060112" cy="4866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981720D-E387-AAA5-1040-9B41570959D0}"/>
                </a:ext>
              </a:extLst>
            </p:cNvPr>
            <p:cNvSpPr/>
            <p:nvPr/>
          </p:nvSpPr>
          <p:spPr>
            <a:xfrm>
              <a:off x="4630418" y="6550671"/>
              <a:ext cx="2329027" cy="48665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1E86A8-1855-7B69-B62C-6E258FDAA754}"/>
                </a:ext>
              </a:extLst>
            </p:cNvPr>
            <p:cNvSpPr/>
            <p:nvPr/>
          </p:nvSpPr>
          <p:spPr>
            <a:xfrm>
              <a:off x="6908642" y="6550671"/>
              <a:ext cx="2235358" cy="45525"/>
            </a:xfrm>
            <a:prstGeom prst="rect">
              <a:avLst/>
            </a:prstGeom>
            <a:solidFill>
              <a:srgbClr val="E31C2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F5A7EC-8365-09AA-A08B-63472C98828A}"/>
                </a:ext>
              </a:extLst>
            </p:cNvPr>
            <p:cNvSpPr/>
            <p:nvPr/>
          </p:nvSpPr>
          <p:spPr>
            <a:xfrm>
              <a:off x="2083888" y="6550671"/>
              <a:ext cx="2581458" cy="48665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pic>
        <p:nvPicPr>
          <p:cNvPr id="8" name="Picture 11" descr="Picture 7.png">
            <a:extLst>
              <a:ext uri="{FF2B5EF4-FFF2-40B4-BE49-F238E27FC236}">
                <a16:creationId xmlns:a16="http://schemas.microsoft.com/office/drawing/2014/main" id="{055BCDEA-2A80-3C2D-080C-509BDDC90C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18">
            <a:extLst>
              <a:ext uri="{FF2B5EF4-FFF2-40B4-BE49-F238E27FC236}">
                <a16:creationId xmlns:a16="http://schemas.microsoft.com/office/drawing/2014/main" id="{4FE31975-C8A2-731C-B1AA-CCD2DCF57F5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57A10F7-F50B-DAEB-B974-D1288E571504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AECCB2B-C7CF-4843-D0DF-2886453D18BC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A3C326-F746-6ED4-B21E-4BB970D1C982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3" name="Group 22">
            <a:extLst>
              <a:ext uri="{FF2B5EF4-FFF2-40B4-BE49-F238E27FC236}">
                <a16:creationId xmlns:a16="http://schemas.microsoft.com/office/drawing/2014/main" id="{09821B34-ED59-A848-42D8-7954EFE8425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D3EB44-1837-0D6E-CE9B-DBC9F8518DD2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180C74-B502-6526-25D1-FD5B018B28F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EECA1A-60B6-C307-32D5-77B6F2589D37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>
                <a:latin typeface="+mn-lt"/>
                <a:cs typeface="Arial" pitchFamily="34" charset="0"/>
              </a:defRPr>
            </a:lvl1pPr>
            <a:lvl2pPr marL="742950" marR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>
                <a:latin typeface="+mn-lt"/>
                <a:cs typeface="Arial" pitchFamily="34" charset="0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  <a:endParaRPr lang="en-US" dirty="0"/>
          </a:p>
        </p:txBody>
      </p:sp>
      <p:sp>
        <p:nvSpPr>
          <p:cNvPr id="27" name="Content Placeholder 18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>
            <a:normAutofit/>
          </a:bodyPr>
          <a:lstStyle>
            <a:lvl1pPr marL="0">
              <a:lnSpc>
                <a:spcPts val="3600"/>
              </a:lnSpc>
              <a:spcBef>
                <a:spcPts val="0"/>
              </a:spcBef>
              <a:buNone/>
              <a:defRPr sz="3600" b="1" spc="-15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6525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  <p:sldLayoutId id="2147484861" r:id="rId13"/>
    <p:sldLayoutId id="2147484862" r:id="rId14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Digital Design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Prof. GSS </a:t>
            </a:r>
            <a:r>
              <a:rPr lang="en-US" dirty="0" err="1"/>
              <a:t>Chalapathi</a:t>
            </a:r>
            <a:r>
              <a:rPr lang="en-US" dirty="0"/>
              <a:t>,</a:t>
            </a:r>
          </a:p>
          <a:p>
            <a:r>
              <a:rPr lang="en-US" dirty="0"/>
              <a:t>Prof. Saurabh Gandhi,</a:t>
            </a:r>
          </a:p>
          <a:p>
            <a:r>
              <a:rPr lang="en-US" dirty="0"/>
              <a:t>Prof. Ramesh </a:t>
            </a:r>
            <a:r>
              <a:rPr lang="en-US" dirty="0" err="1"/>
              <a:t>Sambangi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075504-33A5-31E5-7A08-43C06957A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906963"/>
          </a:xfrm>
        </p:spPr>
        <p:txBody>
          <a:bodyPr>
            <a:normAutofit/>
          </a:bodyPr>
          <a:lstStyle/>
          <a:p>
            <a:pPr marL="457200" indent="-457200">
              <a:buClr>
                <a:srgbClr val="C00000"/>
              </a:buClr>
              <a:buFont typeface="Arial" pitchFamily="34" charset="0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In SOP expressions, k-maps enable a reduction in ________</a:t>
            </a:r>
          </a:p>
          <a:p>
            <a:pPr marL="457200" indent="-457200">
              <a:buClr>
                <a:srgbClr val="C00000"/>
              </a:buClr>
              <a:buFont typeface="Arial" pitchFamily="34" charset="0"/>
              <a:buAutoNum type="arabicPeriod"/>
            </a:pPr>
            <a:endParaRPr lang="en-US" dirty="0">
              <a:solidFill>
                <a:srgbClr val="C00000"/>
              </a:solidFill>
            </a:endParaRPr>
          </a:p>
          <a:p>
            <a:pPr marL="457200" indent="-457200">
              <a:buClr>
                <a:srgbClr val="C00000"/>
              </a:buClr>
              <a:buFont typeface="Arial" pitchFamily="34" charset="0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Which of the following rules apply when grouping terms in a k-map?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70DDE-AB81-B906-98DD-D78CF4A6C1B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Review questions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7178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374AF-C450-9DB0-88CF-8E8B5A7C4AE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simple k-map example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F012DDA-1203-93C2-97CC-729DBE4B56B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8"/>
          <a:stretch>
            <a:fillRect/>
          </a:stretch>
        </p:blipFill>
        <p:spPr bwMode="auto">
          <a:xfrm>
            <a:off x="374330" y="1524000"/>
            <a:ext cx="8395339" cy="2209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7106" name="Picture 2">
            <a:extLst>
              <a:ext uri="{FF2B5EF4-FFF2-40B4-BE49-F238E27FC236}">
                <a16:creationId xmlns:a16="http://schemas.microsoft.com/office/drawing/2014/main" id="{D8640E97-F60F-443D-DE06-BC16FE8DB7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297"/>
          <a:stretch>
            <a:fillRect/>
          </a:stretch>
        </p:blipFill>
        <p:spPr bwMode="auto">
          <a:xfrm>
            <a:off x="533399" y="3657600"/>
            <a:ext cx="8077200" cy="251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E12C8292-C0AF-EFAA-F6DD-D55743D1BA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46" t="24658" r="57340" b="62352"/>
          <a:stretch>
            <a:fillRect/>
          </a:stretch>
        </p:blipFill>
        <p:spPr bwMode="auto">
          <a:xfrm>
            <a:off x="838200" y="1524000"/>
            <a:ext cx="3124201" cy="38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3A572-4624-C83E-3FFE-FC2855FFFAE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Another simple k-map example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B0C41CE-1F07-EDF3-5D24-088AE261073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50"/>
          <a:stretch>
            <a:fillRect/>
          </a:stretch>
        </p:blipFill>
        <p:spPr bwMode="auto">
          <a:xfrm>
            <a:off x="259982" y="2057400"/>
            <a:ext cx="8624035" cy="3200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A60AD97-5C87-97FA-BF9E-1AB70C9F46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50" b="36309"/>
          <a:stretch>
            <a:fillRect/>
          </a:stretch>
        </p:blipFill>
        <p:spPr bwMode="auto">
          <a:xfrm>
            <a:off x="259982" y="2057400"/>
            <a:ext cx="8624035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779AFE-2A68-86FF-00D6-85F1EE61534A}"/>
              </a:ext>
            </a:extLst>
          </p:cNvPr>
          <p:cNvSpPr txBox="1"/>
          <p:nvPr/>
        </p:nvSpPr>
        <p:spPr>
          <a:xfrm>
            <a:off x="259982" y="1445567"/>
            <a:ext cx="83506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Which of the following two groupings is correct / better?</a:t>
            </a:r>
          </a:p>
          <a:p>
            <a:endParaRPr lang="en-IN" sz="2400" dirty="0">
              <a:solidFill>
                <a:srgbClr val="C00000"/>
              </a:solidFill>
            </a:endParaRPr>
          </a:p>
          <a:p>
            <a:r>
              <a:rPr lang="en-IN" sz="2400" dirty="0">
                <a:solidFill>
                  <a:srgbClr val="C00000"/>
                </a:solidFill>
              </a:rPr>
              <a:t>         A                                             B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BF060-0EB8-86F7-3240-940D5E3EB19F}"/>
              </a:ext>
            </a:extLst>
          </p:cNvPr>
          <p:cNvSpPr txBox="1"/>
          <p:nvPr/>
        </p:nvSpPr>
        <p:spPr>
          <a:xfrm>
            <a:off x="381000" y="5715000"/>
            <a:ext cx="647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B0F0"/>
                </a:solidFill>
              </a:rPr>
              <a:t>T</a:t>
            </a:r>
            <a:r>
              <a:rPr lang="en-IN" sz="2400" b="1" dirty="0">
                <a:solidFill>
                  <a:srgbClr val="00B0F0"/>
                </a:solidFill>
              </a:rPr>
              <a:t>he best solution need not be unique!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90A7BC-EB71-FD07-9BAA-902F84E5E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Representing information in binary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Operations on binary numbers, Boolean Algebra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Obtaining binary expressions and making circuits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K-maps for simplifying expressions </a:t>
            </a:r>
            <a:r>
              <a:rPr lang="en-US" dirty="0">
                <a:solidFill>
                  <a:srgbClr val="00B0F0"/>
                </a:solidFill>
              </a:rPr>
              <a:t>– applications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Advanced K-maps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AE33C-DF1D-6815-DFD6-A20593968E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Working in Binary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9664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FFDB2-FE97-5FF7-87A3-18D0BD5A27D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Binary addition – terminology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73EAF08-EBEE-D433-0DA6-7AAB4788B40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8"/>
          <a:stretch>
            <a:fillRect/>
          </a:stretch>
        </p:blipFill>
        <p:spPr bwMode="auto">
          <a:xfrm>
            <a:off x="647700" y="1524000"/>
            <a:ext cx="7848600" cy="48976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73156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CEE1E-BFBD-2D7C-4E2E-EDB82B9D05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Adding two bits: half adder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EEBCA37-2EB7-58F9-B68B-FE93C0D528B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85" b="62470"/>
          <a:stretch>
            <a:fillRect/>
          </a:stretch>
        </p:blipFill>
        <p:spPr bwMode="auto">
          <a:xfrm>
            <a:off x="553622" y="1714500"/>
            <a:ext cx="8036756" cy="87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B3A2343F-EC49-099E-2E61-76F28178E1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7" t="50583" r="70859" b="6526"/>
          <a:stretch>
            <a:fillRect/>
          </a:stretch>
        </p:blipFill>
        <p:spPr bwMode="auto">
          <a:xfrm>
            <a:off x="990600" y="3124200"/>
            <a:ext cx="19050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C3A927D-4939-C37D-9A4D-0B271F99B6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41" t="50583" r="48103" b="6526"/>
          <a:stretch>
            <a:fillRect/>
          </a:stretch>
        </p:blipFill>
        <p:spPr bwMode="auto">
          <a:xfrm>
            <a:off x="2895600" y="3124200"/>
            <a:ext cx="18288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2B0A6A3-1DC8-8E7B-CED7-1FD4509E9F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97" t="50583" r="21554" b="6526"/>
          <a:stretch>
            <a:fillRect/>
          </a:stretch>
        </p:blipFill>
        <p:spPr bwMode="auto">
          <a:xfrm>
            <a:off x="4724400" y="3124200"/>
            <a:ext cx="21336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3315C6BF-9C0D-DC71-4D99-F62963AE37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46" t="50583" r="2591" b="6526"/>
          <a:stretch>
            <a:fillRect/>
          </a:stretch>
        </p:blipFill>
        <p:spPr bwMode="auto">
          <a:xfrm>
            <a:off x="6858000" y="3124200"/>
            <a:ext cx="15240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04779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7F912-2386-1791-5111-78FC489666C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Adding three bits: full adder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89C5539-B8D3-803D-8971-5107F87B2D9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" b="131"/>
          <a:stretch/>
        </p:blipFill>
        <p:spPr bwMode="auto">
          <a:xfrm>
            <a:off x="609600" y="1676400"/>
            <a:ext cx="7924800" cy="4484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31850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9DF7F-5905-4A8C-52D9-7D28859B2B2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Using K-maps to build a binary full adder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66DC2-637A-9FC9-2CCB-DE9ED7A207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00200"/>
            <a:ext cx="2043505" cy="15575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9BB4C6-FF10-7102-BDA6-BAEC2F406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1" y="3581400"/>
            <a:ext cx="2552212" cy="2362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0DF640-547E-5F5F-7B0E-3D298BA499C1}"/>
              </a:ext>
            </a:extLst>
          </p:cNvPr>
          <p:cNvSpPr txBox="1"/>
          <p:nvPr/>
        </p:nvSpPr>
        <p:spPr>
          <a:xfrm>
            <a:off x="4114800" y="1408619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K-map for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5B2C5D-E52C-A9CC-9E5A-345F5BDB59E9}"/>
              </a:ext>
            </a:extLst>
          </p:cNvPr>
          <p:cNvSpPr txBox="1"/>
          <p:nvPr/>
        </p:nvSpPr>
        <p:spPr>
          <a:xfrm>
            <a:off x="6692622" y="6096000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K-map for C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F0FB19C-3FB1-CFB9-4A0B-ED35D5BE03B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256"/>
          <a:stretch>
            <a:fillRect/>
          </a:stretch>
        </p:blipFill>
        <p:spPr>
          <a:xfrm>
            <a:off x="5715000" y="1339780"/>
            <a:ext cx="3238500" cy="24837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1A067C-8CB2-88C6-9CE5-D300FB69C8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088"/>
          <a:stretch>
            <a:fillRect/>
          </a:stretch>
        </p:blipFill>
        <p:spPr>
          <a:xfrm>
            <a:off x="3288744" y="3810384"/>
            <a:ext cx="3403878" cy="265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72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0F920-6E07-19A4-9A38-B7F15D86C71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Full adder equations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D224046-F523-6376-86F7-2689BF5AE2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33"/>
          <a:stretch>
            <a:fillRect/>
          </a:stretch>
        </p:blipFill>
        <p:spPr bwMode="auto">
          <a:xfrm>
            <a:off x="561615" y="1600200"/>
            <a:ext cx="8020770" cy="434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4518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3D80E-3DB7-A114-B66F-B483F810216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Full adder circuit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0D2AFE2-555C-9A3D-BBFB-60630DB677C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68" b="63769"/>
          <a:stretch>
            <a:fillRect/>
          </a:stretch>
        </p:blipFill>
        <p:spPr bwMode="auto">
          <a:xfrm>
            <a:off x="914400" y="1600201"/>
            <a:ext cx="73152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6BEA15-9C0C-9179-5B89-AD0BD06E4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1" y="2895601"/>
            <a:ext cx="5410200" cy="2033876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8DE956DD-8242-35E2-84CF-C0C926237D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" r="1102"/>
          <a:stretch>
            <a:fillRect/>
          </a:stretch>
        </p:blipFill>
        <p:spPr bwMode="auto">
          <a:xfrm>
            <a:off x="2514600" y="5037524"/>
            <a:ext cx="6523894" cy="14253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496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262387-3A81-8A7E-0F14-61D5E2F76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9069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Now we want to build a circuit that will add two 4-bit numbers:</a:t>
            </a:r>
          </a:p>
          <a:p>
            <a:r>
              <a:rPr lang="en-US" dirty="0"/>
              <a:t>    a</a:t>
            </a:r>
            <a:r>
              <a:rPr lang="en-US" baseline="-25000" dirty="0"/>
              <a:t>3</a:t>
            </a:r>
            <a:r>
              <a:rPr lang="en-US" dirty="0"/>
              <a:t>a</a:t>
            </a:r>
            <a:r>
              <a:rPr lang="en-US" baseline="-25000" dirty="0"/>
              <a:t>2</a:t>
            </a:r>
            <a:r>
              <a:rPr lang="en-US" dirty="0"/>
              <a:t>a</a:t>
            </a:r>
            <a:r>
              <a:rPr lang="en-US" baseline="-25000" dirty="0"/>
              <a:t>1</a:t>
            </a:r>
            <a:r>
              <a:rPr lang="en-US" dirty="0"/>
              <a:t>a</a:t>
            </a:r>
            <a:r>
              <a:rPr lang="en-US" baseline="-25000" dirty="0"/>
              <a:t>0</a:t>
            </a:r>
          </a:p>
          <a:p>
            <a:r>
              <a:rPr lang="en-US" dirty="0"/>
              <a:t>+  b</a:t>
            </a:r>
            <a:r>
              <a:rPr lang="en-US" baseline="-25000" dirty="0"/>
              <a:t>3</a:t>
            </a:r>
            <a:r>
              <a:rPr lang="en-US" dirty="0"/>
              <a:t>b</a:t>
            </a:r>
            <a:r>
              <a:rPr lang="en-US" baseline="-25000" dirty="0"/>
              <a:t>2</a:t>
            </a:r>
            <a:r>
              <a:rPr lang="en-US" dirty="0"/>
              <a:t>b</a:t>
            </a:r>
            <a:r>
              <a:rPr lang="en-US" baseline="-25000" dirty="0"/>
              <a:t>1</a:t>
            </a:r>
            <a:r>
              <a:rPr lang="en-US" dirty="0"/>
              <a:t>b</a:t>
            </a:r>
            <a:r>
              <a:rPr lang="en-US" baseline="-25000" dirty="0"/>
              <a:t>0</a:t>
            </a:r>
            <a:endParaRPr lang="en-US" dirty="0"/>
          </a:p>
          <a:p>
            <a:r>
              <a:rPr lang="en-US" dirty="0"/>
              <a:t>With a 1-bit carry in, c</a:t>
            </a:r>
            <a:r>
              <a:rPr lang="en-US" baseline="-25000" dirty="0"/>
              <a:t>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It outputs a 4-bit sum, s</a:t>
            </a:r>
            <a:r>
              <a:rPr lang="en-US" baseline="-25000" dirty="0"/>
              <a:t>3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s</a:t>
            </a:r>
            <a:r>
              <a:rPr lang="en-US" baseline="-25000" dirty="0"/>
              <a:t>0</a:t>
            </a:r>
            <a:r>
              <a:rPr lang="en-US" dirty="0"/>
              <a:t>, and a carry out, c</a:t>
            </a:r>
            <a:r>
              <a:rPr lang="en-US" baseline="-25000" dirty="0"/>
              <a:t>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How many inputs does the circuit have?</a:t>
            </a:r>
          </a:p>
          <a:p>
            <a:r>
              <a:rPr lang="en-US" dirty="0">
                <a:solidFill>
                  <a:srgbClr val="C00000"/>
                </a:solidFill>
              </a:rPr>
              <a:t>How many lines in the truth table?</a:t>
            </a:r>
          </a:p>
          <a:p>
            <a:endParaRPr lang="en-US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Is there an easier way?</a:t>
            </a:r>
          </a:p>
          <a:p>
            <a:r>
              <a:rPr lang="en-US" dirty="0"/>
              <a:t>Remember how we used two half-adders to build a full adder?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122F3-A969-CB00-2CF1-B2BB82F3BD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4-bit adders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36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33820-77EA-2E97-CF8B-ECF381FF254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four-bit adder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97A7700-74DD-5801-7015-CFA1F3622EC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41" b="17596"/>
          <a:stretch>
            <a:fillRect/>
          </a:stretch>
        </p:blipFill>
        <p:spPr bwMode="auto">
          <a:xfrm>
            <a:off x="338970" y="1524001"/>
            <a:ext cx="8466059" cy="3657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6FB71B3-2F6D-FBD8-9C87-907F4EE9A7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404" b="430"/>
          <a:stretch>
            <a:fillRect/>
          </a:stretch>
        </p:blipFill>
        <p:spPr bwMode="auto">
          <a:xfrm>
            <a:off x="338969" y="5181600"/>
            <a:ext cx="8466059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3600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1932-3B1E-BD8F-E960-6C9D68A298A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What does this circuit do?</a:t>
            </a:r>
            <a:endParaRPr lang="en-IN" dirty="0">
              <a:solidFill>
                <a:srgbClr val="C00000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4EDC30D-0116-E52F-B455-4CF64FC8EE6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3" t="48148" r="19444" b="18518"/>
          <a:stretch>
            <a:fillRect/>
          </a:stretch>
        </p:blipFill>
        <p:spPr bwMode="auto">
          <a:xfrm>
            <a:off x="76201" y="1524001"/>
            <a:ext cx="5613380" cy="297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sq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3A53C2-7F80-0121-270D-6C220D217729}"/>
              </a:ext>
            </a:extLst>
          </p:cNvPr>
          <p:cNvSpPr txBox="1"/>
          <p:nvPr/>
        </p:nvSpPr>
        <p:spPr>
          <a:xfrm>
            <a:off x="5943600" y="2133600"/>
            <a:ext cx="289560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When S = 0: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Inputs are A and B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Result is A + B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When S = 1: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Inputs become A and B’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C</a:t>
            </a:r>
            <a:r>
              <a:rPr lang="en-US" baseline="-25000" dirty="0"/>
              <a:t>0</a:t>
            </a:r>
            <a:r>
              <a:rPr lang="en-US" dirty="0"/>
              <a:t> = 1, so 1 is added to A + B’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Result is A - B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F58500-E29C-0874-045A-5515C9306836}"/>
              </a:ext>
            </a:extLst>
          </p:cNvPr>
          <p:cNvSpPr txBox="1"/>
          <p:nvPr/>
        </p:nvSpPr>
        <p:spPr>
          <a:xfrm>
            <a:off x="163543" y="4724400"/>
            <a:ext cx="556260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XOR gate acts as a programmable inverter!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Is the subtraction result correct as is?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When A &gt; B?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When B &gt; A?</a:t>
            </a:r>
          </a:p>
        </p:txBody>
      </p:sp>
    </p:spTree>
    <p:extLst>
      <p:ext uri="{BB962C8B-B14F-4D97-AF65-F5344CB8AC3E}">
        <p14:creationId xmlns:p14="http://schemas.microsoft.com/office/powerpoint/2010/main" val="2282774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E02E22-4D6F-F157-08D4-CD78E0B84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 the complement method for subtraction?</a:t>
            </a:r>
          </a:p>
          <a:p>
            <a:pPr>
              <a:buFontTx/>
              <a:buChar char="-"/>
            </a:pPr>
            <a:r>
              <a:rPr lang="en-US" dirty="0"/>
              <a:t>The subtraction A-B can be performed by taking the 2’s complement of B and adding to A.</a:t>
            </a:r>
          </a:p>
          <a:p>
            <a:pPr>
              <a:buFontTx/>
              <a:buChar char="-"/>
            </a:pPr>
            <a:r>
              <a:rPr lang="en-US" dirty="0"/>
              <a:t>The 2's complement of B can be obtained by complementing B and adding one to the result.</a:t>
            </a:r>
          </a:p>
          <a:p>
            <a:pPr marL="0" indent="0"/>
            <a:br>
              <a:rPr lang="en-US" dirty="0"/>
            </a:br>
            <a:r>
              <a:rPr lang="en-US" dirty="0"/>
              <a:t>	</a:t>
            </a:r>
            <a:r>
              <a:rPr lang="en-US" dirty="0">
                <a:latin typeface="Aptos Mono" panose="020F0502020204030204" pitchFamily="49" charset="0"/>
              </a:rPr>
              <a:t>A-B = A + 2C(B) </a:t>
            </a:r>
            <a:br>
              <a:rPr lang="en-US" dirty="0">
                <a:latin typeface="Aptos Mono" panose="020F0502020204030204" pitchFamily="49" charset="0"/>
              </a:rPr>
            </a:br>
            <a:r>
              <a:rPr lang="en-US" dirty="0">
                <a:latin typeface="Aptos Mono" panose="020F0502020204030204" pitchFamily="49" charset="0"/>
              </a:rPr>
              <a:t> 	    = A + 1C(B) + 1</a:t>
            </a:r>
            <a:br>
              <a:rPr lang="en-US" dirty="0">
                <a:latin typeface="Aptos Mono" panose="020F0502020204030204" pitchFamily="49" charset="0"/>
              </a:rPr>
            </a:br>
            <a:r>
              <a:rPr lang="en-US" dirty="0">
                <a:latin typeface="Aptos Mono" panose="020F0502020204030204" pitchFamily="49" charset="0"/>
              </a:rPr>
              <a:t>	    = A + B’ + 1</a:t>
            </a:r>
            <a:endParaRPr lang="en-IN" dirty="0">
              <a:latin typeface="Aptos Mono" panose="020F0502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B05CC-682A-9AD2-AB13-3384265A6D0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Binary subtraction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5718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1E19B-FBD4-91D9-F45B-F25078A768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Addition and subtraction modes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3B0AEA2-68F0-EAAB-6BFB-5D55CC776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250" y="1600200"/>
            <a:ext cx="4045750" cy="26898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ACB8E9-2F77-76DD-FB93-00A63541B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657600"/>
            <a:ext cx="4045750" cy="268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36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06929-637B-7CFA-AEE1-5C4AEA1EDB9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Extending the 4-bit adder:</a:t>
            </a:r>
            <a:br>
              <a:rPr lang="en-US" dirty="0"/>
            </a:br>
            <a:r>
              <a:rPr lang="en-US" dirty="0"/>
              <a:t>ripple carry adders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3D79AB4-7482-1CD8-C364-C71907C282E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7" b="16830"/>
          <a:stretch>
            <a:fillRect/>
          </a:stretch>
        </p:blipFill>
        <p:spPr bwMode="auto">
          <a:xfrm>
            <a:off x="609600" y="1752600"/>
            <a:ext cx="7924800" cy="3265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36B7F4-A408-145A-5AF4-EF836775DDE6}"/>
              </a:ext>
            </a:extLst>
          </p:cNvPr>
          <p:cNvSpPr txBox="1"/>
          <p:nvPr/>
        </p:nvSpPr>
        <p:spPr>
          <a:xfrm>
            <a:off x="838200" y="518160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long does the addition take?</a:t>
            </a:r>
          </a:p>
        </p:txBody>
      </p:sp>
    </p:spTree>
    <p:extLst>
      <p:ext uri="{BB962C8B-B14F-4D97-AF65-F5344CB8AC3E}">
        <p14:creationId xmlns:p14="http://schemas.microsoft.com/office/powerpoint/2010/main" val="233787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7874</TotalTime>
  <Words>391</Words>
  <Application>Microsoft Office PowerPoint</Application>
  <PresentationFormat>On-screen Show (4:3)</PresentationFormat>
  <Paragraphs>64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 Mono</vt:lpstr>
      <vt:lpstr>Arial</vt:lpstr>
      <vt:lpstr>Calibri</vt:lpstr>
      <vt:lpstr>Office Theme</vt:lpstr>
      <vt:lpstr>Digital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563</cp:revision>
  <dcterms:created xsi:type="dcterms:W3CDTF">2010-01-15T20:22:21Z</dcterms:created>
  <dcterms:modified xsi:type="dcterms:W3CDTF">2026-08-16T10:18:06Z</dcterms:modified>
</cp:coreProperties>
</file>