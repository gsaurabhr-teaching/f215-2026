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82" r:id="rId2"/>
    <p:sldId id="384" r:id="rId3"/>
    <p:sldId id="299" r:id="rId4"/>
    <p:sldId id="307" r:id="rId5"/>
    <p:sldId id="385" r:id="rId6"/>
    <p:sldId id="383" r:id="rId7"/>
    <p:sldId id="339" r:id="rId8"/>
    <p:sldId id="340" r:id="rId9"/>
    <p:sldId id="338" r:id="rId10"/>
    <p:sldId id="341" r:id="rId11"/>
    <p:sldId id="342" r:id="rId12"/>
    <p:sldId id="386" r:id="rId13"/>
    <p:sldId id="343" r:id="rId14"/>
    <p:sldId id="344" r:id="rId15"/>
    <p:sldId id="345" r:id="rId16"/>
    <p:sldId id="346" r:id="rId17"/>
    <p:sldId id="347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5" d="100"/>
          <a:sy n="95" d="100"/>
        </p:scale>
        <p:origin x="79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In SOP expressions, k-maps enable a reduction in ________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Which of the following rules apply when grouping terms in a k-map?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74AF-C450-9DB0-88CF-8E8B5A7C4A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simple k-map example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F012DDA-1203-93C2-97CC-729DBE4B56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8"/>
          <a:stretch>
            <a:fillRect/>
          </a:stretch>
        </p:blipFill>
        <p:spPr bwMode="auto">
          <a:xfrm>
            <a:off x="374330" y="1524000"/>
            <a:ext cx="8395339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06" name="Picture 2">
            <a:extLst>
              <a:ext uri="{FF2B5EF4-FFF2-40B4-BE49-F238E27FC236}">
                <a16:creationId xmlns:a16="http://schemas.microsoft.com/office/drawing/2014/main" id="{D8640E97-F60F-443D-DE06-BC16FE8DB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97"/>
          <a:stretch>
            <a:fillRect/>
          </a:stretch>
        </p:blipFill>
        <p:spPr bwMode="auto">
          <a:xfrm>
            <a:off x="533399" y="3657600"/>
            <a:ext cx="80772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12C8292-C0AF-EFAA-F6DD-D55743D1B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6" t="24658" r="57340" b="62352"/>
          <a:stretch>
            <a:fillRect/>
          </a:stretch>
        </p:blipFill>
        <p:spPr bwMode="auto">
          <a:xfrm>
            <a:off x="838200" y="1524000"/>
            <a:ext cx="3124201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3A572-4624-C83E-3FFE-FC2855FFFA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Another simple k-map example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B0C41CE-1F07-EDF3-5D24-088AE26107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0"/>
          <a:stretch>
            <a:fillRect/>
          </a:stretch>
        </p:blipFill>
        <p:spPr bwMode="auto">
          <a:xfrm>
            <a:off x="259982" y="2057400"/>
            <a:ext cx="862403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A60AD97-5C87-97FA-BF9E-1AB70C9F46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0" b="36309"/>
          <a:stretch>
            <a:fillRect/>
          </a:stretch>
        </p:blipFill>
        <p:spPr bwMode="auto">
          <a:xfrm>
            <a:off x="259982" y="2057400"/>
            <a:ext cx="862403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779AFE-2A68-86FF-00D6-85F1EE61534A}"/>
              </a:ext>
            </a:extLst>
          </p:cNvPr>
          <p:cNvSpPr txBox="1"/>
          <p:nvPr/>
        </p:nvSpPr>
        <p:spPr>
          <a:xfrm>
            <a:off x="259982" y="1445567"/>
            <a:ext cx="8350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Which of the following two groupings is correct / better?</a:t>
            </a:r>
          </a:p>
          <a:p>
            <a:endParaRPr lang="en-IN" sz="2400" dirty="0">
              <a:solidFill>
                <a:srgbClr val="C00000"/>
              </a:solidFill>
            </a:endParaRPr>
          </a:p>
          <a:p>
            <a:r>
              <a:rPr lang="en-IN" sz="2400" dirty="0">
                <a:solidFill>
                  <a:srgbClr val="C00000"/>
                </a:solidFill>
              </a:rPr>
              <a:t>         A                                             B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BF060-0EB8-86F7-3240-940D5E3EB19F}"/>
              </a:ext>
            </a:extLst>
          </p:cNvPr>
          <p:cNvSpPr txBox="1"/>
          <p:nvPr/>
        </p:nvSpPr>
        <p:spPr>
          <a:xfrm>
            <a:off x="381000" y="5715000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T</a:t>
            </a:r>
            <a:r>
              <a:rPr lang="en-IN" sz="2400" b="1" dirty="0">
                <a:solidFill>
                  <a:srgbClr val="00B0F0"/>
                </a:solidFill>
              </a:rPr>
              <a:t>he best solution need not be unique!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0A7BC-EB71-FD07-9BAA-902F84E5E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Representing information in binary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Operations on binary numbers, Boolean Algebra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Obtaining binary expressions and making circuits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K-maps for simplifying expressions </a:t>
            </a:r>
            <a:r>
              <a:rPr lang="en-US" dirty="0">
                <a:solidFill>
                  <a:srgbClr val="00B0F0"/>
                </a:solidFill>
              </a:rPr>
              <a:t>– applications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Advanced K-maps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E33C-DF1D-6815-DFD6-A20593968E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in Binary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66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FFDB2-FE97-5FF7-87A3-18D0BD5A27D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Binary addition – terminology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73EAF08-EBEE-D433-0DA6-7AAB4788B4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647700" y="1524000"/>
            <a:ext cx="7848600" cy="4897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156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EE1E-BFBD-2D7C-4E2E-EDB82B9D05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Adding two bits: half adder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EBCA37-2EB7-58F9-B68B-FE93C0D528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85" b="62470"/>
          <a:stretch>
            <a:fillRect/>
          </a:stretch>
        </p:blipFill>
        <p:spPr bwMode="auto">
          <a:xfrm>
            <a:off x="553622" y="1714500"/>
            <a:ext cx="8036756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3A2343F-EC49-099E-2E61-76F28178E1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7" t="50583" r="70859" b="6526"/>
          <a:stretch>
            <a:fillRect/>
          </a:stretch>
        </p:blipFill>
        <p:spPr bwMode="auto">
          <a:xfrm>
            <a:off x="990600" y="3124200"/>
            <a:ext cx="1905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C3A927D-4939-C37D-9A4D-0B271F99B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41" t="50583" r="48103" b="6526"/>
          <a:stretch>
            <a:fillRect/>
          </a:stretch>
        </p:blipFill>
        <p:spPr bwMode="auto">
          <a:xfrm>
            <a:off x="2895600" y="3124200"/>
            <a:ext cx="1828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2B0A6A3-1DC8-8E7B-CED7-1FD4509E9F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97" t="50583" r="21554" b="6526"/>
          <a:stretch>
            <a:fillRect/>
          </a:stretch>
        </p:blipFill>
        <p:spPr bwMode="auto">
          <a:xfrm>
            <a:off x="4724400" y="3124200"/>
            <a:ext cx="21336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315C6BF-9C0D-DC71-4D99-F62963AE3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46" t="50583" r="2591" b="6526"/>
          <a:stretch>
            <a:fillRect/>
          </a:stretch>
        </p:blipFill>
        <p:spPr bwMode="auto">
          <a:xfrm>
            <a:off x="6858000" y="3124200"/>
            <a:ext cx="1524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477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F912-2386-1791-5111-78FC489666C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Adding three bits: full adder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89C5539-B8D3-803D-8971-5107F87B2D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" b="131"/>
          <a:stretch/>
        </p:blipFill>
        <p:spPr bwMode="auto">
          <a:xfrm>
            <a:off x="609600" y="1676400"/>
            <a:ext cx="7924800" cy="448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1850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DF7F-5905-4A8C-52D9-7D28859B2B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Using K-maps to build a binary full adder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66DC2-637A-9FC9-2CCB-DE9ED7A20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2043505" cy="1557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BB4C6-FF10-7102-BDA6-BAEC2F40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" y="3581400"/>
            <a:ext cx="2552212" cy="2362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0DF640-547E-5F5F-7B0E-3D298BA499C1}"/>
              </a:ext>
            </a:extLst>
          </p:cNvPr>
          <p:cNvSpPr txBox="1"/>
          <p:nvPr/>
        </p:nvSpPr>
        <p:spPr>
          <a:xfrm>
            <a:off x="4114800" y="1408619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K-map for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B2C5D-E52C-A9CC-9E5A-345F5BDB59E9}"/>
              </a:ext>
            </a:extLst>
          </p:cNvPr>
          <p:cNvSpPr txBox="1"/>
          <p:nvPr/>
        </p:nvSpPr>
        <p:spPr>
          <a:xfrm>
            <a:off x="6692622" y="6096000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K-map for 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0FB19C-3FB1-CFB9-4A0B-ED35D5BE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256"/>
          <a:stretch>
            <a:fillRect/>
          </a:stretch>
        </p:blipFill>
        <p:spPr>
          <a:xfrm>
            <a:off x="5715000" y="1339780"/>
            <a:ext cx="3238500" cy="24837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1A067C-8CB2-88C6-9CE5-D300FB69C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088"/>
          <a:stretch>
            <a:fillRect/>
          </a:stretch>
        </p:blipFill>
        <p:spPr>
          <a:xfrm>
            <a:off x="3288744" y="3810384"/>
            <a:ext cx="3403878" cy="265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2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F920-6E07-19A4-9A38-B7F15D86C7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Full adder equations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224046-F523-6376-86F7-2689BF5AE2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/>
          <a:stretch>
            <a:fillRect/>
          </a:stretch>
        </p:blipFill>
        <p:spPr bwMode="auto">
          <a:xfrm>
            <a:off x="561615" y="1600200"/>
            <a:ext cx="802077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451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D80E-3DB7-A114-B66F-B483F81021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Full adder circuit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0D2AFE2-555C-9A3D-BBFB-60630DB677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63769"/>
          <a:stretch>
            <a:fillRect/>
          </a:stretch>
        </p:blipFill>
        <p:spPr bwMode="auto">
          <a:xfrm>
            <a:off x="914400" y="1600201"/>
            <a:ext cx="7315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BEA15-9C0C-9179-5B89-AD0BD06E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2895601"/>
            <a:ext cx="5410200" cy="2033876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DE956DD-8242-35E2-84CF-C0C926237D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" r="1102"/>
          <a:stretch>
            <a:fillRect/>
          </a:stretch>
        </p:blipFill>
        <p:spPr bwMode="auto">
          <a:xfrm>
            <a:off x="2514600" y="5037524"/>
            <a:ext cx="6523894" cy="1425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9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262387-3A81-8A7E-0F14-61D5E2F76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Now we want to build a circuit that will add two 4-bit numbers:</a:t>
            </a:r>
          </a:p>
          <a:p>
            <a:r>
              <a:rPr lang="en-US" dirty="0"/>
              <a:t>    a</a:t>
            </a:r>
            <a:r>
              <a:rPr lang="en-US" baseline="-25000" dirty="0"/>
              <a:t>3</a:t>
            </a:r>
            <a:r>
              <a:rPr lang="en-US" dirty="0"/>
              <a:t>a</a:t>
            </a:r>
            <a:r>
              <a:rPr lang="en-US" baseline="-25000" dirty="0"/>
              <a:t>2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0</a:t>
            </a:r>
          </a:p>
          <a:p>
            <a:r>
              <a:rPr lang="en-US" dirty="0"/>
              <a:t>+  b</a:t>
            </a:r>
            <a:r>
              <a:rPr lang="en-US" baseline="-25000" dirty="0"/>
              <a:t>3</a:t>
            </a:r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0</a:t>
            </a:r>
            <a:endParaRPr lang="en-US" dirty="0"/>
          </a:p>
          <a:p>
            <a:r>
              <a:rPr lang="en-US" dirty="0"/>
              <a:t>With a 1-bit carry in, c</a:t>
            </a:r>
            <a:r>
              <a:rPr lang="en-US" baseline="-25000" dirty="0"/>
              <a:t>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outputs a 4-bit sum, s</a:t>
            </a:r>
            <a:r>
              <a:rPr lang="en-US" baseline="-25000" dirty="0"/>
              <a:t>3</a:t>
            </a:r>
            <a:r>
              <a:rPr lang="en-US" dirty="0"/>
              <a:t>s</a:t>
            </a:r>
            <a:r>
              <a:rPr lang="en-US" baseline="-25000" dirty="0"/>
              <a:t>2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en-US" dirty="0"/>
              <a:t>s</a:t>
            </a:r>
            <a:r>
              <a:rPr lang="en-US" baseline="-25000" dirty="0"/>
              <a:t>0</a:t>
            </a:r>
            <a:r>
              <a:rPr lang="en-US" dirty="0"/>
              <a:t>, and a carry out, c</a:t>
            </a:r>
            <a:r>
              <a:rPr lang="en-US" baseline="-25000" dirty="0"/>
              <a:t>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How many inputs does the circuit have?</a:t>
            </a:r>
          </a:p>
          <a:p>
            <a:r>
              <a:rPr lang="en-US" dirty="0">
                <a:solidFill>
                  <a:srgbClr val="C00000"/>
                </a:solidFill>
              </a:rPr>
              <a:t>How many lines in the truth table?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Is there an easier way?</a:t>
            </a:r>
          </a:p>
          <a:p>
            <a:r>
              <a:rPr lang="en-US" dirty="0"/>
              <a:t>Remember how we used two half-adders to build a full adder?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122F3-A969-CB00-2CF1-B2BB82F3BD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4-bit adders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6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3820-77EA-2E97-CF8B-ECF381FF25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four-bit adder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97A7700-74DD-5801-7015-CFA1F3622E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1" b="17596"/>
          <a:stretch>
            <a:fillRect/>
          </a:stretch>
        </p:blipFill>
        <p:spPr bwMode="auto">
          <a:xfrm>
            <a:off x="338970" y="1524001"/>
            <a:ext cx="8466059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6FB71B3-2F6D-FBD8-9C87-907F4EE9A7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04" b="430"/>
          <a:stretch>
            <a:fillRect/>
          </a:stretch>
        </p:blipFill>
        <p:spPr bwMode="auto">
          <a:xfrm>
            <a:off x="338969" y="5181600"/>
            <a:ext cx="846605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600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E02E22-4D6F-F157-08D4-CD78E0B84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the complement method for subtraction?</a:t>
            </a:r>
          </a:p>
          <a:p>
            <a:pPr>
              <a:buFontTx/>
              <a:buChar char="-"/>
            </a:pPr>
            <a:r>
              <a:rPr lang="en-US" dirty="0"/>
              <a:t>The subtraction A-B can be performed by taking the 2’s complement of B and adding to A.</a:t>
            </a:r>
          </a:p>
          <a:p>
            <a:pPr>
              <a:buFontTx/>
              <a:buChar char="-"/>
            </a:pPr>
            <a:r>
              <a:rPr lang="en-US" dirty="0"/>
              <a:t>The 2's complement of B can be obtained by complementing B and adding one to the result.</a:t>
            </a:r>
          </a:p>
          <a:p>
            <a:pPr marL="0" indent="0"/>
            <a:br>
              <a:rPr lang="en-US" dirty="0"/>
            </a:br>
            <a:r>
              <a:rPr lang="en-US" dirty="0"/>
              <a:t>	</a:t>
            </a:r>
            <a:r>
              <a:rPr lang="en-US" dirty="0">
                <a:latin typeface="Aptos Mono" panose="020F0502020204030204" pitchFamily="49" charset="0"/>
              </a:rPr>
              <a:t>A-B = A + 2C(B) </a:t>
            </a:r>
            <a:br>
              <a:rPr lang="en-US" dirty="0">
                <a:latin typeface="Aptos Mono" panose="020F0502020204030204" pitchFamily="49" charset="0"/>
              </a:rPr>
            </a:br>
            <a:r>
              <a:rPr lang="en-US" dirty="0">
                <a:latin typeface="Aptos Mono" panose="020F0502020204030204" pitchFamily="49" charset="0"/>
              </a:rPr>
              <a:t> 	    = A + 1C(B) + 1</a:t>
            </a:r>
            <a:br>
              <a:rPr lang="en-US" dirty="0">
                <a:latin typeface="Aptos Mono" panose="020F0502020204030204" pitchFamily="49" charset="0"/>
              </a:rPr>
            </a:br>
            <a:r>
              <a:rPr lang="en-US" dirty="0">
                <a:latin typeface="Aptos Mono" panose="020F0502020204030204" pitchFamily="49" charset="0"/>
              </a:rPr>
              <a:t>	    = A + B’ + 1</a:t>
            </a:r>
            <a:endParaRPr lang="en-IN" dirty="0">
              <a:latin typeface="Aptos Mono" panose="020F0502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B05CC-682A-9AD2-AB13-3384265A6D0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Binary subtraction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7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A1932-3B1E-BD8F-E960-6C9D68A298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4-bit binary adder / subtractor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EDC30D-0116-E52F-B455-4CF64FC8EE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3" t="48148" r="19444" b="18518"/>
          <a:stretch>
            <a:fillRect/>
          </a:stretch>
        </p:blipFill>
        <p:spPr bwMode="auto">
          <a:xfrm>
            <a:off x="76201" y="1524001"/>
            <a:ext cx="561338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3A53C2-7F80-0121-270D-6C220D217729}"/>
              </a:ext>
            </a:extLst>
          </p:cNvPr>
          <p:cNvSpPr txBox="1"/>
          <p:nvPr/>
        </p:nvSpPr>
        <p:spPr>
          <a:xfrm>
            <a:off x="5943600" y="2133600"/>
            <a:ext cx="2895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C00000"/>
                </a:solidFill>
              </a:rPr>
              <a:t>How does this circuit work?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When S = 0: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Inputs are A and B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Result is A + B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When S = 1: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Inputs become A and B’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en-US" baseline="-25000" dirty="0"/>
              <a:t>0</a:t>
            </a:r>
            <a:r>
              <a:rPr lang="en-US" dirty="0"/>
              <a:t> = 1, so 1 is added to A + B’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Result is A - B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58500-E29C-0874-045A-5515C9306836}"/>
              </a:ext>
            </a:extLst>
          </p:cNvPr>
          <p:cNvSpPr txBox="1"/>
          <p:nvPr/>
        </p:nvSpPr>
        <p:spPr>
          <a:xfrm>
            <a:off x="163543" y="4724400"/>
            <a:ext cx="55626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XOR gate acts as a programmable inverter!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 the subtraction result correct as is?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When A &gt; B?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When B &gt; A?</a:t>
            </a:r>
          </a:p>
        </p:txBody>
      </p:sp>
    </p:spTree>
    <p:extLst>
      <p:ext uri="{BB962C8B-B14F-4D97-AF65-F5344CB8AC3E}">
        <p14:creationId xmlns:p14="http://schemas.microsoft.com/office/powerpoint/2010/main" val="228277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E19B-FBD4-91D9-F45B-F25078A768E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Addition and subtraction modes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B0AEA2-68F0-EAAB-6BFB-5D55CC776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250" y="1600200"/>
            <a:ext cx="4045750" cy="2689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CB8E9-2F77-76DD-FB93-00A63541B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0"/>
            <a:ext cx="4045750" cy="268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66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06929-637B-7CFA-AEE1-5C4AEA1EDB9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Extending the 4-bit adder:</a:t>
            </a:r>
            <a:br>
              <a:rPr lang="en-US" dirty="0"/>
            </a:br>
            <a:r>
              <a:rPr lang="en-US" dirty="0"/>
              <a:t>ripple carry adders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D79AB4-7482-1CD8-C364-C71907C282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7" b="16830"/>
          <a:stretch>
            <a:fillRect/>
          </a:stretch>
        </p:blipFill>
        <p:spPr bwMode="auto">
          <a:xfrm>
            <a:off x="609600" y="1752600"/>
            <a:ext cx="7924800" cy="326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36B7F4-A408-145A-5AF4-EF836775DDE6}"/>
              </a:ext>
            </a:extLst>
          </p:cNvPr>
          <p:cNvSpPr txBox="1"/>
          <p:nvPr/>
        </p:nvSpPr>
        <p:spPr>
          <a:xfrm>
            <a:off x="838200" y="5181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long does the addition take?</a:t>
            </a:r>
          </a:p>
        </p:txBody>
      </p:sp>
    </p:spTree>
    <p:extLst>
      <p:ext uri="{BB962C8B-B14F-4D97-AF65-F5344CB8AC3E}">
        <p14:creationId xmlns:p14="http://schemas.microsoft.com/office/powerpoint/2010/main" val="23378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7832</TotalTime>
  <Words>397</Words>
  <Application>Microsoft Office PowerPoint</Application>
  <PresentationFormat>On-screen Show (4:3)</PresentationFormat>
  <Paragraphs>65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 Mono</vt:lpstr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562</cp:revision>
  <dcterms:created xsi:type="dcterms:W3CDTF">2010-01-15T20:22:21Z</dcterms:created>
  <dcterms:modified xsi:type="dcterms:W3CDTF">2026-08-08T05:33:54Z</dcterms:modified>
</cp:coreProperties>
</file>