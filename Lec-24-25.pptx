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337" r:id="rId2"/>
    <p:sldId id="257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8" r:id="rId19"/>
    <p:sldId id="517" r:id="rId20"/>
    <p:sldId id="519" r:id="rId21"/>
    <p:sldId id="520" r:id="rId22"/>
    <p:sldId id="521" r:id="rId23"/>
    <p:sldId id="522" r:id="rId24"/>
    <p:sldId id="523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109" d="100"/>
          <a:sy n="109" d="100"/>
        </p:scale>
        <p:origin x="7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don’t care mean in terms of output OR gate connections in a ROM?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56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AutoNum type="arabicPeriod"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/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3600" b="1" i="0" kern="1200" spc="-150" baseline="0">
                <a:solidFill>
                  <a:schemeClr val="tx1"/>
                </a:solidFill>
                <a:latin typeface="Calibri"/>
              </a:rPr>
              <a:t>Review questions</a:t>
            </a:r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8399-5B19-CA27-81FF-9FCAC3370F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Programmable logic devices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A9D8F9-E016-B3E6-864A-3239D364D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2610036" cy="170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72BDB8-9727-99A5-1967-EA7099E17587}"/>
              </a:ext>
            </a:extLst>
          </p:cNvPr>
          <p:cNvSpPr txBox="1"/>
          <p:nvPr/>
        </p:nvSpPr>
        <p:spPr>
          <a:xfrm>
            <a:off x="533400" y="3419959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Fixed logic circuit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185BA4-E7C9-4028-178E-99A996F1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128" y="1600200"/>
            <a:ext cx="4563456" cy="45748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A0472-B036-263F-BF05-26AD85D11B72}"/>
              </a:ext>
            </a:extLst>
          </p:cNvPr>
          <p:cNvSpPr txBox="1"/>
          <p:nvPr/>
        </p:nvSpPr>
        <p:spPr>
          <a:xfrm>
            <a:off x="76200" y="49346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Simple programmable logic device built using </a:t>
            </a:r>
            <a:r>
              <a:rPr lang="en-IN" i="1" dirty="0" err="1"/>
              <a:t>antifuses</a:t>
            </a:r>
            <a:r>
              <a:rPr lang="en-IN" dirty="0"/>
              <a:t> that can be </a:t>
            </a:r>
            <a:r>
              <a:rPr lang="en-IN" i="1" dirty="0"/>
              <a:t>burned</a:t>
            </a:r>
            <a:r>
              <a:rPr lang="en-IN" dirty="0"/>
              <a:t> in</a:t>
            </a:r>
            <a:endParaRPr lang="en-IN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76E696-5951-2608-3BDF-C32DABC351F2}"/>
              </a:ext>
            </a:extLst>
          </p:cNvPr>
          <p:cNvSpPr txBox="1"/>
          <p:nvPr/>
        </p:nvSpPr>
        <p:spPr>
          <a:xfrm>
            <a:off x="76200" y="571812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What would happen without the </a:t>
            </a:r>
            <a:r>
              <a:rPr lang="en-IN" i="1" dirty="0">
                <a:solidFill>
                  <a:srgbClr val="C00000"/>
                </a:solidFill>
              </a:rPr>
              <a:t>pull-up </a:t>
            </a:r>
            <a:r>
              <a:rPr lang="en-IN" dirty="0">
                <a:solidFill>
                  <a:srgbClr val="C00000"/>
                </a:solidFill>
              </a:rPr>
              <a:t>resistors on each input?</a:t>
            </a:r>
            <a:endParaRPr lang="en-IN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81E3-23D3-D312-AD26-AB8EE9A0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9E61-F2F3-13D3-3F4B-3536E5A8EC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Programmable logic devices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17FBC53-43F9-4BFC-0504-51FEBFE4EB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480673" y="1524000"/>
            <a:ext cx="8182653" cy="490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10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CB7EDF-DFFA-5B11-C96C-2863FDFF0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90" r="10537"/>
          <a:stretch>
            <a:fillRect/>
          </a:stretch>
        </p:blipFill>
        <p:spPr>
          <a:xfrm>
            <a:off x="2819400" y="3886200"/>
            <a:ext cx="5868693" cy="227939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30F739-0A48-AA26-BC08-776539AF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Memory in which permanent binary information / combinational circuit is stored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Remember: “decoders are </a:t>
            </a:r>
            <a:r>
              <a:rPr lang="en-US" sz="1800" dirty="0" err="1"/>
              <a:t>minterm</a:t>
            </a:r>
            <a:r>
              <a:rPr lang="en-US" sz="1800" dirty="0"/>
              <a:t> generators”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Also “any combinational logic can be represented as sum of </a:t>
            </a:r>
            <a:r>
              <a:rPr lang="en-US" sz="1800" dirty="0" err="1"/>
              <a:t>minterms</a:t>
            </a:r>
            <a:r>
              <a:rPr lang="en-US" sz="1800" dirty="0"/>
              <a:t>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ROM includes decoders and OR gates within a single IC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i="1" dirty="0">
                <a:sym typeface="Wingdings" panose="05000000000000000000" pitchFamily="2" charset="2"/>
              </a:rPr>
              <a:t>decoder outputs may be sent to several OR gates</a:t>
            </a:r>
            <a:endParaRPr lang="en-US" sz="18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Connections between decoder outputs and OR gates is ‘programmable’ to implement different functions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7258-2DBE-7FD3-4108-AA34FB39DA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Read Only Memory (ROM)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4DFD68-256C-7EFB-2913-78BB6DDEC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1"/>
          <a:stretch>
            <a:fillRect/>
          </a:stretch>
        </p:blipFill>
        <p:spPr bwMode="auto">
          <a:xfrm>
            <a:off x="228600" y="5364163"/>
            <a:ext cx="3540196" cy="106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59766B-4C16-1BA5-F5E3-27FDF87A184A}"/>
              </a:ext>
            </a:extLst>
          </p:cNvPr>
          <p:cNvSpPr txBox="1"/>
          <p:nvPr/>
        </p:nvSpPr>
        <p:spPr>
          <a:xfrm>
            <a:off x="3984382" y="3632713"/>
            <a:ext cx="4593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The circuit below will allow you to generate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9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B0177C-2F2A-236A-6628-4ECE88BFB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Implement: V0 = m( 4, 6, 7); V1 = m( 2, 6, 7); V2 = m( 1,2,3,4)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680CE-17B3-E72B-649D-227422C7ED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Implementing a Boolean function with a ROM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B972FF7-8911-40DC-0B7F-BD2AAA899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05"/>
          <a:stretch>
            <a:fillRect/>
          </a:stretch>
        </p:blipFill>
        <p:spPr bwMode="auto">
          <a:xfrm>
            <a:off x="1143000" y="2133600"/>
            <a:ext cx="6858000" cy="415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50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28AD-632C-7BEC-F311-CED3AD8DEC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New symbols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690F7E-C72E-73A6-BEAA-1DA81F4EB5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025" b="24267"/>
          <a:stretch>
            <a:fillRect/>
          </a:stretch>
        </p:blipFill>
        <p:spPr bwMode="auto">
          <a:xfrm>
            <a:off x="521776" y="1743581"/>
            <a:ext cx="2286000" cy="109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D0A6E8A-C378-7546-8292-20437753B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57" t="-5046" r="-2532" b="29313"/>
          <a:stretch>
            <a:fillRect/>
          </a:stretch>
        </p:blipFill>
        <p:spPr bwMode="auto">
          <a:xfrm>
            <a:off x="369376" y="3038981"/>
            <a:ext cx="2286000" cy="109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3FDF45D-AA46-EE79-597C-CF3A865A1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3" t="32203" r="26214"/>
          <a:stretch>
            <a:fillRect/>
          </a:stretch>
        </p:blipFill>
        <p:spPr bwMode="auto">
          <a:xfrm>
            <a:off x="2743200" y="2667000"/>
            <a:ext cx="4800600" cy="384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85CAD40-93F2-6554-9F41-4485CA805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71"/>
          <a:stretch>
            <a:fillRect/>
          </a:stretch>
        </p:blipFill>
        <p:spPr bwMode="auto">
          <a:xfrm>
            <a:off x="5241010" y="914400"/>
            <a:ext cx="3505200" cy="1617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050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BDB550-D45C-E958-884E-F101CC58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Circuit is performing a computation on inputs A2A1A0 to produce output V2V1V0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same input will generate the same output every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Circuit “remembers” the output for each possible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</a:rPr>
              <a:t>How many values of what bit width does this circuit ‘remember’?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A2A1A0 forms an </a:t>
            </a:r>
            <a:r>
              <a:rPr lang="en-US" sz="1800" i="1" dirty="0"/>
              <a:t>address</a:t>
            </a:r>
            <a:r>
              <a:rPr lang="en-US" sz="1800" dirty="0"/>
              <a:t> that refers to one of the 8 stored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Read Only because once the OR gate inputs are fused, they cannot be changed.</a:t>
            </a:r>
          </a:p>
          <a:p>
            <a:r>
              <a:rPr lang="en-US" sz="1800" dirty="0"/>
              <a:t> 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47DE-B176-9330-8B54-67C3A0F817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do we call this a ‘memory’?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4F33F7-7866-CA16-2E05-AB1471F8A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67"/>
          <a:stretch>
            <a:fillRect/>
          </a:stretch>
        </p:blipFill>
        <p:spPr bwMode="auto">
          <a:xfrm>
            <a:off x="1062264" y="3581400"/>
            <a:ext cx="7019471" cy="291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68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6C88-7815-B658-B155-899DB89E4A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output is square of input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85CF121-1798-31C8-C6BE-37B89F55D7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38"/>
          <a:stretch>
            <a:fillRect/>
          </a:stretch>
        </p:blipFill>
        <p:spPr bwMode="auto">
          <a:xfrm>
            <a:off x="3581399" y="3657541"/>
            <a:ext cx="5278719" cy="2133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8AB51B4-FAF3-14F2-9B63-56C1862A8E39}"/>
              </a:ext>
            </a:extLst>
          </p:cNvPr>
          <p:cNvSpPr txBox="1">
            <a:spLocks/>
          </p:cNvSpPr>
          <p:nvPr/>
        </p:nvSpPr>
        <p:spPr bwMode="auto">
          <a:xfrm>
            <a:off x="304800" y="6019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ROM implementation is not efficient for inputs with many don’t care condition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6EBD3-5F00-BC1C-ACCD-F6EC3A334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542"/>
            <a:ext cx="5257800" cy="22098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274707-7C71-5431-BAC3-1A8777ABEAA6}"/>
              </a:ext>
            </a:extLst>
          </p:cNvPr>
          <p:cNvSpPr txBox="1"/>
          <p:nvPr/>
        </p:nvSpPr>
        <p:spPr>
          <a:xfrm>
            <a:off x="5993423" y="1524000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sized ROM would you need to implement the truth table shown?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20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53A1F4-0136-78F9-6869-8AF9E1E2F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ROM uses a decoder to generate </a:t>
            </a:r>
            <a:r>
              <a:rPr lang="en-US" i="1" dirty="0"/>
              <a:t>all</a:t>
            </a:r>
            <a:r>
              <a:rPr lang="en-US" dirty="0"/>
              <a:t> possible </a:t>
            </a:r>
            <a:r>
              <a:rPr lang="en-US" dirty="0" err="1"/>
              <a:t>minterms</a:t>
            </a:r>
            <a:r>
              <a:rPr lang="en-US" dirty="0"/>
              <a:t>, with no circuit minimization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ROM implementation of an n-input function uses many gates: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n-to-2</a:t>
            </a:r>
            <a:r>
              <a:rPr lang="en-US" baseline="30000" dirty="0"/>
              <a:t>n</a:t>
            </a:r>
            <a:r>
              <a:rPr lang="en-US" dirty="0"/>
              <a:t> decoder (which has n inverters and 2</a:t>
            </a:r>
            <a:r>
              <a:rPr lang="en-US" baseline="30000" dirty="0"/>
              <a:t>n</a:t>
            </a:r>
            <a:r>
              <a:rPr lang="en-US" dirty="0"/>
              <a:t> n-input AND gates)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OR gate with 2</a:t>
            </a:r>
            <a:r>
              <a:rPr lang="en-US" baseline="30000" dirty="0"/>
              <a:t>n</a:t>
            </a:r>
            <a:r>
              <a:rPr lang="en-US" dirty="0"/>
              <a:t> inputs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Number of gates roughly doubles for each additional ROM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PLA makes the decoder part of the ROM also programmable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choose what products (not necessarily </a:t>
            </a:r>
            <a:r>
              <a:rPr lang="en-US" dirty="0" err="1"/>
              <a:t>minterms</a:t>
            </a:r>
            <a:r>
              <a:rPr lang="en-US" dirty="0"/>
              <a:t>) to generate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C48-E196-DA80-B719-A012375FD2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Programmable Logic Arrays (PLAs)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50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A737-ED9C-04E0-261C-E6AEFF530F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3 x 4 x 3 PLA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C973ED-BC58-EF2C-D085-7DB7130FD5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685800" y="1600200"/>
            <a:ext cx="7696200" cy="485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9755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25B5-8FAF-5AAF-B740-EDC16352AD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Optimizing expressions for PLA 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5950C91-4A99-D283-3F2A-E75A4461E0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447800"/>
            <a:ext cx="7696200" cy="4858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17A58-E9D4-583B-9DBA-5F11C959D036}"/>
              </a:ext>
            </a:extLst>
          </p:cNvPr>
          <p:cNvSpPr txBox="1"/>
          <p:nvPr/>
        </p:nvSpPr>
        <p:spPr>
          <a:xfrm>
            <a:off x="5791200" y="3230739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What size PLA would be required to implement these functions?</a:t>
            </a:r>
          </a:p>
        </p:txBody>
      </p:sp>
    </p:spTree>
    <p:extLst>
      <p:ext uri="{BB962C8B-B14F-4D97-AF65-F5344CB8AC3E}">
        <p14:creationId xmlns:p14="http://schemas.microsoft.com/office/powerpoint/2010/main" val="287032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FFF4-C659-1A82-0FD6-AB1A61898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865D-0581-A1AF-F3FC-C67E3F1121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Optimizing expressions for PLA implementation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36603EB-E3C4-2F6B-3187-EDC898552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62" y="1447800"/>
            <a:ext cx="7748876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02E138-3EC3-FFC4-FD72-3CB820A1A04D}"/>
              </a:ext>
            </a:extLst>
          </p:cNvPr>
          <p:cNvSpPr txBox="1"/>
          <p:nvPr/>
        </p:nvSpPr>
        <p:spPr>
          <a:xfrm>
            <a:off x="5791200" y="3230739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What size PLA would be required to implement these functions?</a:t>
            </a:r>
          </a:p>
        </p:txBody>
      </p:sp>
    </p:spTree>
    <p:extLst>
      <p:ext uri="{BB962C8B-B14F-4D97-AF65-F5344CB8AC3E}">
        <p14:creationId xmlns:p14="http://schemas.microsoft.com/office/powerpoint/2010/main" val="324014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E763-EA29-694F-306E-795E00F492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Implementing our </a:t>
            </a:r>
            <a:r>
              <a:rPr lang="en-US" dirty="0"/>
              <a:t>example with PLA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DA687DC-8208-5164-1720-2DCBC0982C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952500" y="1524000"/>
            <a:ext cx="7239000" cy="4632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34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D680BC-5DD5-BEB5-A1A8-2984DAB70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2438400" cy="4525963"/>
          </a:xfrm>
        </p:spPr>
        <p:txBody>
          <a:bodyPr/>
          <a:lstStyle/>
          <a:p>
            <a:pPr marL="0" indent="0"/>
            <a:r>
              <a:rPr lang="en-US" dirty="0"/>
              <a:t>Implement the two functions given below using a 3x4x2 PLA: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/>
              <a:t>F1=</a:t>
            </a:r>
            <a:r>
              <a:rPr lang="en-US" altLang="en-US" b="1" dirty="0">
                <a:sym typeface="Symbol" panose="05050102010706020507" pitchFamily="18" charset="2"/>
              </a:rPr>
              <a:t>(0,1,2,4)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>
                <a:sym typeface="Symbol" panose="05050102010706020507" pitchFamily="18" charset="2"/>
              </a:rPr>
              <a:t>F2= (0,5,6,7)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8D959-65EA-70F3-A4F3-9EB7DD5595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69F472-33B4-CEE5-A166-057AF9F0D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103"/>
          <a:stretch>
            <a:fillRect/>
          </a:stretch>
        </p:blipFill>
        <p:spPr bwMode="auto">
          <a:xfrm>
            <a:off x="2757407" y="1371600"/>
            <a:ext cx="600301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E02182C-B994-E72C-6CD7-C9DEB9EAF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998"/>
          <a:stretch>
            <a:fillRect/>
          </a:stretch>
        </p:blipFill>
        <p:spPr bwMode="auto">
          <a:xfrm>
            <a:off x="2771614" y="1371600"/>
            <a:ext cx="600301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33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3A57-09AB-CE5B-5A59-F41E97524C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– circuit 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5CB3059-E7A4-B83D-C8D5-643EB08723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>
            <a:fillRect/>
          </a:stretch>
        </p:blipFill>
        <p:spPr bwMode="auto">
          <a:xfrm>
            <a:off x="2819400" y="1447800"/>
            <a:ext cx="6019006" cy="490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DE431A7-14F2-8C7B-E665-8CDEEE7B5A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0" t="51330" r="16646" b="6553"/>
          <a:stretch>
            <a:fillRect/>
          </a:stretch>
        </p:blipFill>
        <p:spPr bwMode="auto">
          <a:xfrm>
            <a:off x="228600" y="3992562"/>
            <a:ext cx="3352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75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23E22-DC8E-C8CE-7A26-C5D5C1E72B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PLA summary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87D5760-A8B4-2740-44FB-DEEB93D7CD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12"/>
          <a:stretch>
            <a:fillRect/>
          </a:stretch>
        </p:blipFill>
        <p:spPr bwMode="auto">
          <a:xfrm>
            <a:off x="477578" y="1752600"/>
            <a:ext cx="8188844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109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B01D-B949-21FD-2AF9-79D40438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FAB9-AFCA-60C5-53AA-9D6E2ECF00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Programmable logic devices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06CFDE2-A376-EC82-F760-B301059D71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480673" y="1524000"/>
            <a:ext cx="8182653" cy="490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668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367A03-0CC0-5BB6-18D2-6923EF306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429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array is fixed, AND array can be programmed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flexible than PLA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product terms available per function is fixed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3A7B-65E5-97C0-494E-D2A41F8DFB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Programmable Array Logic (PAL)</a:t>
            </a:r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5A16815-CDC0-9960-00D7-38D73662ED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60"/>
          <a:stretch>
            <a:fillRect/>
          </a:stretch>
        </p:blipFill>
        <p:spPr>
          <a:xfrm>
            <a:off x="3581400" y="1568029"/>
            <a:ext cx="5257800" cy="437757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F6E0DA4-E7B0-007F-A7A3-C20AD6CE868B}"/>
              </a:ext>
            </a:extLst>
          </p:cNvPr>
          <p:cNvSpPr txBox="1"/>
          <p:nvPr/>
        </p:nvSpPr>
        <p:spPr>
          <a:xfrm>
            <a:off x="3581400" y="6019799"/>
            <a:ext cx="541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</a:rPr>
              <a:t>Only functions with at most four products can be implemented</a:t>
            </a:r>
          </a:p>
        </p:txBody>
      </p:sp>
    </p:spTree>
    <p:extLst>
      <p:ext uri="{BB962C8B-B14F-4D97-AF65-F5344CB8AC3E}">
        <p14:creationId xmlns:p14="http://schemas.microsoft.com/office/powerpoint/2010/main" val="12236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486F3F-4ED7-2EF8-FBCC-B2B78E83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/>
            <a:r>
              <a:rPr lang="en-US" altLang="en-US" sz="1800" dirty="0"/>
              <a:t>W = AB</a:t>
            </a:r>
            <a:r>
              <a:rPr lang="en-US" altLang="en-US" sz="1800" dirty="0">
                <a:sym typeface="Symbol" panose="05050102010706020507" pitchFamily="18" charset="2"/>
              </a:rPr>
              <a:t>C  + CD</a:t>
            </a:r>
          </a:p>
          <a:p>
            <a:pPr eaLnBrk="0" hangingPunct="0"/>
            <a:r>
              <a:rPr lang="en-US" altLang="en-US" sz="1800" dirty="0">
                <a:sym typeface="Symbol" panose="05050102010706020507" pitchFamily="18" charset="2"/>
              </a:rPr>
              <a:t>X = </a:t>
            </a:r>
            <a:r>
              <a:rPr lang="en-US" altLang="en-US" sz="1800" dirty="0"/>
              <a:t>A</a:t>
            </a:r>
            <a:r>
              <a:rPr lang="en-US" altLang="en-US" sz="1800" dirty="0">
                <a:sym typeface="Symbol" panose="05050102010706020507" pitchFamily="18" charset="2"/>
              </a:rPr>
              <a:t>BC  + ACD + ACD + BCD </a:t>
            </a:r>
          </a:p>
          <a:p>
            <a:pPr eaLnBrk="0" hangingPunct="0"/>
            <a:r>
              <a:rPr lang="en-US" altLang="en-US" sz="1800" dirty="0">
                <a:sym typeface="Symbol" panose="05050102010706020507" pitchFamily="18" charset="2"/>
              </a:rPr>
              <a:t>Y = ACD + ACD + ABD </a:t>
            </a:r>
            <a:endParaRPr lang="en-US" altLang="en-US" sz="1800" dirty="0">
              <a:solidFill>
                <a:srgbClr val="CC0099"/>
              </a:solidFill>
              <a:sym typeface="Symbol" panose="05050102010706020507" pitchFamily="18" charset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05121-8257-2093-EDB0-7603EE1E9B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7AB07-197C-03A6-D305-B90B6BDEA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594576"/>
            <a:ext cx="4800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332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151F1-1E88-AE59-512F-0C34448BD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you allowed outputs to be connected back as inputs?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525E-2E81-8E4B-8DFB-58361A08F71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More complex functions using PALs</a:t>
            </a:r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DC6DD5D-3A82-A1BD-7D6A-1689D9C0B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8" b="52824"/>
          <a:stretch>
            <a:fillRect/>
          </a:stretch>
        </p:blipFill>
        <p:spPr>
          <a:xfrm>
            <a:off x="1219200" y="2133600"/>
            <a:ext cx="6629400" cy="3581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5522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7C532-9016-1FC7-897D-BC7D01A4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495800" cy="5135563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altLang="en-US" dirty="0"/>
              <a:t>Implement the following equations using a PAL with 4 inputs, 4 outputs, and 3-wide AND-OR structure.</a:t>
            </a:r>
          </a:p>
          <a:p>
            <a:pPr lvl="1"/>
            <a:r>
              <a:rPr lang="en-US" altLang="en-US" dirty="0"/>
              <a:t>W(A, B, C, D) = </a:t>
            </a:r>
            <a:r>
              <a:rPr lang="en-US" altLang="en-US" dirty="0">
                <a:sym typeface="Symbol" panose="05050102010706020507" pitchFamily="18" charset="2"/>
              </a:rPr>
              <a:t>m(2, 12, 13)</a:t>
            </a:r>
          </a:p>
          <a:p>
            <a:pPr lvl="1"/>
            <a:r>
              <a:rPr lang="en-US" altLang="en-US" dirty="0"/>
              <a:t>X(A, B, C, D) = </a:t>
            </a:r>
            <a:r>
              <a:rPr lang="en-US" altLang="en-US" dirty="0">
                <a:sym typeface="Symbol" panose="05050102010706020507" pitchFamily="18" charset="2"/>
              </a:rPr>
              <a:t>m(7, 8, 9, 10, 11, 12, 13, 14, 15)</a:t>
            </a:r>
          </a:p>
          <a:p>
            <a:pPr lvl="1"/>
            <a:r>
              <a:rPr lang="en-US" altLang="en-US" dirty="0"/>
              <a:t>Y(A, B, C, D) = </a:t>
            </a:r>
            <a:r>
              <a:rPr lang="en-US" altLang="en-US" dirty="0">
                <a:sym typeface="Symbol" panose="05050102010706020507" pitchFamily="18" charset="2"/>
              </a:rPr>
              <a:t>m(0, 2, 3, 4, 5, 6, 7, 8, 10, 11, 15)</a:t>
            </a:r>
          </a:p>
          <a:p>
            <a:pPr lvl="1"/>
            <a:r>
              <a:rPr lang="en-US" altLang="en-US" dirty="0"/>
              <a:t>Z(A, B, C, D) = </a:t>
            </a:r>
            <a:r>
              <a:rPr lang="en-US" altLang="en-US" dirty="0">
                <a:sym typeface="Symbol" panose="05050102010706020507" pitchFamily="18" charset="2"/>
              </a:rPr>
              <a:t>m(1, 2, 8, 12, 13)</a:t>
            </a:r>
          </a:p>
          <a:p>
            <a:pPr lvl="1"/>
            <a:endParaRPr lang="en-US" altLang="en-US" dirty="0">
              <a:sym typeface="Symbol" panose="05050102010706020507" pitchFamily="18" charset="2"/>
            </a:endParaRPr>
          </a:p>
          <a:p>
            <a:pPr marL="57150" indent="0"/>
            <a:r>
              <a:rPr lang="en-US" altLang="en-US" dirty="0">
                <a:sym typeface="Symbol" panose="05050102010706020507" pitchFamily="18" charset="2"/>
              </a:rPr>
              <a:t>Simplification:</a:t>
            </a:r>
          </a:p>
          <a:p>
            <a:pPr lvl="1"/>
            <a:r>
              <a:rPr lang="en-US" altLang="en-US" dirty="0"/>
              <a:t>W = ABC’ + A’B’CD’</a:t>
            </a:r>
          </a:p>
          <a:p>
            <a:pPr lvl="1"/>
            <a:r>
              <a:rPr lang="en-US" altLang="en-US" dirty="0"/>
              <a:t>X = A + BCD</a:t>
            </a:r>
          </a:p>
          <a:p>
            <a:pPr lvl="1"/>
            <a:r>
              <a:rPr lang="en-US" altLang="en-US" dirty="0"/>
              <a:t>Y = A’B + CD + B’D’</a:t>
            </a:r>
          </a:p>
          <a:p>
            <a:pPr lvl="1"/>
            <a:r>
              <a:rPr lang="en-US" altLang="en-US" dirty="0"/>
              <a:t>Z = </a:t>
            </a:r>
            <a:r>
              <a:rPr lang="en-US" altLang="en-US" dirty="0">
                <a:solidFill>
                  <a:schemeClr val="accent2"/>
                </a:solidFill>
              </a:rPr>
              <a:t>ABC’ + A’B’CD’ </a:t>
            </a:r>
            <a:r>
              <a:rPr lang="en-US" altLang="en-US" dirty="0"/>
              <a:t>+ AC’D’ + A’B’C’D</a:t>
            </a:r>
          </a:p>
          <a:p>
            <a:pPr marL="914400" lvl="2" indent="0">
              <a:buNone/>
            </a:pPr>
            <a:r>
              <a:rPr lang="en-US" altLang="en-US" dirty="0"/>
              <a:t>  = </a:t>
            </a:r>
            <a:r>
              <a:rPr lang="en-US" altLang="en-US" dirty="0">
                <a:solidFill>
                  <a:schemeClr val="accent2"/>
                </a:solidFill>
              </a:rPr>
              <a:t>W</a:t>
            </a:r>
            <a:r>
              <a:rPr lang="en-US" altLang="en-US" dirty="0"/>
              <a:t> + AC’D’+A’B’C’D</a:t>
            </a:r>
          </a:p>
          <a:p>
            <a:pPr marL="457200" lvl="1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3984-8571-01DF-D48F-7EE8C4D959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A9523-9DE7-C76A-4202-487FD7772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92" b="-666"/>
          <a:stretch>
            <a:fillRect/>
          </a:stretch>
        </p:blipFill>
        <p:spPr bwMode="auto">
          <a:xfrm>
            <a:off x="4724400" y="762000"/>
            <a:ext cx="43434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32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C1705-5346-F379-FC62-3D59ECBD4F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 – tabular specification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646A99-D119-2A4B-CF05-218BCD0D9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4800" y="1743983"/>
            <a:ext cx="8229600" cy="4025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1802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1D3EDD-EA0A-BBFC-1F59-01855A928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F1 (a, b, c) =  (6, 7)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F2 (a, b, c) =  (4, 5, 7)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F3 (a, b, c) =  (3, 5)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F4 (a, b, c) =  (2,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D4299-73AE-2BBF-1B50-56810330C5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Implement using PLA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016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13738</TotalTime>
  <Words>803</Words>
  <Application>Microsoft Office PowerPoint</Application>
  <PresentationFormat>On-screen Show (4:3)</PresentationFormat>
  <Paragraphs>83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Symbol</vt:lpstr>
      <vt:lpstr>Wingdings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584</cp:revision>
  <dcterms:created xsi:type="dcterms:W3CDTF">2010-01-15T20:22:21Z</dcterms:created>
  <dcterms:modified xsi:type="dcterms:W3CDTF">2026-10-12T10:39:03Z</dcterms:modified>
</cp:coreProperties>
</file>