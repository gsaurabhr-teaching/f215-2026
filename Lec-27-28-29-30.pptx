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435" r:id="rId3"/>
    <p:sldId id="436" r:id="rId4"/>
    <p:sldId id="437" r:id="rId5"/>
    <p:sldId id="438" r:id="rId6"/>
    <p:sldId id="439" r:id="rId7"/>
    <p:sldId id="440" r:id="rId8"/>
    <p:sldId id="442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456" r:id="rId17"/>
    <p:sldId id="450" r:id="rId18"/>
    <p:sldId id="451" r:id="rId19"/>
    <p:sldId id="452" r:id="rId20"/>
    <p:sldId id="453" r:id="rId21"/>
    <p:sldId id="454" r:id="rId22"/>
    <p:sldId id="455" r:id="rId23"/>
    <p:sldId id="458" r:id="rId24"/>
    <p:sldId id="459" r:id="rId25"/>
    <p:sldId id="460" r:id="rId26"/>
    <p:sldId id="461" r:id="rId27"/>
    <p:sldId id="462" r:id="rId28"/>
    <p:sldId id="463" r:id="rId29"/>
    <p:sldId id="466" r:id="rId30"/>
    <p:sldId id="464" r:id="rId31"/>
    <p:sldId id="465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4B1"/>
    <a:srgbClr val="E39803"/>
    <a:srgbClr val="FF0000"/>
    <a:srgbClr val="76C2E5"/>
    <a:srgbClr val="FCB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3578" autoAdjust="0"/>
  </p:normalViewPr>
  <p:slideViewPr>
    <p:cSldViewPr>
      <p:cViewPr varScale="1">
        <p:scale>
          <a:sx n="93" d="100"/>
          <a:sy n="93" d="100"/>
        </p:scale>
        <p:origin x="85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ctr"/>
          <a:lstStyle/>
          <a:p>
            <a:pPr algn="ctr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400" b="0" i="0" kern="1200" baseline="0">
                <a:solidFill>
                  <a:schemeClr val="bg1"/>
                </a:solidFill>
                <a:latin typeface="Calibri"/>
              </a:rPr>
              <a:t>Digital Design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GSS Chalapathi,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Saurabh Gandhi,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Ramesh Sambangi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F93F-8EFD-4014-BC09-26E2B70F66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Remember our sequential multiplier?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FEB284-F652-4AB9-955C-48FEBD5F44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600200"/>
            <a:ext cx="5678728" cy="29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A48F3-E5AF-43A4-9EC0-977CB87520E5}"/>
              </a:ext>
            </a:extLst>
          </p:cNvPr>
          <p:cNvSpPr txBox="1"/>
          <p:nvPr/>
        </p:nvSpPr>
        <p:spPr>
          <a:xfrm>
            <a:off x="5678728" y="1600200"/>
            <a:ext cx="335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Want to build a digital system that does this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What all does the system need to do?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regarding what operations to perform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5A485-12BA-4805-96B7-9CEA1662419A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</p:spTree>
    <p:extLst>
      <p:ext uri="{BB962C8B-B14F-4D97-AF65-F5344CB8AC3E}">
        <p14:creationId xmlns:p14="http://schemas.microsoft.com/office/powerpoint/2010/main" val="28213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8904FF-2263-4205-9DE1-D02B339C8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0" y="1437871"/>
            <a:ext cx="5524962" cy="349279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41F1-5753-4606-BFCA-1242D4C87C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and data path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10A09-9AEB-4E17-9383-567FBAF035B1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C85B-4510-4588-950B-1D96F4ED644F}"/>
              </a:ext>
            </a:extLst>
          </p:cNvPr>
          <p:cNvSpPr txBox="1"/>
          <p:nvPr/>
        </p:nvSpPr>
        <p:spPr>
          <a:xfrm>
            <a:off x="5678728" y="1931075"/>
            <a:ext cx="335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Combinational or sequential?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Data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Combinational!</a:t>
            </a:r>
          </a:p>
          <a:p>
            <a:endParaRPr lang="en-IN" dirty="0"/>
          </a:p>
          <a:p>
            <a:r>
              <a:rPr lang="en-IN" dirty="0">
                <a:solidFill>
                  <a:schemeClr val="accent6"/>
                </a:solidFill>
              </a:rPr>
              <a:t>Control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Sequential!</a:t>
            </a:r>
          </a:p>
        </p:txBody>
      </p:sp>
    </p:spTree>
    <p:extLst>
      <p:ext uri="{BB962C8B-B14F-4D97-AF65-F5344CB8AC3E}">
        <p14:creationId xmlns:p14="http://schemas.microsoft.com/office/powerpoint/2010/main" val="88002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99E71-1941-4871-AF65-CE0E050F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Control sequence and data processing tasks are specified by means of Hardware Algorithm.</a:t>
            </a:r>
          </a:p>
          <a:p>
            <a:pPr lvl="1">
              <a:buFontTx/>
              <a:buChar char="-"/>
            </a:pPr>
            <a:r>
              <a:rPr lang="en-US" sz="2000" dirty="0"/>
              <a:t>Algorithm: algorithm consists of a finite number of procedural steps that specify how to obtain a solution to a problem</a:t>
            </a:r>
          </a:p>
          <a:p>
            <a:pPr lvl="1">
              <a:buFontTx/>
              <a:buChar char="-"/>
            </a:pPr>
            <a:r>
              <a:rPr lang="en-US" sz="2000" dirty="0"/>
              <a:t>Hardware algorithm: procedure for solving the problem with a given piece of equipment</a:t>
            </a:r>
          </a:p>
          <a:p>
            <a:pPr>
              <a:buFontTx/>
              <a:buChar char="-"/>
            </a:pPr>
            <a:r>
              <a:rPr lang="en-US" dirty="0"/>
              <a:t>Flowchart: sequence of procedural steps</a:t>
            </a:r>
          </a:p>
          <a:p>
            <a:pPr lvl="1">
              <a:buFontTx/>
              <a:buChar char="-"/>
            </a:pPr>
            <a:r>
              <a:rPr lang="en-US" sz="2000" dirty="0"/>
              <a:t>Not concerned with the time relationship between steps (states)</a:t>
            </a:r>
          </a:p>
          <a:p>
            <a:pPr>
              <a:buFontTx/>
              <a:buChar char="-"/>
            </a:pPr>
            <a:r>
              <a:rPr lang="en-US" dirty="0"/>
              <a:t>A special flowchart developed to design digital hardware algorithms is called Algorithmic State Machines (ASM)</a:t>
            </a:r>
          </a:p>
          <a:p>
            <a:pPr lvl="1">
              <a:buFontTx/>
              <a:buChar char="-"/>
            </a:pPr>
            <a:r>
              <a:rPr lang="en-US" sz="2000" dirty="0"/>
              <a:t>Sequence of steps</a:t>
            </a:r>
          </a:p>
          <a:p>
            <a:pPr lvl="1">
              <a:buFontTx/>
              <a:buChar char="-"/>
            </a:pPr>
            <a:r>
              <a:rPr lang="en-US" sz="2000" dirty="0"/>
              <a:t>+ relationships between states of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9914-92C5-4DD7-A4CA-C86FB206C8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Algorithmic State Machine (ASM)</a:t>
            </a:r>
          </a:p>
        </p:txBody>
      </p:sp>
    </p:spTree>
    <p:extLst>
      <p:ext uri="{BB962C8B-B14F-4D97-AF65-F5344CB8AC3E}">
        <p14:creationId xmlns:p14="http://schemas.microsoft.com/office/powerpoint/2010/main" val="3957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919471-04CB-426C-8675-8E63BAF64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676400"/>
            <a:ext cx="4293860" cy="45259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1405-64A2-4450-B94F-7B46E2764E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Components of an ASM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4A1A6-0840-42FC-AD20-64E8F6C6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8" y="1667435"/>
            <a:ext cx="2133600" cy="1093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4C6E0-24D3-4192-850A-502DB7962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317" y="2873189"/>
            <a:ext cx="1955696" cy="1761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E26F9-3861-4B0C-91B9-EDFAB9E6C1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694"/>
          <a:stretch/>
        </p:blipFill>
        <p:spPr>
          <a:xfrm>
            <a:off x="4697505" y="4881282"/>
            <a:ext cx="1364565" cy="10016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9BF7F8-9983-451C-A49D-32CD12061755}"/>
              </a:ext>
            </a:extLst>
          </p:cNvPr>
          <p:cNvSpPr txBox="1"/>
          <p:nvPr/>
        </p:nvSpPr>
        <p:spPr>
          <a:xfrm>
            <a:off x="6611470" y="1521624"/>
            <a:ext cx="255069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E39803"/>
                </a:solidFill>
              </a:rPr>
              <a:t>State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Indicates a state (top left description and top right code)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Register operations (b)</a:t>
            </a:r>
          </a:p>
          <a:p>
            <a:r>
              <a:rPr lang="en-IN" sz="1400" dirty="0">
                <a:solidFill>
                  <a:srgbClr val="E39803"/>
                </a:solidFill>
              </a:rPr>
              <a:t>	OR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o/p control signal 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178A5-E76D-407B-AAFA-A4A5DB3C823F}"/>
              </a:ext>
            </a:extLst>
          </p:cNvPr>
          <p:cNvSpPr txBox="1"/>
          <p:nvPr/>
        </p:nvSpPr>
        <p:spPr>
          <a:xfrm>
            <a:off x="6629400" y="3280844"/>
            <a:ext cx="255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2184B1"/>
                </a:solidFill>
              </a:rPr>
              <a:t>Decision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Condition to be tested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Possible exit paths (typically 2 for binary conditions)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DF6F5-CE2E-46EB-A288-0C34F4AAD8B8}"/>
              </a:ext>
            </a:extLst>
          </p:cNvPr>
          <p:cNvSpPr txBox="1"/>
          <p:nvPr/>
        </p:nvSpPr>
        <p:spPr>
          <a:xfrm>
            <a:off x="6629400" y="4609177"/>
            <a:ext cx="25506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Conditional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Input always from the exit path of a condition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Register operations OR o/p control signals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These are generated during the state if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28579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uiExpand="1" build="p"/>
      <p:bldP spid="1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3E9EF-215D-418F-A36B-609F1441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5486400" cy="5334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Structure containing one state box and all decision and conditional boxes connected to the state box exit path</a:t>
            </a:r>
          </a:p>
          <a:p>
            <a:pPr>
              <a:buFontTx/>
              <a:buChar char="-"/>
            </a:pPr>
            <a:r>
              <a:rPr lang="en-US" dirty="0"/>
              <a:t>ASM block has </a:t>
            </a:r>
            <a:r>
              <a:rPr lang="en-US" b="1" dirty="0"/>
              <a:t>1 input (entrance)</a:t>
            </a:r>
            <a:r>
              <a:rPr lang="en-US" dirty="0"/>
              <a:t>, and any number of exit paths</a:t>
            </a:r>
          </a:p>
          <a:p>
            <a:pPr>
              <a:buFontTx/>
              <a:buChar char="-"/>
            </a:pPr>
            <a:r>
              <a:rPr lang="en-US" dirty="0"/>
              <a:t>Describes the state of the system during 1 clock cycle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6"/>
                </a:solidFill>
              </a:rPr>
              <a:t>All operations</a:t>
            </a:r>
            <a:r>
              <a:rPr lang="en-US" dirty="0"/>
              <a:t> inside the block are initiated </a:t>
            </a:r>
            <a:r>
              <a:rPr lang="en-US" dirty="0">
                <a:solidFill>
                  <a:schemeClr val="accent6"/>
                </a:solidFill>
              </a:rPr>
              <a:t>simultaneously</a:t>
            </a:r>
            <a:r>
              <a:rPr lang="en-US" dirty="0"/>
              <a:t> when the system </a:t>
            </a:r>
            <a:r>
              <a:rPr lang="en-US" dirty="0">
                <a:solidFill>
                  <a:srgbClr val="0070C0"/>
                </a:solidFill>
              </a:rPr>
              <a:t>transitions </a:t>
            </a:r>
            <a:r>
              <a:rPr lang="en-US" b="1" i="1" dirty="0">
                <a:solidFill>
                  <a:srgbClr val="0070C0"/>
                </a:solidFill>
              </a:rPr>
              <a:t>out</a:t>
            </a:r>
            <a:r>
              <a:rPr lang="en-US" dirty="0"/>
              <a:t> of the state into the next state</a:t>
            </a:r>
          </a:p>
          <a:p>
            <a:pPr>
              <a:buFontTx/>
              <a:buChar char="-"/>
            </a:pPr>
            <a:r>
              <a:rPr lang="en-US" dirty="0"/>
              <a:t>Similar to a state diagram:</a:t>
            </a:r>
          </a:p>
          <a:p>
            <a:pPr lvl="1">
              <a:buFontTx/>
              <a:buChar char="-"/>
            </a:pPr>
            <a:r>
              <a:rPr lang="en-US" sz="1800" dirty="0"/>
              <a:t>State box </a:t>
            </a:r>
            <a:r>
              <a:rPr lang="en-US" sz="1800" dirty="0">
                <a:sym typeface="Wingdings" panose="05000000000000000000" pitchFamily="2" charset="2"/>
              </a:rPr>
              <a:t> state</a:t>
            </a:r>
          </a:p>
          <a:p>
            <a:pPr lvl="1">
              <a:buFontTx/>
              <a:buChar char="-"/>
            </a:pPr>
            <a:r>
              <a:rPr lang="en-US" sz="1800" dirty="0">
                <a:sym typeface="Wingdings" panose="05000000000000000000" pitchFamily="2" charset="2"/>
              </a:rPr>
              <a:t>Decision box  edge connecting states</a:t>
            </a:r>
          </a:p>
          <a:p>
            <a:pPr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Similar design process for control path as you did for sequential circuits!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9540-BDCB-4FED-9D0F-B2684D81FD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04EFB-DF43-4010-BD5D-E44698C60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41" y="1434354"/>
            <a:ext cx="3113483" cy="3482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D66A8-7EEB-45D3-BECC-F5ECDE1A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97" y="4893137"/>
            <a:ext cx="1857709" cy="15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38F38F-BFDC-4FEB-B90F-1250D0A4E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Conventional flowcharts: the listed operations follow one after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ASM chart: everything within a block happens simultaneously, synchronized to the clock pulse!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56D6-21D3-4522-B7AE-3BF20A7712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Comparison to conventional flowcharts</a:t>
            </a:r>
          </a:p>
        </p:txBody>
      </p:sp>
    </p:spTree>
    <p:extLst>
      <p:ext uri="{BB962C8B-B14F-4D97-AF65-F5344CB8AC3E}">
        <p14:creationId xmlns:p14="http://schemas.microsoft.com/office/powerpoint/2010/main" val="384179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6399C7-3CF1-4FBC-9C22-DC35D3D2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410200" cy="501388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Parts:</a:t>
            </a:r>
          </a:p>
          <a:p>
            <a:pPr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2 FFs (named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), 4-bit binary counter (</a:t>
            </a:r>
            <a:r>
              <a:rPr lang="en-US" i="1" dirty="0"/>
              <a:t>A</a:t>
            </a:r>
            <a:r>
              <a:rPr lang="en-US" i="1" baseline="-25000" dirty="0"/>
              <a:t>4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Working: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i="1" dirty="0"/>
              <a:t>start </a:t>
            </a:r>
            <a:r>
              <a:rPr lang="en-US" dirty="0"/>
              <a:t>signal </a:t>
            </a:r>
            <a:r>
              <a:rPr lang="en-US" i="1" dirty="0"/>
              <a:t>(S)</a:t>
            </a:r>
            <a:r>
              <a:rPr lang="en-US" dirty="0"/>
              <a:t> initiates the operation by clearing the counter and </a:t>
            </a:r>
            <a:r>
              <a:rPr lang="en-US" i="1" dirty="0"/>
              <a:t>F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Counter increments at each clock pulse until stopped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0</a:t>
            </a:r>
            <a:r>
              <a:rPr lang="en-US" dirty="0"/>
              <a:t>: </a:t>
            </a:r>
            <a:r>
              <a:rPr lang="en-US" i="1" dirty="0"/>
              <a:t>E</a:t>
            </a:r>
            <a:r>
              <a:rPr lang="en-US" dirty="0"/>
              <a:t> cleared and count continues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1</a:t>
            </a:r>
            <a:r>
              <a:rPr lang="en-US" dirty="0"/>
              <a:t>: E set to 1 and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0</a:t>
            </a:r>
            <a:r>
              <a:rPr lang="en-US" sz="2200" dirty="0"/>
              <a:t>: count continues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1</a:t>
            </a:r>
            <a:r>
              <a:rPr lang="en-US" sz="2200" dirty="0"/>
              <a:t>: </a:t>
            </a:r>
            <a:r>
              <a:rPr lang="en-US" sz="2200" i="1" dirty="0"/>
              <a:t>F</a:t>
            </a:r>
            <a:r>
              <a:rPr lang="en-US" sz="2200" dirty="0"/>
              <a:t> set to 1 and counting stops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S = 0</a:t>
            </a:r>
            <a:r>
              <a:rPr lang="en-US" dirty="0"/>
              <a:t>: system retains state</a:t>
            </a:r>
            <a:br>
              <a:rPr lang="en-US" dirty="0"/>
            </a:br>
            <a:r>
              <a:rPr lang="en-US" dirty="0"/>
              <a:t>If </a:t>
            </a:r>
            <a:r>
              <a:rPr lang="en-US" i="1" dirty="0"/>
              <a:t>S = 1</a:t>
            </a:r>
            <a:r>
              <a:rPr lang="en-US" dirty="0"/>
              <a:t>: operation cycle repeats from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7242-B4B8-4616-B093-3FADEE1986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9E9E4F-713F-4AEE-A395-50B39339F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07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B0E0D-51A5-4C8F-AFB5-A44C1DF9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334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states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ASM blocks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Every block in the ASM chart specifies the operations performed during one common clock pulse.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Operations specified within the state and conditional boxes in the block are performed in the </a:t>
            </a:r>
            <a:r>
              <a:rPr lang="en-US" altLang="en-US" sz="2000" dirty="0" err="1"/>
              <a:t>datapath</a:t>
            </a:r>
            <a:r>
              <a:rPr lang="en-US" altLang="en-US" sz="2000" dirty="0"/>
              <a:t> section.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The change from one state to next is performed in the control section.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180C-A50E-41BD-BAE2-219514BE3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593DF-F37B-430F-A47C-38F3273DB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4A95A-6007-4E9B-9C3B-C6439A922FE3}"/>
              </a:ext>
            </a:extLst>
          </p:cNvPr>
          <p:cNvSpPr/>
          <p:nvPr/>
        </p:nvSpPr>
        <p:spPr>
          <a:xfrm>
            <a:off x="6400800" y="1613647"/>
            <a:ext cx="1143000" cy="1783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C0377-C58D-4D24-B49C-53F4D7FF3186}"/>
              </a:ext>
            </a:extLst>
          </p:cNvPr>
          <p:cNvSpPr/>
          <p:nvPr/>
        </p:nvSpPr>
        <p:spPr>
          <a:xfrm>
            <a:off x="5737412" y="3558988"/>
            <a:ext cx="2720788" cy="2232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1D4C9-147B-461E-8CD0-BDE6D1EB26AE}"/>
              </a:ext>
            </a:extLst>
          </p:cNvPr>
          <p:cNvSpPr/>
          <p:nvPr/>
        </p:nvSpPr>
        <p:spPr>
          <a:xfrm>
            <a:off x="7315201" y="5943600"/>
            <a:ext cx="1143000" cy="367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D0185-56CF-41FF-BBC5-5DD668CA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048000" cy="4525963"/>
          </a:xfrm>
        </p:spPr>
        <p:txBody>
          <a:bodyPr/>
          <a:lstStyle/>
          <a:p>
            <a:r>
              <a:rPr lang="en-US" dirty="0"/>
              <a:t>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4-bit binary counter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FFs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Gates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Inputs: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(</a:t>
            </a:r>
            <a:r>
              <a:rPr lang="en-US" i="1" dirty="0"/>
              <a:t>T</a:t>
            </a:r>
            <a:r>
              <a:rPr lang="en-US" i="1" baseline="-25000" dirty="0"/>
              <a:t>0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signal, </a:t>
            </a:r>
            <a:r>
              <a:rPr lang="en-US" i="1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Clock, </a:t>
            </a:r>
            <a:r>
              <a:rPr lang="en-US" i="1" dirty="0"/>
              <a:t>C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310AB8-1C80-4ED0-AAA5-1D9AFC2A6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7DEC-C8B5-4281-A91F-8A2469730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data path</a:t>
            </a:r>
          </a:p>
        </p:txBody>
      </p:sp>
    </p:spTree>
    <p:extLst>
      <p:ext uri="{BB962C8B-B14F-4D97-AF65-F5344CB8AC3E}">
        <p14:creationId xmlns:p14="http://schemas.microsoft.com/office/powerpoint/2010/main" val="351560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3114-C4A6-4210-BF9B-74CB212A50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control path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6A35B8-ADF8-4B4F-98E3-6689A23B79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3" r="42593" b="29884"/>
          <a:stretch/>
        </p:blipFill>
        <p:spPr bwMode="auto">
          <a:xfrm>
            <a:off x="4607859" y="1493837"/>
            <a:ext cx="3962400" cy="14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B126C42-EA40-49B1-85EC-D2158431A4B3}"/>
              </a:ext>
            </a:extLst>
          </p:cNvPr>
          <p:cNvSpPr txBox="1">
            <a:spLocks/>
          </p:cNvSpPr>
          <p:nvPr/>
        </p:nvSpPr>
        <p:spPr bwMode="auto">
          <a:xfrm>
            <a:off x="304800" y="1493837"/>
            <a:ext cx="41910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FFs for control circuit (CC)?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states =&gt; 2 FFs! G</a:t>
            </a:r>
            <a:r>
              <a:rPr lang="en-US" baseline="-25000" dirty="0"/>
              <a:t>1</a:t>
            </a:r>
            <a:r>
              <a:rPr lang="en-US" dirty="0"/>
              <a:t> and G</a:t>
            </a:r>
            <a:r>
              <a:rPr lang="en-US" baseline="-25000" dirty="0"/>
              <a:t>0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outputs of CC?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inputs to the control circuit?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S, A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11072-27C1-4033-BEB6-1BD13941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177" y="3118522"/>
            <a:ext cx="3881388" cy="3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773F88-DAC3-43F3-B5D8-D6315722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039071"/>
              </p:ext>
            </p:extLst>
          </p:nvPr>
        </p:nvGraphicFramePr>
        <p:xfrm>
          <a:off x="304800" y="1493838"/>
          <a:ext cx="81533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218">
                  <a:extLst>
                    <a:ext uri="{9D8B030D-6E8A-4147-A177-3AD203B41FA5}">
                      <a16:colId xmlns:a16="http://schemas.microsoft.com/office/drawing/2014/main" val="408140083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6316670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848673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653344348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365632172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06904851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497812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5229424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246085900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2694203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7901160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1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671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3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2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10505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A6EB-515D-4BF3-B775-48FBBAD803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the state table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50BE97A-FDFA-4515-B3FB-286D0D8DB55B}"/>
              </a:ext>
            </a:extLst>
          </p:cNvPr>
          <p:cNvSpPr txBox="1">
            <a:spLocks/>
          </p:cNvSpPr>
          <p:nvPr/>
        </p:nvSpPr>
        <p:spPr bwMode="auto">
          <a:xfrm>
            <a:off x="3048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Design using D FFs: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0</a:t>
            </a:r>
            <a:r>
              <a:rPr lang="en-US" dirty="0"/>
              <a:t>: T</a:t>
            </a:r>
            <a:r>
              <a:rPr lang="en-US" baseline="-25000" dirty="0"/>
              <a:t>0</a:t>
            </a:r>
            <a:r>
              <a:rPr lang="en-US" dirty="0"/>
              <a:t>S+T</a:t>
            </a:r>
            <a:r>
              <a:rPr lang="en-US" baseline="-25000" dirty="0"/>
              <a:t>1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1</a:t>
            </a:r>
            <a:r>
              <a:rPr lang="en-US" dirty="0"/>
              <a:t>: T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4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BD34984-8C1D-434D-BF3A-4D18B199E7C4}"/>
              </a:ext>
            </a:extLst>
          </p:cNvPr>
          <p:cNvSpPr txBox="1">
            <a:spLocks/>
          </p:cNvSpPr>
          <p:nvPr/>
        </p:nvSpPr>
        <p:spPr bwMode="auto">
          <a:xfrm>
            <a:off x="34671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Outputs: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: G</a:t>
            </a:r>
            <a:r>
              <a:rPr lang="en-US" baseline="-25000" dirty="0"/>
              <a:t>0</a:t>
            </a:r>
            <a:r>
              <a:rPr lang="en-US" dirty="0"/>
              <a:t>’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: G</a:t>
            </a:r>
            <a:r>
              <a:rPr lang="en-US" baseline="-25000" dirty="0"/>
              <a:t>1</a:t>
            </a:r>
            <a:r>
              <a:rPr lang="en-US" dirty="0"/>
              <a:t>’G</a:t>
            </a:r>
            <a:r>
              <a:rPr lang="en-US" baseline="-25000" dirty="0"/>
              <a:t>0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: G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1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D282-B041-4E7A-BCBC-0C82CCE21D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350A3A-32BC-411E-BA37-65A8B81205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/>
        </p:blipFill>
        <p:spPr bwMode="auto">
          <a:xfrm>
            <a:off x="291353" y="1524000"/>
            <a:ext cx="38236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47CE441-BA96-482E-98E7-5E19B9CE6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B6F0-215F-4B43-B21C-9AD4CCF2FA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Now let’s do the binary multiplier!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EB8A43-3DB3-4719-8DA8-E78026DAF6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52" y="1493838"/>
            <a:ext cx="7276495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90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DBEE-2A05-4F3F-8B4B-97542769F9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Multiplier ASM chart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F065BB-CE85-4002-A102-98502D7A2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679572" cy="291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5F219D2-1E86-4DC0-9151-43D86C31C1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012434" y="0"/>
            <a:ext cx="413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7FA756-F88F-4086-BA8B-F7FD7FE1AC9C}"/>
              </a:ext>
            </a:extLst>
          </p:cNvPr>
          <p:cNvSpPr txBox="1"/>
          <p:nvPr/>
        </p:nvSpPr>
        <p:spPr>
          <a:xfrm>
            <a:off x="114300" y="4510882"/>
            <a:ext cx="4679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Wait for ‘start’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 up registers and counters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Count down and perform appropriate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Shift and 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countdown completes, go back to the ‘waiting’ state.</a:t>
            </a:r>
          </a:p>
        </p:txBody>
      </p:sp>
    </p:spTree>
    <p:extLst>
      <p:ext uri="{BB962C8B-B14F-4D97-AF65-F5344CB8AC3E}">
        <p14:creationId xmlns:p14="http://schemas.microsoft.com/office/powerpoint/2010/main" val="38393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4166-B5F4-45B6-AE4F-973322D84E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09700" y="3418703"/>
            <a:ext cx="6324600" cy="1143000"/>
          </a:xfrm>
        </p:spPr>
        <p:txBody>
          <a:bodyPr/>
          <a:lstStyle/>
          <a:p>
            <a:pPr algn="ctr"/>
            <a:r>
              <a:rPr lang="en-US" dirty="0"/>
              <a:t>Design of control logic</a:t>
            </a:r>
          </a:p>
        </p:txBody>
      </p:sp>
    </p:spTree>
    <p:extLst>
      <p:ext uri="{BB962C8B-B14F-4D97-AF65-F5344CB8AC3E}">
        <p14:creationId xmlns:p14="http://schemas.microsoft.com/office/powerpoint/2010/main" val="44704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2821D-060E-49ED-ADCA-898F77B698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6492E2-A9C9-467E-915C-8A357CD01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6329"/>
          <a:stretch/>
        </p:blipFill>
        <p:spPr bwMode="auto">
          <a:xfrm>
            <a:off x="16476" y="1415138"/>
            <a:ext cx="549558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C914C3D-E910-4C4A-B375-853FA9E9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806"/>
          <a:stretch/>
        </p:blipFill>
        <p:spPr bwMode="auto">
          <a:xfrm>
            <a:off x="16476" y="1432202"/>
            <a:ext cx="549558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D9B6E5-18DE-437D-AD91-A59426104841}"/>
              </a:ext>
            </a:extLst>
          </p:cNvPr>
          <p:cNvSpPr txBox="1"/>
          <p:nvPr/>
        </p:nvSpPr>
        <p:spPr>
          <a:xfrm>
            <a:off x="3886200" y="264907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i="0" dirty="0"/>
              <a:t>Signals for controlling register operations: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T1 ( for clearing A and C)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T2 ( for decrementing P)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T3( for shifting CAQ), Q0 to decide whether to add B or not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9305651-E932-46E6-9770-8D3956420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99" y="4246142"/>
            <a:ext cx="5656625" cy="201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6112D5E-7E2F-45CE-89A1-B8A489447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584055"/>
              </p:ext>
            </p:extLst>
          </p:nvPr>
        </p:nvGraphicFramePr>
        <p:xfrm>
          <a:off x="457200" y="15113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1572647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912668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593028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64959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Gray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One-hot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2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91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4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93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12782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74060"/>
              </p:ext>
            </p:extLst>
          </p:nvPr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8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94A0E-FD3F-494F-BCDC-F072193E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Using binary encoding of states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Input columns have X whenever the variable is not used to determine next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Outputs can be generated from inputs using a 2-to-4 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86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595D-4A47-4E14-BC3C-4FE37EEF48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 using D flip flops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29D9A62-ECF2-4FF5-B66F-5C88C9E9EE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47800"/>
            <a:ext cx="8153400" cy="50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09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60EB3A-E271-4686-9CCF-428ADB0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733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1 FF per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Single 1 that propagates from one FF to the next under control logic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en-US" sz="2400" i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DT0 = T0S’ +  T3Z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DT1 = T0S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DT2 = T1 + T3Z’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DT3 = T2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D073-6C69-4DBE-A4C2-F5AEC128CA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of one hot encoding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7AD516-8879-4986-9009-A5B20C471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8"/>
          <a:stretch/>
        </p:blipFill>
        <p:spPr bwMode="auto">
          <a:xfrm>
            <a:off x="3886200" y="1483040"/>
            <a:ext cx="4800600" cy="499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787903-50FB-4746-998C-DC7CD56E0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191000" cy="4525963"/>
          </a:xfrm>
        </p:spPr>
        <p:txBody>
          <a:bodyPr/>
          <a:lstStyle/>
          <a:p>
            <a:r>
              <a:rPr lang="en-US" dirty="0"/>
              <a:t>General pattern: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Multiplexers determine the next state of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Registers hold the present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Decoders provide separate output for control state</a:t>
            </a:r>
          </a:p>
          <a:p>
            <a:pPr marL="0" indent="0"/>
            <a:r>
              <a:rPr lang="en-US" dirty="0"/>
              <a:t>Predefined standard cells in many 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35EE-3C2D-44CE-996A-9B7AE67F61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with multiplexers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5377BA-3EA2-4F8F-8168-442D32E1D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4421909" y="1951038"/>
            <a:ext cx="4414982" cy="406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3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1F95-72A8-4B8E-8D90-3412F15623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3581400" cy="1143000"/>
          </a:xfrm>
        </p:spPr>
        <p:txBody>
          <a:bodyPr/>
          <a:lstStyle/>
          <a:p>
            <a:r>
              <a:rPr lang="en-US" dirty="0"/>
              <a:t>Example – design with </a:t>
            </a:r>
            <a:r>
              <a:rPr lang="en-US" dirty="0" err="1"/>
              <a:t>muxes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3A8272-5E45-4C68-85A1-222EAC3328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11" y="-2060"/>
            <a:ext cx="5176313" cy="686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7208095-B561-4A46-AA99-EE4B0081DF06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0"/>
            <a:ext cx="3733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Focus on control part (state boxes left empty)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Binary state assignment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How many control inputs?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4!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3-level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7860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32B3-0DCF-407C-A219-63D076B5B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8B6A59-4474-4A50-84DE-37A348CC4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2514600" y="1524000"/>
            <a:ext cx="5219700" cy="4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02FE0-9140-4755-BE63-B5FD391C5639}"/>
              </a:ext>
            </a:extLst>
          </p:cNvPr>
          <p:cNvSpPr txBox="1"/>
          <p:nvPr/>
        </p:nvSpPr>
        <p:spPr>
          <a:xfrm>
            <a:off x="5943600" y="548640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should the inputs to the </a:t>
            </a:r>
            <a:r>
              <a:rPr lang="en-US" b="1" dirty="0" err="1">
                <a:solidFill>
                  <a:srgbClr val="FF0000"/>
                </a:solidFill>
              </a:rPr>
              <a:t>muxes</a:t>
            </a:r>
            <a:r>
              <a:rPr lang="en-US" b="1" dirty="0">
                <a:solidFill>
                  <a:srgbClr val="FF0000"/>
                </a:solidFill>
              </a:rPr>
              <a:t> be, to get the correct state transitions?</a:t>
            </a:r>
          </a:p>
        </p:txBody>
      </p:sp>
    </p:spTree>
    <p:extLst>
      <p:ext uri="{BB962C8B-B14F-4D97-AF65-F5344CB8AC3E}">
        <p14:creationId xmlns:p14="http://schemas.microsoft.com/office/powerpoint/2010/main" val="105603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5297-F686-494F-B5B7-105045F70D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F49668C-77BE-40A3-AF96-3272C54BE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947407"/>
              </p:ext>
            </p:extLst>
          </p:nvPr>
        </p:nvGraphicFramePr>
        <p:xfrm>
          <a:off x="304800" y="1493838"/>
          <a:ext cx="8001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Conditions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Mux 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YZ’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05430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48426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9670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8319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Y’Z’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62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495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32B3-0DCF-407C-A219-63D076B5B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8B6A59-4474-4A50-84DE-37A348CC4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8"/>
          <a:stretch/>
        </p:blipFill>
        <p:spPr bwMode="auto">
          <a:xfrm>
            <a:off x="1409700" y="1524000"/>
            <a:ext cx="6324600" cy="4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02FE0-9140-4755-BE63-B5FD391C5639}"/>
              </a:ext>
            </a:extLst>
          </p:cNvPr>
          <p:cNvSpPr txBox="1"/>
          <p:nvPr/>
        </p:nvSpPr>
        <p:spPr>
          <a:xfrm>
            <a:off x="5943600" y="548640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should the inputs to the </a:t>
            </a:r>
            <a:r>
              <a:rPr lang="en-US" b="1" dirty="0" err="1">
                <a:solidFill>
                  <a:srgbClr val="FF0000"/>
                </a:solidFill>
              </a:rPr>
              <a:t>muxes</a:t>
            </a:r>
            <a:r>
              <a:rPr lang="en-US" b="1" dirty="0">
                <a:solidFill>
                  <a:srgbClr val="FF0000"/>
                </a:solidFill>
              </a:rPr>
              <a:t> be, to get the correct state transitions?</a:t>
            </a:r>
          </a:p>
        </p:txBody>
      </p:sp>
    </p:spTree>
    <p:extLst>
      <p:ext uri="{BB962C8B-B14F-4D97-AF65-F5344CB8AC3E}">
        <p14:creationId xmlns:p14="http://schemas.microsoft.com/office/powerpoint/2010/main" val="235943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C4E2F3-5DEB-475E-BC9F-152221F8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i="0" dirty="0"/>
              <a:t>Design Example:</a:t>
            </a:r>
          </a:p>
          <a:p>
            <a:r>
              <a:rPr lang="en-US" altLang="en-US" sz="2400" i="0" dirty="0"/>
              <a:t>Count number of 1’s in a register</a:t>
            </a:r>
          </a:p>
          <a:p>
            <a:endParaRPr lang="en-US" altLang="en-US" sz="2400" i="0" dirty="0"/>
          </a:p>
          <a:p>
            <a:r>
              <a:rPr lang="en-US" altLang="en-US" sz="2400" i="0" dirty="0"/>
              <a:t>Two registers R1 and R2 and Flip-flop E</a:t>
            </a:r>
          </a:p>
          <a:p>
            <a:endParaRPr lang="en-US" altLang="en-US" sz="2400" i="0" dirty="0"/>
          </a:p>
          <a:p>
            <a:r>
              <a:rPr lang="en-US" altLang="en-US" sz="2400" i="0" dirty="0"/>
              <a:t>System count number of 1’s in R1 and sets R2</a:t>
            </a:r>
          </a:p>
          <a:p>
            <a:r>
              <a:rPr lang="en-US" altLang="en-US" sz="2400" i="0" dirty="0"/>
              <a:t>to that number. Done by shifting each bit in R1 one at a time into E, E checked by control and if 1 R2 is incremented.</a:t>
            </a:r>
          </a:p>
          <a:p>
            <a:r>
              <a:rPr lang="en-US" altLang="en-US" sz="2400" i="0" dirty="0"/>
              <a:t>Control uses external input S to start and uses status input E and Z from </a:t>
            </a:r>
            <a:r>
              <a:rPr lang="en-US" altLang="en-US" sz="2400" i="0" dirty="0" err="1"/>
              <a:t>datapath</a:t>
            </a:r>
            <a:r>
              <a:rPr lang="en-US" altLang="en-US" sz="2400" i="0" dirty="0"/>
              <a:t>.  Z = 1 when R1 =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3C80B-8E75-44E0-96FC-CD0E4DDAAC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18502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3EE8-CC91-482B-BCC2-94CE2B7A8D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72948F-FC4F-4148-ACE1-C97B26BB6E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0"/>
            <a:ext cx="3617259" cy="631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6F082D0-A16B-423F-BC30-585157FCA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422" y="1447800"/>
            <a:ext cx="3502871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85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2CC3-426F-4498-BFD1-2C16B7265C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Mux inputs</a:t>
            </a:r>
            <a:endParaRPr lang="en-US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9B1EB58-DEF3-4153-B89A-20F185A6F0C7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04800" y="1493838"/>
            <a:ext cx="822960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i="0" dirty="0"/>
              <a:t>Multiplexer input conditions for control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Present    Next      </a:t>
            </a:r>
          </a:p>
          <a:p>
            <a:r>
              <a:rPr lang="en-US" altLang="en-US" sz="1600" i="0" dirty="0"/>
              <a:t>state        </a:t>
            </a:r>
            <a:r>
              <a:rPr lang="en-US" altLang="en-US" sz="1600" i="0" dirty="0" err="1"/>
              <a:t>state</a:t>
            </a:r>
            <a:r>
              <a:rPr lang="en-US" altLang="en-US" sz="1600" i="0" dirty="0"/>
              <a:t>         Input                              Inputs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G1 G0   G1 G0     conditions               MUX1              MUX2   </a:t>
            </a:r>
          </a:p>
          <a:p>
            <a:r>
              <a:rPr lang="en-US" altLang="en-US" sz="1600" i="0" dirty="0"/>
              <a:t>0    0      0    0          S’</a:t>
            </a:r>
          </a:p>
          <a:p>
            <a:r>
              <a:rPr lang="en-US" altLang="en-US" sz="1600" i="0" dirty="0"/>
              <a:t>0    0      0    1          S                                0                      S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0    1      1    0          Z’</a:t>
            </a:r>
          </a:p>
          <a:p>
            <a:r>
              <a:rPr lang="en-US" altLang="en-US" sz="1600" i="0" dirty="0"/>
              <a:t>0    1      0    0          Z                              </a:t>
            </a:r>
            <a:r>
              <a:rPr lang="en-US" altLang="en-US" sz="1600" i="0" dirty="0" err="1"/>
              <a:t>Z</a:t>
            </a:r>
            <a:r>
              <a:rPr lang="en-US" altLang="en-US" sz="1600" i="0" dirty="0"/>
              <a:t>’                     0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1    0      1    1        None                           1                      1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1    1      1    0          E’</a:t>
            </a:r>
          </a:p>
          <a:p>
            <a:r>
              <a:rPr lang="en-US" altLang="en-US" sz="1600" i="0" dirty="0"/>
              <a:t>1    1      0    1          E                               </a:t>
            </a:r>
            <a:r>
              <a:rPr lang="en-US" altLang="en-US" sz="1600" i="0" dirty="0" err="1"/>
              <a:t>E</a:t>
            </a:r>
            <a:r>
              <a:rPr lang="en-US" altLang="en-US" sz="1600" i="0" dirty="0"/>
              <a:t>’                    E</a:t>
            </a:r>
          </a:p>
        </p:txBody>
      </p:sp>
    </p:spTree>
    <p:extLst>
      <p:ext uri="{BB962C8B-B14F-4D97-AF65-F5344CB8AC3E}">
        <p14:creationId xmlns:p14="http://schemas.microsoft.com/office/powerpoint/2010/main" val="1109176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5AA0-3E81-40FB-8A7C-48476CD7FE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Mux inputs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0A5781-79DC-48FD-B2EA-E3C084617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9"/>
          <a:stretch/>
        </p:blipFill>
        <p:spPr bwMode="auto">
          <a:xfrm>
            <a:off x="2023110" y="1493837"/>
            <a:ext cx="5673090" cy="498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767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EDF5-ED50-48F1-AD09-0D6C8C28BC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draw the ASM chart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D252069-045A-4967-9DA6-ED0FB24A90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5"/>
          <a:stretch/>
        </p:blipFill>
        <p:spPr bwMode="auto">
          <a:xfrm>
            <a:off x="1453648" y="1905000"/>
            <a:ext cx="6236703" cy="399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84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16011</TotalTime>
  <Words>1487</Words>
  <Application>Microsoft Office PowerPoint</Application>
  <PresentationFormat>On-screen Show (4:3)</PresentationFormat>
  <Paragraphs>496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645</cp:revision>
  <dcterms:created xsi:type="dcterms:W3CDTF">2010-01-15T20:22:21Z</dcterms:created>
  <dcterms:modified xsi:type="dcterms:W3CDTF">2026-10-16T02:49:25Z</dcterms:modified>
</cp:coreProperties>
</file>