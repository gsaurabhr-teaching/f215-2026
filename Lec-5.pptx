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382" r:id="rId2"/>
    <p:sldId id="383" r:id="rId3"/>
    <p:sldId id="384" r:id="rId4"/>
    <p:sldId id="388" r:id="rId5"/>
    <p:sldId id="301" r:id="rId6"/>
    <p:sldId id="303" r:id="rId7"/>
    <p:sldId id="279" r:id="rId8"/>
    <p:sldId id="274" r:id="rId9"/>
    <p:sldId id="275" r:id="rId10"/>
    <p:sldId id="276" r:id="rId11"/>
    <p:sldId id="280" r:id="rId12"/>
    <p:sldId id="281" r:id="rId13"/>
    <p:sldId id="282" r:id="rId14"/>
    <p:sldId id="283" r:id="rId15"/>
    <p:sldId id="284" r:id="rId1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4" autoAdjust="0"/>
    <p:restoredTop sz="92730" autoAdjust="0"/>
  </p:normalViewPr>
  <p:slideViewPr>
    <p:cSldViewPr>
      <p:cViewPr varScale="1">
        <p:scale>
          <a:sx n="92" d="100"/>
          <a:sy n="92" d="100"/>
        </p:scale>
        <p:origin x="888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8/6/2026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71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9DAF1-3678-81CF-68D0-2FFF8BF1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4762E-50A2-3FD2-FDF4-C54B9B6A93B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2326C-C066-820B-DC72-5D515C273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A3138-AE69-F27D-2EAA-23D2B3BFFE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772D5-DBDE-E801-75E8-5C65995AF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69C2E-6178-3D9A-0D54-C4141204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9347512-759C-4E18-9ECE-7FCE1DFA93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2902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3F7038-E9FE-3435-A99B-628D46289E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C581210D-00F8-03F9-A285-0EF404A95B2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981720D-E387-AAA5-1040-9B41570959D0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1E86A8-1855-7B69-B62C-6E258FDAA754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F5A7EC-8365-09AA-A08B-63472C98828A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055BCDEA-2A80-3C2D-080C-509BDDC90C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4FE31975-C8A2-731C-B1AA-CCD2DCF57F5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57A10F7-F50B-DAEB-B974-D1288E57150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AECCB2B-C7CF-4843-D0DF-2886453D18B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A3C326-F746-6ED4-B21E-4BB970D1C982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09821B34-ED59-A848-42D8-7954EFE8425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DD3EB44-1837-0D6E-CE9B-DBC9F8518DD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4180C74-B502-6526-25D1-FD5B018B28F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1EECA1A-60B6-C307-32D5-77B6F2589D3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+mn-lt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+mn-lt"/>
                <a:cs typeface="Arial" pitchFamily="34" charset="0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6525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44" r:id="rId12"/>
    <p:sldLayoutId id="2147484861" r:id="rId13"/>
    <p:sldLayoutId id="2147484862" r:id="rId14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Digital Design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Prof. GSS </a:t>
            </a:r>
            <a:r>
              <a:rPr lang="en-US" dirty="0" err="1"/>
              <a:t>Chalapathi</a:t>
            </a:r>
            <a:r>
              <a:rPr lang="en-US" dirty="0"/>
              <a:t>,</a:t>
            </a:r>
          </a:p>
          <a:p>
            <a:r>
              <a:rPr lang="en-US" dirty="0"/>
              <a:t>Prof. Saurabh Gandhi,</a:t>
            </a:r>
          </a:p>
          <a:p>
            <a:r>
              <a:rPr lang="en-US" dirty="0"/>
              <a:t>Prof. Ramesh </a:t>
            </a:r>
            <a:r>
              <a:rPr lang="en-US" dirty="0" err="1"/>
              <a:t>Sambangi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075504-33A5-31E5-7A08-43C06957A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906963"/>
          </a:xfrm>
        </p:spPr>
        <p:txBody>
          <a:bodyPr>
            <a:normAutofit lnSpcReduction="10000"/>
          </a:bodyPr>
          <a:lstStyle/>
          <a:p>
            <a:pPr marL="457200" indent="-457200">
              <a:buClr>
                <a:srgbClr val="C00000"/>
              </a:buClr>
              <a:buFont typeface="Arial" pitchFamily="34" charset="0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To implement an expression in the SOP form, the three different levels comprise of what gates? Arrange them in the correct order.</a:t>
            </a:r>
          </a:p>
          <a:p>
            <a:pPr marL="457200" indent="-457200">
              <a:buClr>
                <a:srgbClr val="C00000"/>
              </a:buClr>
              <a:buFont typeface="Arial" pitchFamily="34" charset="0"/>
              <a:buAutoNum type="arabicPeriod"/>
            </a:pPr>
            <a:endParaRPr lang="en-US" dirty="0">
              <a:solidFill>
                <a:srgbClr val="C00000"/>
              </a:solidFill>
            </a:endParaRPr>
          </a:p>
          <a:p>
            <a:pPr marL="457200" indent="-457200">
              <a:buClr>
                <a:srgbClr val="C00000"/>
              </a:buClr>
              <a:buFont typeface="Arial" pitchFamily="34" charset="0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A POS form can be written with ________</a:t>
            </a:r>
          </a:p>
          <a:p>
            <a:pPr marL="457200" indent="-457200">
              <a:buClr>
                <a:srgbClr val="C00000"/>
              </a:buClr>
              <a:buFont typeface="Arial" pitchFamily="34" charset="0"/>
              <a:buAutoNum type="arabicPeriod"/>
            </a:pPr>
            <a:endParaRPr lang="en-US" dirty="0">
              <a:solidFill>
                <a:srgbClr val="C00000"/>
              </a:solidFill>
            </a:endParaRPr>
          </a:p>
          <a:p>
            <a:pPr marL="457200" indent="-457200">
              <a:buClr>
                <a:srgbClr val="C00000"/>
              </a:buClr>
              <a:buFont typeface="Arial" pitchFamily="34" charset="0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How many </a:t>
            </a:r>
            <a:r>
              <a:rPr lang="en-US" dirty="0" err="1">
                <a:solidFill>
                  <a:srgbClr val="C00000"/>
                </a:solidFill>
              </a:rPr>
              <a:t>minterms</a:t>
            </a:r>
            <a:r>
              <a:rPr lang="en-US" dirty="0">
                <a:solidFill>
                  <a:srgbClr val="C00000"/>
                </a:solidFill>
              </a:rPr>
              <a:t> can you make with 4 variables?</a:t>
            </a:r>
            <a:endParaRPr lang="en-IN" dirty="0">
              <a:solidFill>
                <a:srgbClr val="C00000"/>
              </a:solidFill>
            </a:endParaRPr>
          </a:p>
          <a:p>
            <a:pPr marL="457200" indent="-457200">
              <a:buClr>
                <a:srgbClr val="C00000"/>
              </a:buClr>
              <a:buAutoNum type="arabicPeriod"/>
            </a:pPr>
            <a:endParaRPr lang="en-US" dirty="0">
              <a:solidFill>
                <a:srgbClr val="C00000"/>
              </a:solidFill>
            </a:endParaRPr>
          </a:p>
          <a:p>
            <a:pPr marL="457200" indent="-457200">
              <a:buClr>
                <a:srgbClr val="C00000"/>
              </a:buClr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A Boolean function of 5 variables written as sum of </a:t>
            </a:r>
            <a:r>
              <a:rPr lang="en-US" dirty="0" err="1">
                <a:solidFill>
                  <a:srgbClr val="C00000"/>
                </a:solidFill>
              </a:rPr>
              <a:t>minterms</a:t>
            </a:r>
            <a:r>
              <a:rPr lang="en-US" dirty="0">
                <a:solidFill>
                  <a:srgbClr val="C00000"/>
                </a:solidFill>
              </a:rPr>
              <a:t> will have</a:t>
            </a:r>
          </a:p>
          <a:p>
            <a:pPr marL="457200" indent="-457200">
              <a:buClr>
                <a:srgbClr val="C00000"/>
              </a:buClr>
              <a:buAutoNum type="arabicPeriod"/>
            </a:pPr>
            <a:endParaRPr lang="en-US" dirty="0">
              <a:solidFill>
                <a:srgbClr val="C00000"/>
              </a:solidFill>
            </a:endParaRPr>
          </a:p>
          <a:p>
            <a:pPr marL="457200" indent="-457200">
              <a:buClr>
                <a:srgbClr val="C00000"/>
              </a:buClr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Converting between </a:t>
            </a:r>
            <a:r>
              <a:rPr lang="en-US" dirty="0" err="1">
                <a:solidFill>
                  <a:srgbClr val="C00000"/>
                </a:solidFill>
              </a:rPr>
              <a:t>minterms</a:t>
            </a:r>
            <a:r>
              <a:rPr lang="en-US" dirty="0">
                <a:solidFill>
                  <a:srgbClr val="C00000"/>
                </a:solidFill>
              </a:rPr>
              <a:t> and maxterms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70DDE-AB81-B906-98DD-D78CF4A6C1B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Review questions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7178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90A7BC-EB71-FD07-9BAA-902F84E5E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Representing information in binary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Operations on binary numbers, Boolean Algebra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Obtaining binary expressions and making circuits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K-maps for simplifying expressions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K-maps in special cases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AE33C-DF1D-6815-DFD6-A20593968EE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Working in Binary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9664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0C201-22D1-2000-BE01-8234DB13F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580DD-738D-376D-16D1-275DFA985ED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The grand scheme of designing combinational circuits</a:t>
            </a:r>
            <a:endParaRPr lang="en-IN" dirty="0"/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11BF7519-F875-5054-101B-592D829844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3" t="10028" r="26176" b="11900"/>
          <a:stretch>
            <a:fillRect/>
          </a:stretch>
        </p:blipFill>
        <p:spPr bwMode="auto">
          <a:xfrm>
            <a:off x="520107" y="1600200"/>
            <a:ext cx="8103785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156391-9199-4196-85DC-AB03B64F8E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0" t="5674" r="17000" b="7446"/>
          <a:stretch>
            <a:fillRect/>
          </a:stretch>
        </p:blipFill>
        <p:spPr>
          <a:xfrm>
            <a:off x="533400" y="1371600"/>
            <a:ext cx="8229600" cy="51536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7175E3-AD37-B27A-D1B6-94E58787DB6B}"/>
              </a:ext>
            </a:extLst>
          </p:cNvPr>
          <p:cNvSpPr txBox="1"/>
          <p:nvPr/>
        </p:nvSpPr>
        <p:spPr>
          <a:xfrm>
            <a:off x="4953000" y="776739"/>
            <a:ext cx="33528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DONE WITH COMBINATIONAL?!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04282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87C851-5E9E-62C5-21E3-76E031D3D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Graphical Device used to Simplify Boolean expressions</a:t>
            </a:r>
          </a:p>
          <a:p>
            <a:pPr marL="0" indent="0"/>
            <a:endParaRPr lang="en-US" dirty="0"/>
          </a:p>
          <a:p>
            <a:pPr>
              <a:buFontTx/>
              <a:buChar char="-"/>
            </a:pPr>
            <a:r>
              <a:rPr lang="en-US" dirty="0"/>
              <a:t>Useful for up to six variables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Reduce expressions to a </a:t>
            </a:r>
            <a:r>
              <a:rPr lang="en-US" b="1" i="1" dirty="0"/>
              <a:t>minimal sum of products</a:t>
            </a:r>
            <a:r>
              <a:rPr lang="en-US" dirty="0"/>
              <a:t> (MSP) form</a:t>
            </a:r>
          </a:p>
          <a:p>
            <a:pPr lvl="1">
              <a:buFontTx/>
              <a:buChar char="-"/>
            </a:pPr>
            <a:r>
              <a:rPr lang="en-US" sz="2400" dirty="0"/>
              <a:t>Minimum number of product terms</a:t>
            </a:r>
          </a:p>
          <a:p>
            <a:pPr lvl="1">
              <a:buFontTx/>
              <a:buChar char="-"/>
            </a:pPr>
            <a:r>
              <a:rPr lang="en-US" sz="2400" dirty="0"/>
              <a:t>Each product has a minimal number of literals</a:t>
            </a:r>
          </a:p>
          <a:p>
            <a:pPr lvl="1">
              <a:buFontTx/>
              <a:buChar char="-"/>
            </a:pPr>
            <a:endParaRPr lang="en-US" sz="2400" dirty="0"/>
          </a:p>
          <a:p>
            <a:pPr>
              <a:buFontTx/>
              <a:buChar char="-"/>
            </a:pPr>
            <a:r>
              <a:rPr lang="en-US" dirty="0"/>
              <a:t>Circuit-wise leads to minimal two-level implementation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9864E-D312-B2B7-9E6C-9AD873DAFF2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Karnaugh Maps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1AE452-1AE6-2C98-0769-D88C34E02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341437"/>
            <a:ext cx="8229600" cy="4525963"/>
          </a:xfrm>
        </p:spPr>
        <p:txBody>
          <a:bodyPr/>
          <a:lstStyle/>
          <a:p>
            <a:pPr>
              <a:buFontTx/>
              <a:buChar char="-"/>
            </a:pPr>
            <a:r>
              <a:rPr lang="en-US" sz="2000" dirty="0"/>
              <a:t>Row of a Truth Table corresponds to a square in K-map</a:t>
            </a:r>
          </a:p>
          <a:p>
            <a:pPr>
              <a:buFontTx/>
              <a:buChar char="-"/>
            </a:pPr>
            <a:r>
              <a:rPr lang="en-US" sz="2000" dirty="0"/>
              <a:t>Adjacent squares differ in only one variable</a:t>
            </a:r>
          </a:p>
          <a:p>
            <a:pPr>
              <a:buFontTx/>
              <a:buChar char="-"/>
            </a:pPr>
            <a:r>
              <a:rPr lang="en-US" sz="2000" dirty="0"/>
              <a:t>Combine squares with 1’s</a:t>
            </a:r>
            <a:endParaRPr lang="en-IN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F3437-D42F-4703-4D15-E45348BA71F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Building K-maps</a:t>
            </a:r>
            <a:endParaRPr lang="en-IN" dirty="0"/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11067112-ACE2-BBEA-4766-CF982C0E95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23" r="50000" b="56316"/>
          <a:stretch>
            <a:fillRect/>
          </a:stretch>
        </p:blipFill>
        <p:spPr bwMode="auto">
          <a:xfrm>
            <a:off x="762000" y="2514600"/>
            <a:ext cx="34671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AF8EEC53-4D8F-A461-B57C-031190721C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84" r="50000" b="5818"/>
          <a:stretch>
            <a:fillRect/>
          </a:stretch>
        </p:blipFill>
        <p:spPr bwMode="auto">
          <a:xfrm>
            <a:off x="762000" y="4038600"/>
            <a:ext cx="34671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5B184EF3-A077-DFF7-68C0-BA688DD937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2123" r="3846" b="35802"/>
          <a:stretch>
            <a:fillRect/>
          </a:stretch>
        </p:blipFill>
        <p:spPr bwMode="auto">
          <a:xfrm>
            <a:off x="5181600" y="2514600"/>
            <a:ext cx="32004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C24838D-CD30-7EB1-D689-F4C08C5A4C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64199" r="3846" b="5819"/>
          <a:stretch>
            <a:fillRect/>
          </a:stretch>
        </p:blipFill>
        <p:spPr bwMode="auto">
          <a:xfrm>
            <a:off x="5181600" y="5029200"/>
            <a:ext cx="32004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F3AF80-7443-D4BB-3D5F-13528655203B}"/>
              </a:ext>
            </a:extLst>
          </p:cNvPr>
          <p:cNvSpPr txBox="1"/>
          <p:nvPr/>
        </p:nvSpPr>
        <p:spPr>
          <a:xfrm>
            <a:off x="4914900" y="3319046"/>
            <a:ext cx="685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x = 0</a:t>
            </a:r>
            <a:endParaRPr lang="en-I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77A2BC-D2C2-0207-30B0-F0155774F13C}"/>
              </a:ext>
            </a:extLst>
          </p:cNvPr>
          <p:cNvSpPr txBox="1"/>
          <p:nvPr/>
        </p:nvSpPr>
        <p:spPr>
          <a:xfrm>
            <a:off x="4914900" y="3623846"/>
            <a:ext cx="685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x = 1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42C503-5A6E-5F0C-82E8-8FB99D1B199A}"/>
              </a:ext>
            </a:extLst>
          </p:cNvPr>
          <p:cNvSpPr txBox="1"/>
          <p:nvPr/>
        </p:nvSpPr>
        <p:spPr>
          <a:xfrm>
            <a:off x="4914900" y="2983468"/>
            <a:ext cx="33909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y z   =     0 0       0 1       1 1       1 0</a:t>
            </a:r>
            <a:endParaRPr lang="en-IN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86D10-6C95-F632-6DCF-DB492ED42DC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Filling in the k-map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81B3E8F-D8AB-641C-6474-6B19156DE7B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28"/>
          <a:stretch>
            <a:fillRect/>
          </a:stretch>
        </p:blipFill>
        <p:spPr bwMode="auto">
          <a:xfrm>
            <a:off x="342900" y="1447800"/>
            <a:ext cx="8458200" cy="500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53B5C-A0D4-827A-B36C-447DD5E5DD8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Reducing two </a:t>
            </a:r>
            <a:r>
              <a:rPr lang="en-US" dirty="0" err="1"/>
              <a:t>minterms</a:t>
            </a:r>
            <a:r>
              <a:rPr lang="en-US" dirty="0"/>
              <a:t> in k-maps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71F570D-0990-F01A-3E4B-9722B5BEF54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69" b="47561"/>
          <a:stretch>
            <a:fillRect/>
          </a:stretch>
        </p:blipFill>
        <p:spPr bwMode="auto">
          <a:xfrm>
            <a:off x="97011" y="1600201"/>
            <a:ext cx="8949977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42AD53EE-54D3-4B86-A818-57C928E660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440" b="15897"/>
          <a:stretch>
            <a:fillRect/>
          </a:stretch>
        </p:blipFill>
        <p:spPr bwMode="auto">
          <a:xfrm>
            <a:off x="97010" y="4038601"/>
            <a:ext cx="8949977" cy="1981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1C6403-B13C-3787-CFA8-4F4CBCCC2DC0}"/>
              </a:ext>
            </a:extLst>
          </p:cNvPr>
          <p:cNvSpPr txBox="1"/>
          <p:nvPr/>
        </p:nvSpPr>
        <p:spPr>
          <a:xfrm>
            <a:off x="685800" y="6015336"/>
            <a:ext cx="7391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What will you get by adding m0 and m4?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C3BAE-B672-B979-B2A6-4FB7CD71B29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Reducing four </a:t>
            </a:r>
            <a:r>
              <a:rPr lang="en-US" dirty="0" err="1"/>
              <a:t>minterms</a:t>
            </a:r>
            <a:r>
              <a:rPr lang="en-US" dirty="0"/>
              <a:t> in k-maps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3546A4E-801E-9413-F99A-84A2B336680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50" b="32429"/>
          <a:stretch>
            <a:fillRect/>
          </a:stretch>
        </p:blipFill>
        <p:spPr bwMode="auto">
          <a:xfrm>
            <a:off x="132469" y="1676400"/>
            <a:ext cx="8879062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D8799D74-9FAC-2057-D639-5BCB09868A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590" b="-779"/>
          <a:stretch>
            <a:fillRect/>
          </a:stretch>
        </p:blipFill>
        <p:spPr bwMode="auto">
          <a:xfrm>
            <a:off x="132469" y="4419600"/>
            <a:ext cx="8879062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86E5D92D-6965-C75D-A9AE-9AB178717D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495" b="32429"/>
          <a:stretch>
            <a:fillRect/>
          </a:stretch>
        </p:blipFill>
        <p:spPr bwMode="auto">
          <a:xfrm>
            <a:off x="132469" y="3657600"/>
            <a:ext cx="8879062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BB7B5-5429-7A38-1E3A-5427B357153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Reducible groups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B74D944-DB5D-E1A1-6474-95DD1A8D2BB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54"/>
          <a:stretch>
            <a:fillRect/>
          </a:stretch>
        </p:blipFill>
        <p:spPr bwMode="auto">
          <a:xfrm>
            <a:off x="200729" y="1828800"/>
            <a:ext cx="8742541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62774-9359-3480-CB3A-C9E6CC38886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Reducing multiple groups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DF7C013-EF40-BA52-31D4-E548CEF668B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50"/>
          <a:stretch>
            <a:fillRect/>
          </a:stretch>
        </p:blipFill>
        <p:spPr bwMode="auto">
          <a:xfrm>
            <a:off x="390425" y="1524000"/>
            <a:ext cx="8363150" cy="4648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7DC4E-6C7F-D214-5F8F-09E884D3F59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Summary: simplification using k-maps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FB0170F-18E9-D822-E97F-1B90EE29CAC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58"/>
          <a:stretch>
            <a:fillRect/>
          </a:stretch>
        </p:blipFill>
        <p:spPr bwMode="auto">
          <a:xfrm>
            <a:off x="609600" y="1600200"/>
            <a:ext cx="7924800" cy="4602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08905-B34E-0C02-4897-CBB87569AA8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How to decide the best group of </a:t>
            </a:r>
            <a:r>
              <a:rPr lang="en-US" dirty="0" err="1"/>
              <a:t>minterms</a:t>
            </a:r>
            <a:r>
              <a:rPr lang="en-US" dirty="0"/>
              <a:t>?</a:t>
            </a:r>
            <a:endParaRPr lang="en-IN" dirty="0"/>
          </a:p>
        </p:txBody>
      </p:sp>
      <p:pic>
        <p:nvPicPr>
          <p:cNvPr id="4" name="Picture 1026">
            <a:extLst>
              <a:ext uri="{FF2B5EF4-FFF2-40B4-BE49-F238E27FC236}">
                <a16:creationId xmlns:a16="http://schemas.microsoft.com/office/drawing/2014/main" id="{50B29534-E339-750D-DBD2-C9112B9F468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58" b="40871"/>
          <a:stretch>
            <a:fillRect/>
          </a:stretch>
        </p:blipFill>
        <p:spPr bwMode="auto">
          <a:xfrm>
            <a:off x="305789" y="1524001"/>
            <a:ext cx="8532422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1026">
            <a:extLst>
              <a:ext uri="{FF2B5EF4-FFF2-40B4-BE49-F238E27FC236}">
                <a16:creationId xmlns:a16="http://schemas.microsoft.com/office/drawing/2014/main" id="{B5819D5C-CA99-908C-B317-6AF8D05B5B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130" b="1440"/>
          <a:stretch>
            <a:fillRect/>
          </a:stretch>
        </p:blipFill>
        <p:spPr bwMode="auto">
          <a:xfrm>
            <a:off x="305789" y="4038601"/>
            <a:ext cx="8532422" cy="2133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215FA-268E-9840-819B-3BB1099B167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Minimizing groups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9C7571B-56F1-452B-5F38-B196D789D5A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21"/>
          <a:stretch>
            <a:fillRect/>
          </a:stretch>
        </p:blipFill>
        <p:spPr bwMode="auto">
          <a:xfrm>
            <a:off x="388955" y="1600200"/>
            <a:ext cx="8366090" cy="453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9A283-3A18-C66A-353E-BB3E9439A60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Maximizing group size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4FF36E0-5358-04F6-5564-A88D2F60786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37715"/>
          <a:stretch>
            <a:fillRect/>
          </a:stretch>
        </p:blipFill>
        <p:spPr bwMode="auto">
          <a:xfrm>
            <a:off x="210951" y="1600200"/>
            <a:ext cx="8722097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F022F544-79B7-9BE6-0947-E67E9A4D87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351" b="-67"/>
          <a:stretch>
            <a:fillRect/>
          </a:stretch>
        </p:blipFill>
        <p:spPr bwMode="auto">
          <a:xfrm>
            <a:off x="210950" y="4114800"/>
            <a:ext cx="8722097" cy="1904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9335</TotalTime>
  <Words>254</Words>
  <Application>Microsoft Office PowerPoint</Application>
  <PresentationFormat>On-screen Show (4:3)</PresentationFormat>
  <Paragraphs>50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Digital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566</cp:revision>
  <dcterms:created xsi:type="dcterms:W3CDTF">2010-01-15T20:22:21Z</dcterms:created>
  <dcterms:modified xsi:type="dcterms:W3CDTF">2026-08-07T09:08:40Z</dcterms:modified>
</cp:coreProperties>
</file>