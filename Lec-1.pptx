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37" r:id="rId2"/>
    <p:sldId id="358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61" r:id="rId11"/>
    <p:sldId id="362" r:id="rId12"/>
    <p:sldId id="363" r:id="rId13"/>
    <p:sldId id="263" r:id="rId14"/>
    <p:sldId id="260" r:id="rId15"/>
    <p:sldId id="264" r:id="rId16"/>
    <p:sldId id="259" r:id="rId17"/>
    <p:sldId id="273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85872" autoAdjust="0"/>
  </p:normalViewPr>
  <p:slideViewPr>
    <p:cSldViewPr>
      <p:cViewPr varScale="1">
        <p:scale>
          <a:sx n="99" d="100"/>
          <a:sy n="99" d="100"/>
        </p:scale>
        <p:origin x="67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2A0AFCFA-4EAE-3A78-6B11-1A79535A4C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DD615C-3C1E-8D46-BB1B-DF6242AB9570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07B997A9-C420-7E46-91CD-22360478E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314CB1-E0E2-249D-40CB-525C7874CFE9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8822F1-EF10-C6D3-8C7D-3B701D3B2CB1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83DF0-422B-B5A4-6C36-E0E881A3B14B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549E8-B88F-2543-8210-F61F5F9B5C9D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E468E-3B6F-1648-4320-C8F4CB8E0D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02177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7365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45" r:id="rId13"/>
    <p:sldLayoutId id="2147484860" r:id="rId14"/>
    <p:sldLayoutId id="2147484861" r:id="rId15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e/2PACX-1vSIV1EHU-0wvajAIFe-sOeNOzDlwkDgNyJ8hnV4WtH53mlX90pbEewLUbnbyhhcVhY9HXBltUEFT5kc/pubhtml?gid=0&amp;single=true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f215-faqs" TargetMode="External"/><Relationship Id="rId2" Type="http://schemas.openxmlformats.org/officeDocument/2006/relationships/hyperlink" Target="https://tinyurl.com/f215-schedule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tinyurl.com/f215-contac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4E265-7D17-83F6-4356-86033AE5F8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dirty="0">
                <a:latin typeface="Arial Black" panose="020B0A04020102020204" pitchFamily="34" charset="0"/>
              </a:rPr>
              <a:t>Logistics</a:t>
            </a:r>
            <a:endParaRPr lang="en-US" altLang="en-US" sz="3200" b="1" dirty="0">
              <a:latin typeface="Arial Black" panose="020B0A04020102020204" pitchFamily="34" charset="0"/>
            </a:endParaRP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F309F9-9CC9-ADF4-59EA-1D6C06FA7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142379"/>
              </p:ext>
            </p:extLst>
          </p:nvPr>
        </p:nvGraphicFramePr>
        <p:xfrm>
          <a:off x="304800" y="1425351"/>
          <a:ext cx="8534400" cy="3166743"/>
        </p:xfrm>
        <a:graphic>
          <a:graphicData uri="http://schemas.openxmlformats.org/drawingml/2006/table">
            <a:tbl>
              <a:tblPr/>
              <a:tblGrid>
                <a:gridCol w="1927915">
                  <a:extLst>
                    <a:ext uri="{9D8B030D-6E8A-4147-A177-3AD203B41FA5}">
                      <a16:colId xmlns:a16="http://schemas.microsoft.com/office/drawing/2014/main" val="401681054"/>
                    </a:ext>
                  </a:extLst>
                </a:gridCol>
                <a:gridCol w="1485845">
                  <a:extLst>
                    <a:ext uri="{9D8B030D-6E8A-4147-A177-3AD203B41FA5}">
                      <a16:colId xmlns:a16="http://schemas.microsoft.com/office/drawing/2014/main" val="106502938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378102307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701804154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936021843"/>
                    </a:ext>
                  </a:extLst>
                </a:gridCol>
              </a:tblGrid>
              <a:tr h="6209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Component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Duration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Marks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Nature of component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Date and Time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048663"/>
                  </a:ext>
                </a:extLst>
              </a:tr>
              <a:tr h="3640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Midsemester exam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 mins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CB/OB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See tentative schedule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hlinkClick r:id="rId2"/>
                        </a:rPr>
                        <a:t>here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653413"/>
                  </a:ext>
                </a:extLst>
              </a:tr>
              <a:tr h="4924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Comprehensive exam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 mins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CB/OB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694900"/>
                  </a:ext>
                </a:extLst>
              </a:tr>
              <a:tr h="3640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Quizzes (best 2 / 3)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 mins each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CB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645638"/>
                  </a:ext>
                </a:extLst>
              </a:tr>
              <a:tr h="2440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Lab exam</a:t>
                      </a:r>
                      <a:r>
                        <a:rPr lang="en-IN" sz="14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hr + 1.5 hr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26136"/>
                  </a:ext>
                </a:extLst>
              </a:tr>
              <a:tr h="4924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participation</a:t>
                      </a:r>
                      <a:r>
                        <a:rPr lang="en-IN" sz="14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+ 5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 classes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88616"/>
                  </a:ext>
                </a:extLst>
              </a:tr>
              <a:tr h="4924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Lab performance</a:t>
                      </a:r>
                      <a:r>
                        <a:rPr lang="en-IN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en-IN" sz="140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 labs</a:t>
                      </a:r>
                      <a:endParaRPr lang="en-IN" sz="1400" dirty="0">
                        <a:effectLst/>
                      </a:endParaRPr>
                    </a:p>
                  </a:txBody>
                  <a:tcPr marL="63500" marR="63500" marT="63500" marB="6350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04104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5D875-1B6E-1A5B-467E-9265BD8282D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Evaluation components ( / 300 )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0DB88-4CC6-3983-0269-F5F49DBC1457}"/>
              </a:ext>
            </a:extLst>
          </p:cNvPr>
          <p:cNvSpPr txBox="1"/>
          <p:nvPr/>
        </p:nvSpPr>
        <p:spPr>
          <a:xfrm>
            <a:off x="-76200" y="4620081"/>
            <a:ext cx="922020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rtl="0">
              <a:buNone/>
            </a:pPr>
            <a:r>
              <a:rPr lang="en-IN" sz="1600" b="0" i="0" u="none" strike="noStrike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#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1.5 marks each, best 10 out of 12 (for attendance and completion as defined for each lab)</a:t>
            </a:r>
          </a:p>
          <a:p>
            <a:pPr marL="228600" rtl="0">
              <a:buNone/>
            </a:pP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IN" sz="1600" b="0" i="0" u="none" strike="noStrike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%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based on the engagement score described below</a:t>
            </a:r>
            <a:endParaRPr lang="en-IN" sz="1600" b="0" dirty="0">
              <a:effectLst/>
            </a:endParaRPr>
          </a:p>
          <a:p>
            <a:pPr marL="228600" rtl="0">
              <a:buNone/>
            </a:pPr>
            <a:endParaRPr lang="en-IN" sz="1600" b="0" i="0" u="none" strike="noStrike" baseline="300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rtl="0">
              <a:buNone/>
            </a:pPr>
            <a:r>
              <a:rPr lang="en-IN" sz="1600" b="0" i="0" u="none" strike="noStrike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[IPC lab] Converting a circuit to Verilog (15 marks), writing an appropriate test bench (15 marks) + [Digital lab] Clean and functional physical implementation of circuits on breadboards (20 marks)</a:t>
            </a:r>
          </a:p>
          <a:p>
            <a:pPr marL="228600" rtl="0">
              <a:buNone/>
            </a:pPr>
            <a:endParaRPr lang="en-IN" sz="800" dirty="0">
              <a:solidFill>
                <a:srgbClr val="000000"/>
              </a:solidFill>
            </a:endParaRPr>
          </a:p>
          <a:p>
            <a:pPr marL="228600" rtl="0">
              <a:buNone/>
            </a:pPr>
            <a:r>
              <a:rPr lang="en-IN" sz="1600" b="1" dirty="0">
                <a:solidFill>
                  <a:srgbClr val="C00000"/>
                </a:solidFill>
              </a:rPr>
              <a:t>Weightages subject to reasonable minor adjustments if needed.</a:t>
            </a:r>
          </a:p>
        </p:txBody>
      </p:sp>
    </p:spTree>
    <p:extLst>
      <p:ext uri="{BB962C8B-B14F-4D97-AF65-F5344CB8AC3E}">
        <p14:creationId xmlns:p14="http://schemas.microsoft.com/office/powerpoint/2010/main" val="184736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0AAD0-C5E0-A8B1-4B81-93B3BC6DD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111" t="7112" r="7557" b="7556"/>
          <a:stretch>
            <a:fillRect/>
          </a:stretch>
        </p:blipFill>
        <p:spPr bwMode="auto">
          <a:xfrm>
            <a:off x="279935" y="1600200"/>
            <a:ext cx="472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E55F-FEC0-678F-58FE-953747FE2A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Class participation</a:t>
            </a:r>
            <a:br>
              <a:rPr lang="en-US" dirty="0"/>
            </a:b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https://student-ces.vercel.app/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0ABB9-246D-0E35-7213-2B7EDC7149CB}"/>
              </a:ext>
            </a:extLst>
          </p:cNvPr>
          <p:cNvSpPr txBox="1"/>
          <p:nvPr/>
        </p:nvSpPr>
        <p:spPr>
          <a:xfrm>
            <a:off x="5105401" y="1447800"/>
            <a:ext cx="3962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Step 1: Log in with your BITS email</a:t>
            </a:r>
          </a:p>
          <a:p>
            <a:endParaRPr lang="en-US" sz="1600" dirty="0"/>
          </a:p>
          <a:p>
            <a:r>
              <a:rPr lang="en-US" sz="1600" dirty="0"/>
              <a:t>Step 2: Join the course using this code: </a:t>
            </a:r>
            <a:r>
              <a:rPr lang="en-US" sz="1600" b="1" dirty="0">
                <a:solidFill>
                  <a:srgbClr val="C00000"/>
                </a:solidFill>
              </a:rPr>
              <a:t>SXPGYZ</a:t>
            </a:r>
            <a:endParaRPr lang="en-US" sz="1600" dirty="0">
              <a:solidFill>
                <a:srgbClr val="C00000"/>
              </a:solidFill>
            </a:endParaRP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IN" sz="1600" dirty="0"/>
              <a:t>Step 3: Open the ‘Live session’ tab</a:t>
            </a:r>
          </a:p>
          <a:p>
            <a:endParaRPr lang="en-IN" sz="1600" dirty="0"/>
          </a:p>
          <a:p>
            <a:r>
              <a:rPr lang="en-IN" sz="1600" dirty="0"/>
              <a:t>Step 4: Answer the questions that show up on your screen!</a:t>
            </a:r>
          </a:p>
          <a:p>
            <a:r>
              <a:rPr lang="en-US" sz="1600" dirty="0">
                <a:solidFill>
                  <a:srgbClr val="C00000"/>
                </a:solidFill>
              </a:rPr>
              <a:t>(provide location permission)</a:t>
            </a:r>
            <a:endParaRPr lang="en-IN" sz="1600" dirty="0"/>
          </a:p>
          <a:p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C00000"/>
                </a:solidFill>
              </a:rPr>
              <a:t>What section are you attending today? L1 / L2 / L3</a:t>
            </a:r>
          </a:p>
          <a:p>
            <a:endParaRPr lang="en-IN" sz="16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IN" sz="1600" dirty="0">
                <a:solidFill>
                  <a:srgbClr val="C00000"/>
                </a:solidFill>
              </a:rPr>
              <a:t>Select all that apply</a:t>
            </a:r>
          </a:p>
          <a:p>
            <a:pPr marL="342900" indent="-342900">
              <a:buFont typeface="+mj-lt"/>
              <a:buAutoNum type="arabicPeriod" startAt="2"/>
            </a:pPr>
            <a:endParaRPr lang="en-IN" sz="16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IN" sz="1600" dirty="0">
                <a:solidFill>
                  <a:srgbClr val="C00000"/>
                </a:solidFill>
              </a:rPr>
              <a:t>Where will you find course related announcements and material?</a:t>
            </a:r>
          </a:p>
          <a:p>
            <a:pPr marL="342900" indent="-342900">
              <a:buFont typeface="+mj-lt"/>
              <a:buAutoNum type="arabicPeriod" startAt="2"/>
            </a:pPr>
            <a:endParaRPr lang="en-IN" sz="1600" dirty="0">
              <a:solidFill>
                <a:srgbClr val="C00000"/>
              </a:solidFill>
            </a:endParaRPr>
          </a:p>
          <a:p>
            <a:r>
              <a:rPr lang="en-IN" sz="1600" dirty="0"/>
              <a:t>Step 5: Bookmark / install the </a:t>
            </a:r>
            <a:r>
              <a:rPr lang="en-IN" sz="1600" dirty="0" err="1"/>
              <a:t>pwa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4168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6B0BD6-FEEF-FDD7-9936-1753C6B00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458200" cy="4525963"/>
          </a:xfrm>
        </p:spPr>
        <p:txBody>
          <a:bodyPr/>
          <a:lstStyle/>
          <a:p>
            <a:r>
              <a:rPr lang="en-US" sz="2000" dirty="0" err="1">
                <a:solidFill>
                  <a:srgbClr val="C00000"/>
                </a:solidFill>
              </a:rPr>
              <a:t>BITS</a:t>
            </a:r>
            <a:r>
              <a:rPr lang="en-US" sz="2000" dirty="0" err="1"/>
              <a:t>app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C00000"/>
                </a:solidFill>
              </a:rPr>
              <a:t>B</a:t>
            </a:r>
            <a:r>
              <a:rPr lang="en-US" sz="2000" dirty="0"/>
              <a:t>ITS </a:t>
            </a:r>
            <a:r>
              <a:rPr lang="en-US" sz="2000" dirty="0">
                <a:solidFill>
                  <a:srgbClr val="C00000"/>
                </a:solidFill>
              </a:rPr>
              <a:t>I</a:t>
            </a:r>
            <a:r>
              <a:rPr lang="en-US" sz="2000" dirty="0"/>
              <a:t>nteractive </a:t>
            </a:r>
            <a:r>
              <a:rPr lang="en-US" sz="2000" dirty="0">
                <a:solidFill>
                  <a:srgbClr val="C00000"/>
                </a:solidFill>
              </a:rPr>
              <a:t>T</a:t>
            </a:r>
            <a:r>
              <a:rPr lang="en-US" sz="2000" dirty="0"/>
              <a:t>eaching </a:t>
            </a:r>
            <a:r>
              <a:rPr lang="en-US" sz="2000" dirty="0">
                <a:solidFill>
                  <a:srgbClr val="C00000"/>
                </a:solidFill>
              </a:rPr>
              <a:t>S</a:t>
            </a:r>
            <a:r>
              <a:rPr lang="en-US" sz="2000" dirty="0"/>
              <a:t>ystem): 20 marks total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lectures will count. NO MAKE-UPs, since there are so many lectures.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Marks based on # questions </a:t>
            </a:r>
            <a:r>
              <a:rPr lang="en-US" sz="2000" i="1" dirty="0"/>
              <a:t>attempted</a:t>
            </a:r>
            <a:r>
              <a:rPr lang="en-US" sz="2000" dirty="0"/>
              <a:t> + # days attended, </a:t>
            </a:r>
            <a:r>
              <a:rPr lang="en-US" sz="2000" dirty="0">
                <a:solidFill>
                  <a:srgbClr val="C00000"/>
                </a:solidFill>
              </a:rPr>
              <a:t>both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Primarily based on attempting only, though </a:t>
            </a:r>
            <a:r>
              <a:rPr lang="en-IN" sz="2000" dirty="0">
                <a:solidFill>
                  <a:srgbClr val="C00000"/>
                </a:solidFill>
              </a:rPr>
              <a:t>SOME</a:t>
            </a:r>
            <a:r>
              <a:rPr lang="en-IN" sz="2000" dirty="0"/>
              <a:t> answers will also be checked for correctness to detect random answering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If you are found to answer while not in class – straight ZERO / 20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Location permission is used to detect this!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No location == not counted, so ensure you provide location permission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Participating sincerely and genuinely will DEFINITELY help you in exams (ask your seniors who took Comp Arch last semester)</a:t>
            </a:r>
          </a:p>
          <a:p>
            <a:pPr marL="0" indent="0"/>
            <a:endParaRPr lang="en-IN" sz="2000" dirty="0"/>
          </a:p>
          <a:p>
            <a:pPr marL="0" indent="0"/>
            <a:r>
              <a:rPr lang="en-IN" sz="2000" dirty="0"/>
              <a:t>Other minor participation components: 5 marks (to be announced later)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BB82-89F2-1F05-0C0A-CE1263A198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Class participation (20 + 5 marks)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5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18E5A-9045-AB08-3983-5E9576B5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1.5 marks per lab, best 10 / 12 (NO MAKE-UPs for </a:t>
            </a:r>
            <a:r>
              <a:rPr lang="en-US" sz="2000" u="sng" dirty="0"/>
              <a:t>any reason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Requirements: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Implement the circuits for all runs in Logisim evolution </a:t>
            </a:r>
            <a:r>
              <a:rPr lang="en-IN" sz="1800" i="1" dirty="0"/>
              <a:t>before</a:t>
            </a:r>
            <a:r>
              <a:rPr lang="en-IN" sz="1800" dirty="0"/>
              <a:t> the lab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Show the simulations to the lab instructors and answer any questions they ask on it (0.5 marks)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Implement the circuit in a neat manner (0.5 marks)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Demonstrate correct working (0.5 marks)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Lab 4 onwards: Verilog part needs to be completed and submitted (how? Later)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Will greatly benefit in the lab exam by completing these regularly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Lab exam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[IPC lab] Verilog circuit implementation and testing (30 marks)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[Digital lab] Implementing and debugging circuits neatly (20 marks)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D11D8-A669-BD64-A3B7-19CE3BB0A8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Lab performance and exam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0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6E0D5-3133-B171-C97B-35758EA09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111" t="7112" r="7557" b="7556"/>
          <a:stretch>
            <a:fillRect/>
          </a:stretch>
        </p:blipFill>
        <p:spPr bwMode="auto">
          <a:xfrm>
            <a:off x="284747" y="1524000"/>
            <a:ext cx="487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C076-0F8E-DC0A-5ADB-EA232071A8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Course material and announcements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9C5DC-762D-D138-3C36-505A2E1E3920}"/>
              </a:ext>
            </a:extLst>
          </p:cNvPr>
          <p:cNvSpPr txBox="1"/>
          <p:nvPr/>
        </p:nvSpPr>
        <p:spPr>
          <a:xfrm>
            <a:off x="5562600" y="1581586"/>
            <a:ext cx="339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Google classroom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classroom.google.com</a:t>
            </a:r>
          </a:p>
          <a:p>
            <a:endParaRPr lang="en-US" sz="2400" dirty="0"/>
          </a:p>
          <a:p>
            <a:r>
              <a:rPr lang="en-US" sz="2400" dirty="0"/>
              <a:t>Joining code: </a:t>
            </a:r>
            <a:r>
              <a:rPr lang="en-IN" sz="2400" dirty="0" err="1">
                <a:solidFill>
                  <a:srgbClr val="C00000"/>
                </a:solidFill>
              </a:rPr>
              <a:t>bwosvprd</a:t>
            </a:r>
            <a:endParaRPr lang="en-IN" sz="2400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r>
              <a:rPr lang="en-US" sz="2400" dirty="0"/>
              <a:t>Join now.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7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C4E3FA-90A0-2636-F997-5CA52BA6D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458200" cy="4525963"/>
          </a:xfrm>
        </p:spPr>
        <p:txBody>
          <a:bodyPr/>
          <a:lstStyle/>
          <a:p>
            <a:r>
              <a:rPr lang="en-US" dirty="0"/>
              <a:t>Schedule (lectures, labs, tutorials):</a:t>
            </a:r>
            <a:br>
              <a:rPr lang="en-US" dirty="0"/>
            </a:br>
            <a:r>
              <a:rPr lang="en-US" dirty="0">
                <a:hlinkClick r:id="rId2"/>
              </a:rPr>
              <a:t>https://tinyurl.com/f215-schedule</a:t>
            </a:r>
            <a:endParaRPr lang="en-US" dirty="0"/>
          </a:p>
          <a:p>
            <a:endParaRPr lang="en-US" dirty="0"/>
          </a:p>
          <a:p>
            <a:r>
              <a:rPr lang="en-US" dirty="0"/>
              <a:t>FAQs (evaluation scheme related and others):</a:t>
            </a:r>
            <a:br>
              <a:rPr lang="en-US" dirty="0"/>
            </a:br>
            <a:r>
              <a:rPr lang="en-US" dirty="0">
                <a:hlinkClick r:id="rId3"/>
              </a:rPr>
              <a:t>https://tinyurl.com/f215-faqs</a:t>
            </a:r>
            <a:endParaRPr lang="en-US" dirty="0"/>
          </a:p>
          <a:p>
            <a:endParaRPr lang="en-IN" dirty="0"/>
          </a:p>
          <a:p>
            <a:r>
              <a:rPr lang="en-IN" dirty="0"/>
              <a:t>Contacting 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E-mails will NOT BE answered or acted upon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Fill out the form at </a:t>
            </a:r>
            <a:r>
              <a:rPr lang="en-IN" dirty="0">
                <a:hlinkClick r:id="rId4"/>
              </a:rPr>
              <a:t>https://tinyurl.com/f215-contact</a:t>
            </a:r>
            <a:r>
              <a:rPr lang="en-IN" dirty="0"/>
              <a:t> instead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3554-A53A-DA26-EACE-6F10600C1E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Finding information + contacting 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984F83-5DA9-9922-5339-90ADAFAAC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book part of </a:t>
            </a:r>
            <a:r>
              <a:rPr lang="en-US" dirty="0" err="1"/>
              <a:t>compre</a:t>
            </a:r>
            <a:r>
              <a:rPr lang="en-US" dirty="0"/>
              <a:t> and </a:t>
            </a:r>
            <a:r>
              <a:rPr lang="en-US" dirty="0" err="1"/>
              <a:t>midsem</a:t>
            </a:r>
            <a:r>
              <a:rPr lang="en-US" dirty="0"/>
              <a:t> will allow</a:t>
            </a:r>
          </a:p>
          <a:p>
            <a:endParaRPr lang="en-US" dirty="0"/>
          </a:p>
          <a:p>
            <a:r>
              <a:rPr lang="en-US" dirty="0"/>
              <a:t>ONLY HADNWRITTEN NOTES IN A NOTEBOOK</a:t>
            </a:r>
          </a:p>
          <a:p>
            <a:endParaRPr lang="en-US" dirty="0"/>
          </a:p>
          <a:p>
            <a:r>
              <a:rPr lang="en-US" dirty="0"/>
              <a:t>No loose sheets</a:t>
            </a:r>
          </a:p>
          <a:p>
            <a:r>
              <a:rPr lang="en-US" dirty="0"/>
              <a:t>No printouts (of digital notes) or copies</a:t>
            </a:r>
          </a:p>
          <a:p>
            <a:endParaRPr lang="en-US" dirty="0"/>
          </a:p>
          <a:p>
            <a:r>
              <a:rPr lang="en-IN" dirty="0"/>
              <a:t>General recommendation: take proper notes in the class, </a:t>
            </a:r>
            <a:r>
              <a:rPr lang="en-IN" dirty="0">
                <a:solidFill>
                  <a:srgbClr val="C00000"/>
                </a:solidFill>
              </a:rPr>
              <a:t>slides will not be sufficient study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C359-1061-4F1D-4D2C-D0395FB1F9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Open book part of </a:t>
            </a:r>
            <a:r>
              <a:rPr lang="en-US" dirty="0" err="1"/>
              <a:t>compre</a:t>
            </a:r>
            <a:r>
              <a:rPr lang="en-US" dirty="0"/>
              <a:t> / </a:t>
            </a:r>
            <a:r>
              <a:rPr lang="en-US" dirty="0" err="1"/>
              <a:t>midsem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25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17391F-F631-9299-93A0-C5F0FD914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Industry relevance: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Basis for chip design, FPGA development, ASIC/SoC development and validation, hardware systems, embedded system design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Automotive, consumer electronics, aerospace, IoT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Understanding computer hardware will help design better software: performance optimization, hardware acceleration, cloud infrastructure, security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Foundation for better AI: Google’s TPU, Apple’s Neural Engine, NVIDIA’s DL cores, building domain-specific AI enabled 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opportunities: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Computer architecture, VLSI design, neuromorphic computing (e.g., IBM </a:t>
            </a:r>
            <a:r>
              <a:rPr lang="en-US" dirty="0" err="1"/>
              <a:t>TrueNorth</a:t>
            </a:r>
            <a:r>
              <a:rPr lang="en-US" dirty="0"/>
              <a:t>, Intel </a:t>
            </a:r>
            <a:r>
              <a:rPr lang="en-US" dirty="0" err="1"/>
              <a:t>Loihi</a:t>
            </a:r>
            <a:r>
              <a:rPr lang="en-US" dirty="0"/>
              <a:t>), security</a:t>
            </a:r>
          </a:p>
          <a:p>
            <a:pPr lvl="1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Hardware-aware ML, real time AI, bio-inspired computing, quantum computing, fault tolerant systems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B97B4-052C-CEC0-BD27-93E064EE3E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study Digital Design?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87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46D17F-BCE0-6B2C-149D-B3F80B0D46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606278"/>
              </p:ext>
            </p:extLst>
          </p:nvPr>
        </p:nvGraphicFramePr>
        <p:xfrm>
          <a:off x="308610" y="1905000"/>
          <a:ext cx="5504547" cy="4525960"/>
        </p:xfrm>
        <a:graphic>
          <a:graphicData uri="http://schemas.openxmlformats.org/drawingml/2006/table">
            <a:tbl>
              <a:tblPr/>
              <a:tblGrid>
                <a:gridCol w="1834849">
                  <a:extLst>
                    <a:ext uri="{9D8B030D-6E8A-4147-A177-3AD203B41FA5}">
                      <a16:colId xmlns:a16="http://schemas.microsoft.com/office/drawing/2014/main" val="3675738843"/>
                    </a:ext>
                  </a:extLst>
                </a:gridCol>
                <a:gridCol w="1834849">
                  <a:extLst>
                    <a:ext uri="{9D8B030D-6E8A-4147-A177-3AD203B41FA5}">
                      <a16:colId xmlns:a16="http://schemas.microsoft.com/office/drawing/2014/main" val="326616901"/>
                    </a:ext>
                  </a:extLst>
                </a:gridCol>
                <a:gridCol w="1834849">
                  <a:extLst>
                    <a:ext uri="{9D8B030D-6E8A-4147-A177-3AD203B41FA5}">
                      <a16:colId xmlns:a16="http://schemas.microsoft.com/office/drawing/2014/main" val="2882299614"/>
                    </a:ext>
                  </a:extLst>
                </a:gridCol>
              </a:tblGrid>
              <a:tr h="244647">
                <a:tc>
                  <a:txBody>
                    <a:bodyPr/>
                    <a:lstStyle/>
                    <a:p>
                      <a:r>
                        <a:rPr lang="en-IN" sz="1200"/>
                        <a:t>Sector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Digital Design Demand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Notes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277895"/>
                  </a:ext>
                </a:extLst>
              </a:tr>
              <a:tr h="611616">
                <a:tc>
                  <a:txBody>
                    <a:bodyPr/>
                    <a:lstStyle/>
                    <a:p>
                      <a:r>
                        <a:rPr lang="en-IN" sz="1200" b="1" dirty="0"/>
                        <a:t>Semiconductors &amp; Chip Design</a:t>
                      </a:r>
                      <a:endParaRPr lang="en-IN" sz="1200" dirty="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🔥 Very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Core skill for VLSI, ASIC, FPGA, SoC. Growth fueled by AI, 5G, custom silicon.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564376"/>
                  </a:ext>
                </a:extLst>
              </a:tr>
              <a:tr h="795101">
                <a:tc>
                  <a:txBody>
                    <a:bodyPr/>
                    <a:lstStyle/>
                    <a:p>
                      <a:r>
                        <a:rPr lang="en-IN" sz="1200" b="1" dirty="0"/>
                        <a:t>Embedded Systems &amp; IoT</a:t>
                      </a:r>
                      <a:endParaRPr lang="en-IN" sz="1200" dirty="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🔥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Used in consumer electronics, automotive, defense, and medical devices.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943823"/>
                  </a:ext>
                </a:extLst>
              </a:tr>
              <a:tr h="611616">
                <a:tc>
                  <a:txBody>
                    <a:bodyPr/>
                    <a:lstStyle/>
                    <a:p>
                      <a:r>
                        <a:rPr lang="en-IN" sz="1200" b="1"/>
                        <a:t>AI/ML Hardware (Edge &amp; Cloud)</a:t>
                      </a:r>
                      <a:endParaRPr lang="en-IN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🔥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Digital design is needed for accelerators like GPUs, TPUs, NPUs.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46433"/>
                  </a:ext>
                </a:extLst>
              </a:tr>
              <a:tr h="611616">
                <a:tc>
                  <a:txBody>
                    <a:bodyPr/>
                    <a:lstStyle/>
                    <a:p>
                      <a:r>
                        <a:rPr lang="en-IN" sz="1200" b="1" dirty="0"/>
                        <a:t>FPGA-based Systems</a:t>
                      </a:r>
                      <a:endParaRPr lang="en-IN" sz="1200" dirty="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🔥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Especially in telecom, finance, defense, and AI prototyping.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45893"/>
                  </a:ext>
                </a:extLst>
              </a:tr>
              <a:tr h="611616">
                <a:tc>
                  <a:txBody>
                    <a:bodyPr/>
                    <a:lstStyle/>
                    <a:p>
                      <a:r>
                        <a:rPr lang="en-IN" sz="1200" b="1"/>
                        <a:t>Automotive (ADAS, EV)</a:t>
                      </a:r>
                      <a:endParaRPr lang="en-IN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🔥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Key to hardware in electric vehicles, autonomous driving, etc.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293055"/>
                  </a:ext>
                </a:extLst>
              </a:tr>
              <a:tr h="611616">
                <a:tc>
                  <a:txBody>
                    <a:bodyPr/>
                    <a:lstStyle/>
                    <a:p>
                      <a:r>
                        <a:rPr lang="en-IN" sz="1200" b="1"/>
                        <a:t>Cloud Infrastructure</a:t>
                      </a:r>
                      <a:endParaRPr lang="en-IN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⚡ Moderate to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Digital hardware design is essential for optimizing data center hardware.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0442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IN" sz="1200" b="1"/>
                        <a:t>Startups in Deep Tech</a:t>
                      </a:r>
                      <a:endParaRPr lang="en-IN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⚡ Moderate to High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Especially in AI hardware, robotics, edge computing.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95073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8F19-7016-17DA-ADE3-BA1471E959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(since we are all using it) GPT says…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9FA71-3441-45A5-2F5A-D94D58404D55}"/>
              </a:ext>
            </a:extLst>
          </p:cNvPr>
          <p:cNvSpPr txBox="1"/>
          <p:nvPr/>
        </p:nvSpPr>
        <p:spPr>
          <a:xfrm>
            <a:off x="228600" y="1459549"/>
            <a:ext cx="464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Overall Market Demand 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D20193-E93D-EA4F-87BE-BF3E7D01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1" y="1790397"/>
            <a:ext cx="2789890" cy="1486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7E925A-AAB1-F140-238A-2B2B55FC19A1}"/>
              </a:ext>
            </a:extLst>
          </p:cNvPr>
          <p:cNvSpPr txBox="1"/>
          <p:nvPr/>
        </p:nvSpPr>
        <p:spPr>
          <a:xfrm>
            <a:off x="5943601" y="3322290"/>
            <a:ext cx="3124200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900" b="1" dirty="0"/>
              <a:t>Top Hiring Companies</a:t>
            </a:r>
            <a:r>
              <a:rPr lang="en-IN" sz="900" dirty="0"/>
              <a:t>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900" b="1" dirty="0"/>
              <a:t>Chip Makers</a:t>
            </a:r>
            <a:r>
              <a:rPr lang="en-IN" sz="900" dirty="0"/>
              <a:t>: Intel, AMD, Nvidia, Qualcomm, ARM, Broadcom, Apple, Samsung.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900" b="1" dirty="0"/>
              <a:t>AI Hardware</a:t>
            </a:r>
            <a:r>
              <a:rPr lang="en-IN" sz="900" dirty="0"/>
              <a:t>: Google (TPU), Amazon (</a:t>
            </a:r>
            <a:r>
              <a:rPr lang="en-IN" sz="900" dirty="0" err="1"/>
              <a:t>Inferentia</a:t>
            </a:r>
            <a:r>
              <a:rPr lang="en-IN" sz="900" dirty="0"/>
              <a:t>), Tesla, </a:t>
            </a:r>
            <a:r>
              <a:rPr lang="en-IN" sz="900" dirty="0" err="1"/>
              <a:t>Cerebras</a:t>
            </a:r>
            <a:r>
              <a:rPr lang="en-IN" sz="900" dirty="0"/>
              <a:t>, </a:t>
            </a:r>
            <a:r>
              <a:rPr lang="en-IN" sz="900" dirty="0" err="1"/>
              <a:t>Graphcore</a:t>
            </a:r>
            <a:r>
              <a:rPr lang="en-IN" sz="900" dirty="0"/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900" b="1" dirty="0"/>
              <a:t>Startups</a:t>
            </a:r>
            <a:r>
              <a:rPr lang="en-IN" sz="900" dirty="0"/>
              <a:t>: </a:t>
            </a:r>
            <a:r>
              <a:rPr lang="en-IN" sz="900" dirty="0" err="1"/>
              <a:t>SiFive</a:t>
            </a:r>
            <a:r>
              <a:rPr lang="en-IN" sz="900" dirty="0"/>
              <a:t> (RISC-V), </a:t>
            </a:r>
            <a:r>
              <a:rPr lang="en-IN" sz="900" dirty="0" err="1"/>
              <a:t>Tenstorrent</a:t>
            </a:r>
            <a:r>
              <a:rPr lang="en-IN" sz="900" dirty="0"/>
              <a:t>, Mythic, Edge Impulse, etc.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900" b="1" dirty="0" err="1"/>
              <a:t>Defense</a:t>
            </a:r>
            <a:r>
              <a:rPr lang="en-IN" sz="900" b="1" dirty="0"/>
              <a:t>/Avionics</a:t>
            </a:r>
            <a:r>
              <a:rPr lang="en-IN" sz="900" dirty="0"/>
              <a:t>: Boeing, Lockheed Martin, DRDO (India), HAL.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900" b="1" dirty="0"/>
              <a:t>Automotive</a:t>
            </a:r>
            <a:r>
              <a:rPr lang="en-IN" sz="900" dirty="0"/>
              <a:t>: Tesla, Bosch, NXP, Renesas, Mobileye.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N" sz="900" dirty="0"/>
          </a:p>
          <a:p>
            <a:pPr>
              <a:spcAft>
                <a:spcPts val="600"/>
              </a:spcAft>
            </a:pPr>
            <a:r>
              <a:rPr lang="en-IN" sz="1100" b="1" dirty="0"/>
              <a:t>Most of these have core design roles in India now!</a:t>
            </a:r>
          </a:p>
          <a:p>
            <a:pPr>
              <a:spcAft>
                <a:spcPts val="600"/>
              </a:spcAft>
            </a:pPr>
            <a:endParaRPr lang="en-IN" sz="1100" b="1" dirty="0"/>
          </a:p>
          <a:p>
            <a:pPr>
              <a:spcAft>
                <a:spcPts val="600"/>
              </a:spcAft>
            </a:pPr>
            <a:r>
              <a:rPr lang="en-IN" sz="1100" b="1" dirty="0"/>
              <a:t>Several Indian startups getting into this field as well!</a:t>
            </a:r>
          </a:p>
        </p:txBody>
      </p:sp>
    </p:spTree>
    <p:extLst>
      <p:ext uri="{BB962C8B-B14F-4D97-AF65-F5344CB8AC3E}">
        <p14:creationId xmlns:p14="http://schemas.microsoft.com/office/powerpoint/2010/main" val="410689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F64963-1721-8898-CE9F-55E5BBD77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/>
          <a:lstStyle/>
          <a:p>
            <a:pPr marL="0" indent="0"/>
            <a:r>
              <a:rPr lang="en-US" dirty="0"/>
              <a:t>Signals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Continuous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Discrete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r>
              <a:rPr lang="en-US" dirty="0"/>
              <a:t>Systems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Analog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Digital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F8EA1-C28A-AE44-755D-A57EA42140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the heck is ‘digital’ about our age?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84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026">
            <a:extLst>
              <a:ext uri="{FF2B5EF4-FFF2-40B4-BE49-F238E27FC236}">
                <a16:creationId xmlns:a16="http://schemas.microsoft.com/office/drawing/2014/main" id="{E2E925E9-B6BE-72E1-3D28-8483404DD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29"/>
          <a:stretch>
            <a:fillRect/>
          </a:stretch>
        </p:blipFill>
        <p:spPr bwMode="auto">
          <a:xfrm>
            <a:off x="1066799" y="4876800"/>
            <a:ext cx="7010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D03AE-67C1-C625-8F6C-3D6584062F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typical </a:t>
            </a:r>
            <a:r>
              <a:rPr lang="en-US" i="1" dirty="0"/>
              <a:t>binary</a:t>
            </a:r>
            <a:r>
              <a:rPr lang="en-US" dirty="0"/>
              <a:t> digital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8A36E-A1D4-C08A-1AB8-4EDC9E96AEA6}"/>
              </a:ext>
            </a:extLst>
          </p:cNvPr>
          <p:cNvGrpSpPr/>
          <p:nvPr/>
        </p:nvGrpSpPr>
        <p:grpSpPr>
          <a:xfrm>
            <a:off x="936171" y="2209800"/>
            <a:ext cx="7271657" cy="2556510"/>
            <a:chOff x="936171" y="1946910"/>
            <a:chExt cx="7271657" cy="2556510"/>
          </a:xfrm>
        </p:grpSpPr>
        <p:pic>
          <p:nvPicPr>
            <p:cNvPr id="2052" name="Picture 4" descr="Digital Systems: Principles and Applications, 10e By Ronald J. Tocci, Neal  S. Widmer, and Gregory L. Moss © 2007 Pearson Education, Inc. Pearson  Prentice. - ppt download">
              <a:extLst>
                <a:ext uri="{FF2B5EF4-FFF2-40B4-BE49-F238E27FC236}">
                  <a16:creationId xmlns:a16="http://schemas.microsoft.com/office/drawing/2014/main" id="{8FB5FE8F-BDC8-A5D2-C9B8-4A05EF43E9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26667"/>
            <a:stretch>
              <a:fillRect/>
            </a:stretch>
          </p:blipFill>
          <p:spPr bwMode="auto">
            <a:xfrm>
              <a:off x="936171" y="1958340"/>
              <a:ext cx="7271657" cy="2545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2271AF-BC27-AD56-8B40-D868D57903F4}"/>
                </a:ext>
              </a:extLst>
            </p:cNvPr>
            <p:cNvSpPr/>
            <p:nvPr/>
          </p:nvSpPr>
          <p:spPr>
            <a:xfrm>
              <a:off x="5486400" y="1946910"/>
              <a:ext cx="2133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086E075D-A3FE-B652-0F74-961A2C2F1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6172200"/>
            <a:ext cx="1644650" cy="53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0E251-A6FB-F8D7-8F0A-742F74D7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Reproducibility of results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Ease of design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Programmability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Speed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Cost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Integrated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9DFA-F7C3-5BE4-475F-C3F2266A5C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spc="0" dirty="0"/>
              <a:t>Advantages of digital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595E22-6055-A6CD-ABE1-91A3C9ED7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16764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Linear</a:t>
            </a:r>
          </a:p>
          <a:p>
            <a:pPr>
              <a:buFontTx/>
              <a:buChar char="-"/>
            </a:pPr>
            <a:r>
              <a:rPr lang="en-US" dirty="0"/>
              <a:t>Digital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29D75-305F-0AEF-6390-E971C0DC2A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are integrated circuits?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B039650-5972-5B7F-D634-DF5697D2FBCD}"/>
              </a:ext>
            </a:extLst>
          </p:cNvPr>
          <p:cNvSpPr txBox="1">
            <a:spLocks/>
          </p:cNvSpPr>
          <p:nvPr/>
        </p:nvSpPr>
        <p:spPr bwMode="auto">
          <a:xfrm>
            <a:off x="2362200" y="1493836"/>
            <a:ext cx="327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b="1" dirty="0"/>
              <a:t>Levels of integration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SSI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MSI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LSI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VLSI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DEFA022-C097-328A-0D68-0A9E44CDA172}"/>
              </a:ext>
            </a:extLst>
          </p:cNvPr>
          <p:cNvSpPr txBox="1">
            <a:spLocks/>
          </p:cNvSpPr>
          <p:nvPr/>
        </p:nvSpPr>
        <p:spPr bwMode="auto">
          <a:xfrm>
            <a:off x="5867400" y="1493836"/>
            <a:ext cx="2590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b="1" dirty="0"/>
              <a:t>IC logic families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RTL, DTL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TTL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ECL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NMOS, PMOS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en-US" altLang="en-US" dirty="0"/>
              <a:t>CMOS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3591-61CA-4D64-9F36-B23C84BA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6800"/>
            <a:ext cx="9144000" cy="14261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EE69435C-3B0F-7B5B-2718-62D1D55D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219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A1F905-D4FF-4FBE-7A8C-32C5E6CA7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>
                <a:latin typeface="+mj-lt"/>
              </a:rPr>
              <a:t>Combinational</a:t>
            </a:r>
          </a:p>
          <a:p>
            <a:pPr>
              <a:buFontTx/>
              <a:buChar char="-"/>
            </a:pPr>
            <a:endParaRPr lang="en-US" dirty="0">
              <a:latin typeface="+mj-lt"/>
            </a:endParaRPr>
          </a:p>
          <a:p>
            <a:pPr>
              <a:buFontTx/>
              <a:buChar char="-"/>
            </a:pPr>
            <a:endParaRPr lang="en-US" dirty="0">
              <a:latin typeface="+mj-lt"/>
            </a:endParaRPr>
          </a:p>
          <a:p>
            <a:pPr marL="0" indent="0"/>
            <a:endParaRPr lang="en-US" sz="1400" dirty="0">
              <a:latin typeface="+mj-lt"/>
            </a:endParaRPr>
          </a:p>
          <a:p>
            <a:pPr>
              <a:buFontTx/>
              <a:buChar char="-"/>
            </a:pPr>
            <a:r>
              <a:rPr lang="en-US" dirty="0">
                <a:latin typeface="+mj-lt"/>
              </a:rPr>
              <a:t>Sequential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35318-74D7-4352-F7C5-F61BAE39A8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Broad categories of digital circuits</a:t>
            </a:r>
          </a:p>
        </p:txBody>
      </p:sp>
      <p:pic>
        <p:nvPicPr>
          <p:cNvPr id="3074" name="Picture 2" descr="Introduction of Sequential Circuits - GeeksforGeeks">
            <a:extLst>
              <a:ext uri="{FF2B5EF4-FFF2-40B4-BE49-F238E27FC236}">
                <a16:creationId xmlns:a16="http://schemas.microsoft.com/office/drawing/2014/main" id="{FD0146A3-5894-2EF4-2807-CBF3B8BF0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3962400"/>
            <a:ext cx="36957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roduction of Sequential Circuits - GeeksforGeeks">
            <a:extLst>
              <a:ext uri="{FF2B5EF4-FFF2-40B4-BE49-F238E27FC236}">
                <a16:creationId xmlns:a16="http://schemas.microsoft.com/office/drawing/2014/main" id="{53FA94F4-FA41-3D20-DC70-A1357B752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4248149"/>
            <a:ext cx="401002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hat is Combinational Circuit ? - GeeksforGeeks">
            <a:extLst>
              <a:ext uri="{FF2B5EF4-FFF2-40B4-BE49-F238E27FC236}">
                <a16:creationId xmlns:a16="http://schemas.microsoft.com/office/drawing/2014/main" id="{82DC7664-78A2-E7B7-689D-82FD6B4DB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65"/>
          <a:stretch>
            <a:fillRect/>
          </a:stretch>
        </p:blipFill>
        <p:spPr bwMode="auto">
          <a:xfrm>
            <a:off x="2595562" y="2133600"/>
            <a:ext cx="3952875" cy="9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3899B3-699B-2587-C191-2DD78A7F8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Binary representations and binary arithmetic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Combinational circuit design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Sequential circuit design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Digital logic families, ICs and their characteristics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Basics of HDL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28A8-C3B9-9E57-E7B1-77DB1BA5F8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In this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3119</TotalTime>
  <Words>1137</Words>
  <Application>Microsoft Office PowerPoint</Application>
  <PresentationFormat>On-screen Show (4:3)</PresentationFormat>
  <Paragraphs>203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551</cp:revision>
  <dcterms:created xsi:type="dcterms:W3CDTF">2010-01-15T20:22:21Z</dcterms:created>
  <dcterms:modified xsi:type="dcterms:W3CDTF">2026-08-04T04:19:03Z</dcterms:modified>
</cp:coreProperties>
</file>