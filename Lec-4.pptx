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382" r:id="rId2"/>
    <p:sldId id="383" r:id="rId3"/>
    <p:sldId id="384" r:id="rId4"/>
    <p:sldId id="386" r:id="rId5"/>
    <p:sldId id="281" r:id="rId6"/>
    <p:sldId id="387" r:id="rId7"/>
    <p:sldId id="385" r:id="rId8"/>
    <p:sldId id="374" r:id="rId9"/>
    <p:sldId id="375" r:id="rId10"/>
    <p:sldId id="378" r:id="rId11"/>
    <p:sldId id="379" r:id="rId12"/>
    <p:sldId id="287" r:id="rId13"/>
    <p:sldId id="380" r:id="rId14"/>
    <p:sldId id="289" r:id="rId15"/>
    <p:sldId id="388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5" d="100"/>
          <a:sy n="95" d="100"/>
        </p:scale>
        <p:origin x="249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06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Select the correct statements about binary representations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Different interpretations of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the same binary string</a:t>
            </a:r>
          </a:p>
          <a:p>
            <a:pPr marL="457200" indent="-457200">
              <a:buClr>
                <a:srgbClr val="C00000"/>
              </a:buClr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Theorems and postulates of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Boolean Algebra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35B52D7-0C8B-8A66-B061-310AD0FA06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216" b="35185"/>
          <a:stretch>
            <a:fillRect/>
          </a:stretch>
        </p:blipFill>
        <p:spPr bwMode="auto">
          <a:xfrm>
            <a:off x="4648200" y="2286000"/>
            <a:ext cx="41148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90A7BC-EB71-FD07-9BAA-902F84E5E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Representing information in binary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Operations on binary numbers, Boolean Algebra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Obtaining binary expressions and making circuits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for simplifying expressions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K-maps in special cases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AE33C-DF1D-6815-DFD6-A20593968EE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in Binary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6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7D0E3-1FFD-BC4E-3B2E-82F63891EF7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grand scheme of designing combinational circuits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D13736-D6C1-F31B-7ADA-ACF32C78A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75416"/>
          <a:stretch>
            <a:fillRect/>
          </a:stretch>
        </p:blipFill>
        <p:spPr bwMode="auto">
          <a:xfrm>
            <a:off x="457200" y="1600200"/>
            <a:ext cx="796834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3DFDB993-5972-7647-FA5A-6F149B2A29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55567"/>
          <a:stretch>
            <a:fillRect/>
          </a:stretch>
        </p:blipFill>
        <p:spPr bwMode="auto">
          <a:xfrm>
            <a:off x="457199" y="1600200"/>
            <a:ext cx="7968343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B3856361-9D1A-43EE-E276-B853832EECC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7" r="26176" b="34396"/>
          <a:stretch>
            <a:fillRect/>
          </a:stretch>
        </p:blipFill>
        <p:spPr bwMode="auto">
          <a:xfrm>
            <a:off x="457199" y="1600200"/>
            <a:ext cx="796834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B3DC2775-4EF8-C158-8712-DF168E3338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11900"/>
          <a:stretch>
            <a:fillRect/>
          </a:stretch>
        </p:blipFill>
        <p:spPr bwMode="auto">
          <a:xfrm>
            <a:off x="457198" y="1600200"/>
            <a:ext cx="7968343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2FE672-24BF-C9A7-EFB0-E09FDD718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019300"/>
            <a:ext cx="1095847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5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30B4AB1-6F63-33FB-AF76-DE228D8197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66" b="53012"/>
          <a:stretch>
            <a:fillRect/>
          </a:stretch>
        </p:blipFill>
        <p:spPr bwMode="auto">
          <a:xfrm>
            <a:off x="457200" y="1524000"/>
            <a:ext cx="8229600" cy="1447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E44D-16FB-DFC6-1F24-96FDE50E7E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From expressions to circuits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D9087A8-4829-9B22-3649-60FE2EB17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88" b="1240"/>
          <a:stretch>
            <a:fillRect/>
          </a:stretch>
        </p:blipFill>
        <p:spPr bwMode="auto">
          <a:xfrm>
            <a:off x="457200" y="2971800"/>
            <a:ext cx="8229600" cy="2971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13AD1-CEF4-B659-C01E-0B87C5E86A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grand scheme of designing combinational circuits</a:t>
            </a:r>
            <a:endParaRPr lang="en-I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0E35E082-0B07-1858-8106-588AD0DE0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11900"/>
          <a:stretch>
            <a:fillRect/>
          </a:stretch>
        </p:blipFill>
        <p:spPr bwMode="auto">
          <a:xfrm>
            <a:off x="520107" y="1600200"/>
            <a:ext cx="810378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614097-CB88-2C60-DD7E-D0170BE4A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419600"/>
            <a:ext cx="1095847" cy="10715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5A4C6E-D2AD-9AAC-7E7A-3E03110EA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2057400"/>
            <a:ext cx="1095847" cy="10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3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9CA86-34D1-CAE2-687A-0A061FF92C3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From truth tables to expressions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9D989-9650-953E-6C7D-D701ED4D827F}"/>
              </a:ext>
            </a:extLst>
          </p:cNvPr>
          <p:cNvSpPr txBox="1"/>
          <p:nvPr/>
        </p:nvSpPr>
        <p:spPr>
          <a:xfrm>
            <a:off x="381000" y="1447800"/>
            <a:ext cx="7772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Here is a truth table. Can you write down the Boolean expression for C(x, y, z)?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F1B46-CE48-3EEF-5951-7105E0AC836A}"/>
              </a:ext>
            </a:extLst>
          </p:cNvPr>
          <p:cNvSpPr txBox="1"/>
          <p:nvPr/>
        </p:nvSpPr>
        <p:spPr>
          <a:xfrm>
            <a:off x="4724400" y="2667000"/>
            <a:ext cx="3810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general way to write an expression for every possible truth table, just by looking at it…</a:t>
            </a:r>
          </a:p>
          <a:p>
            <a:endParaRPr lang="en-US" sz="2400" dirty="0"/>
          </a:p>
          <a:p>
            <a:r>
              <a:rPr lang="en-US" sz="2400" dirty="0"/>
              <a:t>                       …</a:t>
            </a:r>
            <a:r>
              <a:rPr lang="en-US" sz="2400" dirty="0" err="1"/>
              <a:t>minterms</a:t>
            </a:r>
            <a:r>
              <a:rPr lang="en-US" sz="2400" dirty="0"/>
              <a:t>!</a:t>
            </a:r>
            <a:endParaRPr lang="en-IN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3D1EF0B1-600C-AF11-B6FD-411B02510E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4657" r="65663" b="-345"/>
          <a:stretch>
            <a:fillRect/>
          </a:stretch>
        </p:blipFill>
        <p:spPr bwMode="auto">
          <a:xfrm>
            <a:off x="457200" y="2278797"/>
            <a:ext cx="3352800" cy="4020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361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>
            <a:extLst>
              <a:ext uri="{FF2B5EF4-FFF2-40B4-BE49-F238E27FC236}">
                <a16:creationId xmlns:a16="http://schemas.microsoft.com/office/drawing/2014/main" id="{E80B8ECA-E2F6-298B-CAF3-281F089A2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733800"/>
            <a:ext cx="3124200" cy="2647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3F00E-1105-DBDB-16BC-18DEB19BB2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minterms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0C3553C-7C94-F27F-A4A3-96A22023D8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0" b="79539"/>
          <a:stretch>
            <a:fillRect/>
          </a:stretch>
        </p:blipFill>
        <p:spPr bwMode="auto">
          <a:xfrm>
            <a:off x="762000" y="1676399"/>
            <a:ext cx="7086600" cy="533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D838A7A-B3D0-DF72-7EF3-73428FAAE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0" b="73402"/>
          <a:stretch>
            <a:fillRect/>
          </a:stretch>
        </p:blipFill>
        <p:spPr bwMode="auto">
          <a:xfrm>
            <a:off x="762000" y="2209800"/>
            <a:ext cx="7086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FC0003CA-359A-F285-9151-62B9A07522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4" b="54988"/>
          <a:stretch>
            <a:fillRect/>
          </a:stretch>
        </p:blipFill>
        <p:spPr bwMode="auto">
          <a:xfrm>
            <a:off x="762000" y="2438400"/>
            <a:ext cx="7086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E9C51086-41CA-A3CD-A2CE-F628221F3D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77" b="48851"/>
          <a:stretch>
            <a:fillRect/>
          </a:stretch>
        </p:blipFill>
        <p:spPr bwMode="auto">
          <a:xfrm>
            <a:off x="762000" y="3352800"/>
            <a:ext cx="7086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E2DBAD-FF78-CB3C-539D-643E20B06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260"/>
          <a:stretch>
            <a:fillRect/>
          </a:stretch>
        </p:blipFill>
        <p:spPr>
          <a:xfrm>
            <a:off x="2819400" y="3850641"/>
            <a:ext cx="3505200" cy="24142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275BD-694E-5EF6-D644-70391709EE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 of </a:t>
            </a:r>
            <a:r>
              <a:rPr lang="en-US" dirty="0" err="1"/>
              <a:t>minterms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7E39ED0-4482-A235-8D55-38D9C2D803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7" b="82547"/>
          <a:stretch>
            <a:fillRect/>
          </a:stretch>
        </p:blipFill>
        <p:spPr bwMode="auto">
          <a:xfrm>
            <a:off x="685800" y="1752600"/>
            <a:ext cx="7772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980E452-9022-9131-1582-CBC13DD594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54" b="76290"/>
          <a:stretch>
            <a:fillRect/>
          </a:stretch>
        </p:blipFill>
        <p:spPr bwMode="auto">
          <a:xfrm>
            <a:off x="687509" y="2057400"/>
            <a:ext cx="7772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C9B25E2-3A52-70C3-B807-3CDC07275E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1" b="65341"/>
          <a:stretch>
            <a:fillRect/>
          </a:stretch>
        </p:blipFill>
        <p:spPr bwMode="auto">
          <a:xfrm>
            <a:off x="685800" y="23622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0A3DE83-B279-E398-EFA5-8F43AC3CD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4657" r="65663" b="-345"/>
          <a:stretch>
            <a:fillRect/>
          </a:stretch>
        </p:blipFill>
        <p:spPr bwMode="auto">
          <a:xfrm>
            <a:off x="684091" y="2895600"/>
            <a:ext cx="2668709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8F531F4E-8612-41AD-6055-71986C0F7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63" t="34657" r="-3" b="38755"/>
          <a:stretch>
            <a:fillRect/>
          </a:stretch>
        </p:blipFill>
        <p:spPr bwMode="auto">
          <a:xfrm>
            <a:off x="4419599" y="2895600"/>
            <a:ext cx="4036891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8DE12BD-5807-21C1-ACAD-D8C98484B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63" t="61245" r="-3" b="16859"/>
          <a:stretch>
            <a:fillRect/>
          </a:stretch>
        </p:blipFill>
        <p:spPr bwMode="auto">
          <a:xfrm>
            <a:off x="4425750" y="4191000"/>
            <a:ext cx="4036891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E92E503-319F-8513-76BA-A35AD031C0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63" t="83142" r="-3" b="-346"/>
          <a:stretch>
            <a:fillRect/>
          </a:stretch>
        </p:blipFill>
        <p:spPr bwMode="auto">
          <a:xfrm>
            <a:off x="4427460" y="5257800"/>
            <a:ext cx="4036891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839AA698-6EEE-A1AA-D63B-FD973FEB1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57" r="52039" b="-345"/>
          <a:stretch>
            <a:fillRect/>
          </a:stretch>
        </p:blipFill>
        <p:spPr bwMode="auto">
          <a:xfrm>
            <a:off x="685800" y="2895600"/>
            <a:ext cx="372764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0413-4E2F-E2CE-F120-521791C5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3">
            <a:extLst>
              <a:ext uri="{FF2B5EF4-FFF2-40B4-BE49-F238E27FC236}">
                <a16:creationId xmlns:a16="http://schemas.microsoft.com/office/drawing/2014/main" id="{B9A24515-A02B-2BAF-69F7-D689FB7CB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733800"/>
            <a:ext cx="3124200" cy="26479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044D2-1E27-2BFE-CE13-9596F89499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maxterms – the dual version of </a:t>
            </a:r>
            <a:r>
              <a:rPr lang="en-US" dirty="0" err="1"/>
              <a:t>minterms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75E278A-914D-5A9C-669B-C63197C800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66" b="84852"/>
          <a:stretch>
            <a:fillRect/>
          </a:stretch>
        </p:blipFill>
        <p:spPr bwMode="auto">
          <a:xfrm>
            <a:off x="762000" y="1676399"/>
            <a:ext cx="7086600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8A6D7A-1D75-1812-D8E4-13E5977B75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38300" y="4038599"/>
            <a:ext cx="5867400" cy="241426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5D322F1E-A7D6-F846-C8F8-184F2401C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8" b="79170"/>
          <a:stretch>
            <a:fillRect/>
          </a:stretch>
        </p:blipFill>
        <p:spPr bwMode="auto">
          <a:xfrm>
            <a:off x="762000" y="1981198"/>
            <a:ext cx="7086600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FD1B8EDA-6891-290B-9AD7-53BBDF0FA4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28" b="56444"/>
          <a:stretch>
            <a:fillRect/>
          </a:stretch>
        </p:blipFill>
        <p:spPr bwMode="auto">
          <a:xfrm>
            <a:off x="762000" y="2285998"/>
            <a:ext cx="7086600" cy="1219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D921C60F-2C30-0A08-5F1B-9E6A802AC0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25" b="49893"/>
          <a:stretch>
            <a:fillRect/>
          </a:stretch>
        </p:blipFill>
        <p:spPr bwMode="auto">
          <a:xfrm>
            <a:off x="762000" y="3545839"/>
            <a:ext cx="7086600" cy="304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30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0B59-539B-921B-7C4A-B12745C1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32AA7-C6DE-BEB3-FFD0-843A2EF566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Product of maxterms</a:t>
            </a:r>
          </a:p>
        </p:txBody>
      </p:sp>
      <p:pic>
        <p:nvPicPr>
          <p:cNvPr id="44034" name="Picture 2">
            <a:extLst>
              <a:ext uri="{FF2B5EF4-FFF2-40B4-BE49-F238E27FC236}">
                <a16:creationId xmlns:a16="http://schemas.microsoft.com/office/drawing/2014/main" id="{09B6D083-37F3-3060-67F3-A5AF45FCD2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1"/>
          <a:stretch>
            <a:fillRect/>
          </a:stretch>
        </p:blipFill>
        <p:spPr bwMode="auto">
          <a:xfrm>
            <a:off x="630790" y="1676400"/>
            <a:ext cx="7882420" cy="430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22465A-7A7C-80A2-7245-D7CBD41E234F}"/>
              </a:ext>
            </a:extLst>
          </p:cNvPr>
          <p:cNvSpPr txBox="1"/>
          <p:nvPr/>
        </p:nvSpPr>
        <p:spPr>
          <a:xfrm>
            <a:off x="630790" y="5981925"/>
            <a:ext cx="8056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Can you guess the </a:t>
            </a:r>
            <a:r>
              <a:rPr lang="en-US" sz="2400" dirty="0" err="1">
                <a:solidFill>
                  <a:srgbClr val="C00000"/>
                </a:solidFill>
              </a:rPr>
              <a:t>POMax</a:t>
            </a:r>
            <a:r>
              <a:rPr lang="en-US" sz="2400" dirty="0">
                <a:solidFill>
                  <a:srgbClr val="C00000"/>
                </a:solidFill>
              </a:rPr>
              <a:t> from a </a:t>
            </a:r>
            <a:r>
              <a:rPr lang="en-US" sz="2400" dirty="0" err="1">
                <a:solidFill>
                  <a:srgbClr val="C00000"/>
                </a:solidFill>
              </a:rPr>
              <a:t>SOMin</a:t>
            </a:r>
            <a:r>
              <a:rPr lang="en-US" sz="2400" dirty="0">
                <a:solidFill>
                  <a:srgbClr val="C00000"/>
                </a:solidFill>
              </a:rPr>
              <a:t> expression?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4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0B959-A9A7-AC59-A5A9-5935D44FBA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Relationship between </a:t>
            </a:r>
            <a:r>
              <a:rPr lang="en-US" dirty="0" err="1"/>
              <a:t>minterms</a:t>
            </a:r>
            <a:r>
              <a:rPr lang="en-US" dirty="0"/>
              <a:t> and maxterms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C8A0FEB-4B98-0F55-D6EC-8EC7C9684C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91" y="1676400"/>
            <a:ext cx="7524009" cy="4197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819F-B774-DC97-332F-A62B7CE1C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FBC91-4B01-EF2C-6391-3957EEA01F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Relationship between </a:t>
            </a:r>
            <a:r>
              <a:rPr lang="en-US" dirty="0" err="1"/>
              <a:t>minterms</a:t>
            </a:r>
            <a:r>
              <a:rPr lang="en-US" dirty="0"/>
              <a:t> and maxterms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7F27043-6A94-4D55-E215-C3BF3BB4EA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08"/>
          <a:stretch>
            <a:fillRect/>
          </a:stretch>
        </p:blipFill>
        <p:spPr bwMode="auto">
          <a:xfrm>
            <a:off x="809995" y="1905000"/>
            <a:ext cx="7524009" cy="3664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324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6F95A-96B4-60F6-B4AB-F636854D7E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Converting between </a:t>
            </a:r>
            <a:r>
              <a:rPr lang="en-US" dirty="0" err="1"/>
              <a:t>minterms</a:t>
            </a:r>
            <a:r>
              <a:rPr lang="en-US" dirty="0"/>
              <a:t> and maxterms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2FF7CDF-69F7-662B-7F25-0F09778079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1"/>
          <a:stretch>
            <a:fillRect/>
          </a:stretch>
        </p:blipFill>
        <p:spPr bwMode="auto">
          <a:xfrm>
            <a:off x="495300" y="1752600"/>
            <a:ext cx="8153400" cy="4307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C201-22D1-2000-BE01-8234DB13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80DD-738D-376D-16D1-275DFA985E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grand scheme of designing combinational circuits</a:t>
            </a:r>
            <a:endParaRPr lang="en-IN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11BF7519-F875-5054-101B-592D82984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10028" r="26176" b="11900"/>
          <a:stretch>
            <a:fillRect/>
          </a:stretch>
        </p:blipFill>
        <p:spPr bwMode="auto">
          <a:xfrm>
            <a:off x="520107" y="1600200"/>
            <a:ext cx="810378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AA226-864B-058D-4EA7-4D201D462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419600"/>
            <a:ext cx="1095847" cy="10715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E72E6C-04CA-61DD-07DC-CDCCA32AA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202781"/>
            <a:ext cx="1095847" cy="1071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34D09C-B4BB-29C0-F6AF-BE3F26E8C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999" y="2057400"/>
            <a:ext cx="1095847" cy="10715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175E3-AD37-B27A-D1B6-94E58787DB6B}"/>
              </a:ext>
            </a:extLst>
          </p:cNvPr>
          <p:cNvSpPr txBox="1"/>
          <p:nvPr/>
        </p:nvSpPr>
        <p:spPr>
          <a:xfrm>
            <a:off x="4953000" y="776739"/>
            <a:ext cx="33528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DONE WITH COMBINATIONAL?!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428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7306</TotalTime>
  <Words>187</Words>
  <Application>Microsoft Office PowerPoint</Application>
  <PresentationFormat>On-screen Show (4:3)</PresentationFormat>
  <Paragraphs>41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558</cp:revision>
  <dcterms:created xsi:type="dcterms:W3CDTF">2010-01-15T20:22:21Z</dcterms:created>
  <dcterms:modified xsi:type="dcterms:W3CDTF">2026-08-06T07:26:19Z</dcterms:modified>
</cp:coreProperties>
</file>